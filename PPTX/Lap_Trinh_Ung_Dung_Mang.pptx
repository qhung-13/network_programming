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Poppins Bold" charset="1" panose="00000800000000000000"/>
      <p:regular r:id="rId37"/>
    </p:embeddedFont>
    <p:embeddedFont>
      <p:font typeface="Poppins" charset="1" panose="000005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38.png" Type="http://schemas.openxmlformats.org/officeDocument/2006/relationships/image"/><Relationship Id="rId9"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9.png" Type="http://schemas.openxmlformats.org/officeDocument/2006/relationships/image"/><Relationship Id="rId7" Target="../embeddings/oleObject2.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44.png" Type="http://schemas.openxmlformats.org/officeDocument/2006/relationships/image"/><Relationship Id="rId7" Target="../embeddings/oleObject3.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12" Target="../media/image51.png" Type="http://schemas.openxmlformats.org/officeDocument/2006/relationships/image"/><Relationship Id="rId13" Target="../media/image52.svg" Type="http://schemas.openxmlformats.org/officeDocument/2006/relationships/image"/><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55.png" Type="http://schemas.openxmlformats.org/officeDocument/2006/relationships/image"/><Relationship Id="rId7" Target="../embeddings/oleObject4.bin" Type="http://schemas.openxmlformats.org/officeDocument/2006/relationships/oleObjec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13" Target="../media/image57.png" Type="http://schemas.openxmlformats.org/officeDocument/2006/relationships/image"/><Relationship Id="rId14" Target="../media/image58.svg" Type="http://schemas.openxmlformats.org/officeDocument/2006/relationships/image"/><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svg" Type="http://schemas.openxmlformats.org/officeDocument/2006/relationships/image"/><Relationship Id="rId4" Target="../media/image6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svg" Type="http://schemas.openxmlformats.org/officeDocument/2006/relationships/image"/><Relationship Id="rId4" Target="../media/image6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svg" Type="http://schemas.openxmlformats.org/officeDocument/2006/relationships/image"/><Relationship Id="rId4" Target="../media/image6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5.png" Type="http://schemas.openxmlformats.org/officeDocument/2006/relationships/image"/><Relationship Id="rId6" Target="../media/image6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svg" Type="http://schemas.openxmlformats.org/officeDocument/2006/relationships/image"/><Relationship Id="rId4" Target="../media/image6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png" Type="http://schemas.openxmlformats.org/officeDocument/2006/relationships/image"/><Relationship Id="rId4" Target="../media/image72.png" Type="http://schemas.openxmlformats.org/officeDocument/2006/relationships/image"/><Relationship Id="rId5" Target="../media/image73.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png" Type="http://schemas.openxmlformats.org/officeDocument/2006/relationships/image"/><Relationship Id="rId3" Target="../media/image75.svg" Type="http://schemas.openxmlformats.org/officeDocument/2006/relationships/image"/><Relationship Id="rId4" Target="../media/image76.png" Type="http://schemas.openxmlformats.org/officeDocument/2006/relationships/image"/><Relationship Id="rId5" Target="../media/image77.png" Type="http://schemas.openxmlformats.org/officeDocument/2006/relationships/image"/><Relationship Id="rId6" Target="../media/image78.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png" Type="http://schemas.openxmlformats.org/officeDocument/2006/relationships/image"/><Relationship Id="rId3" Target="../media/image75.svg" Type="http://schemas.openxmlformats.org/officeDocument/2006/relationships/image"/><Relationship Id="rId4" Target="../media/image77.png" Type="http://schemas.openxmlformats.org/officeDocument/2006/relationships/image"/><Relationship Id="rId5" Target="../media/image78.svg" Type="http://schemas.openxmlformats.org/officeDocument/2006/relationships/image"/><Relationship Id="rId6" Target="../media/image7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0.png" Type="http://schemas.openxmlformats.org/officeDocument/2006/relationships/image"/><Relationship Id="rId3" Target="https://github.com/qhung-13/Network_Programming"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355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9690916" y="-4375722"/>
            <a:ext cx="13131091" cy="13131091"/>
          </a:xfrm>
          <a:custGeom>
            <a:avLst/>
            <a:gdLst/>
            <a:ahLst/>
            <a:cxnLst/>
            <a:rect r="r" b="b" t="t" l="l"/>
            <a:pathLst>
              <a:path h="13131091" w="13131091">
                <a:moveTo>
                  <a:pt x="0" y="0"/>
                </a:moveTo>
                <a:lnTo>
                  <a:pt x="13131090" y="0"/>
                </a:lnTo>
                <a:lnTo>
                  <a:pt x="13131090" y="13131090"/>
                </a:lnTo>
                <a:lnTo>
                  <a:pt x="0" y="13131090"/>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493035" y="-4375722"/>
            <a:ext cx="12102391" cy="1210239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843498" y="-2726185"/>
            <a:ext cx="8803317" cy="880331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41285" y="8174343"/>
            <a:ext cx="9738031" cy="5432955"/>
            <a:chOff x="0" y="0"/>
            <a:chExt cx="2564749" cy="1430902"/>
          </a:xfrm>
        </p:grpSpPr>
        <p:sp>
          <p:nvSpPr>
            <p:cNvPr name="Freeform 11" id="11"/>
            <p:cNvSpPr/>
            <p:nvPr/>
          </p:nvSpPr>
          <p:spPr>
            <a:xfrm flipH="false" flipV="false" rot="0">
              <a:off x="0" y="0"/>
              <a:ext cx="2564749" cy="1430902"/>
            </a:xfrm>
            <a:custGeom>
              <a:avLst/>
              <a:gdLst/>
              <a:ahLst/>
              <a:cxnLst/>
              <a:rect r="r" b="b" t="t" l="l"/>
              <a:pathLst>
                <a:path h="1430902" w="2564749">
                  <a:moveTo>
                    <a:pt x="24646" y="0"/>
                  </a:moveTo>
                  <a:lnTo>
                    <a:pt x="2540103" y="0"/>
                  </a:lnTo>
                  <a:cubicBezTo>
                    <a:pt x="2546640" y="0"/>
                    <a:pt x="2552908" y="2597"/>
                    <a:pt x="2557530" y="7219"/>
                  </a:cubicBezTo>
                  <a:cubicBezTo>
                    <a:pt x="2562152" y="11840"/>
                    <a:pt x="2564749" y="18109"/>
                    <a:pt x="2564749" y="24646"/>
                  </a:cubicBezTo>
                  <a:lnTo>
                    <a:pt x="2564749" y="1406256"/>
                  </a:lnTo>
                  <a:cubicBezTo>
                    <a:pt x="2564749" y="1419867"/>
                    <a:pt x="2553715" y="1430902"/>
                    <a:pt x="2540103" y="1430902"/>
                  </a:cubicBezTo>
                  <a:lnTo>
                    <a:pt x="24646" y="1430902"/>
                  </a:lnTo>
                  <a:cubicBezTo>
                    <a:pt x="18109" y="1430902"/>
                    <a:pt x="11840" y="1428305"/>
                    <a:pt x="7219" y="1423683"/>
                  </a:cubicBezTo>
                  <a:cubicBezTo>
                    <a:pt x="2597" y="1419061"/>
                    <a:pt x="0" y="1412793"/>
                    <a:pt x="0" y="1406256"/>
                  </a:cubicBezTo>
                  <a:lnTo>
                    <a:pt x="0" y="24646"/>
                  </a:lnTo>
                  <a:cubicBezTo>
                    <a:pt x="0" y="18109"/>
                    <a:pt x="2597" y="11840"/>
                    <a:pt x="7219" y="7219"/>
                  </a:cubicBezTo>
                  <a:cubicBezTo>
                    <a:pt x="11840" y="2597"/>
                    <a:pt x="18109" y="0"/>
                    <a:pt x="24646" y="0"/>
                  </a:cubicBezTo>
                  <a:close/>
                </a:path>
              </a:pathLst>
            </a:custGeom>
            <a:solidFill>
              <a:srgbClr val="000C74"/>
            </a:solidFill>
          </p:spPr>
        </p:sp>
        <p:sp>
          <p:nvSpPr>
            <p:cNvPr name="TextBox 12" id="12"/>
            <p:cNvSpPr txBox="true"/>
            <p:nvPr/>
          </p:nvSpPr>
          <p:spPr>
            <a:xfrm>
              <a:off x="0" y="-38100"/>
              <a:ext cx="2564749" cy="146900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440834" y="679099"/>
            <a:ext cx="4385302" cy="775403"/>
            <a:chOff x="0" y="0"/>
            <a:chExt cx="1200079" cy="212196"/>
          </a:xfrm>
        </p:grpSpPr>
        <p:sp>
          <p:nvSpPr>
            <p:cNvPr name="Freeform 14" id="14"/>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5" id="15"/>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6" id="16"/>
          <p:cNvSpPr/>
          <p:nvPr/>
        </p:nvSpPr>
        <p:spPr>
          <a:xfrm flipH="false" flipV="false" rot="0">
            <a:off x="12646701" y="3701809"/>
            <a:ext cx="4846124" cy="4114800"/>
          </a:xfrm>
          <a:custGeom>
            <a:avLst/>
            <a:gdLst/>
            <a:ahLst/>
            <a:cxnLst/>
            <a:rect r="r" b="b" t="t" l="l"/>
            <a:pathLst>
              <a:path h="4114800" w="4846124">
                <a:moveTo>
                  <a:pt x="0" y="0"/>
                </a:moveTo>
                <a:lnTo>
                  <a:pt x="4846124" y="0"/>
                </a:lnTo>
                <a:lnTo>
                  <a:pt x="484612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636171" y="8450978"/>
            <a:ext cx="1614645" cy="1614645"/>
          </a:xfrm>
          <a:custGeom>
            <a:avLst/>
            <a:gdLst/>
            <a:ahLst/>
            <a:cxnLst/>
            <a:rect r="r" b="b" t="t" l="l"/>
            <a:pathLst>
              <a:path h="1614645" w="1614645">
                <a:moveTo>
                  <a:pt x="0" y="0"/>
                </a:moveTo>
                <a:lnTo>
                  <a:pt x="1614645" y="0"/>
                </a:lnTo>
                <a:lnTo>
                  <a:pt x="1614645" y="1614644"/>
                </a:lnTo>
                <a:lnTo>
                  <a:pt x="0" y="161464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1441285" y="1371714"/>
            <a:ext cx="12265511" cy="4219276"/>
          </a:xfrm>
          <a:prstGeom prst="rect">
            <a:avLst/>
          </a:prstGeom>
        </p:spPr>
        <p:txBody>
          <a:bodyPr anchor="t" rtlCol="false" tIns="0" lIns="0" bIns="0" rIns="0">
            <a:spAutoFit/>
          </a:bodyPr>
          <a:lstStyle/>
          <a:p>
            <a:pPr algn="l">
              <a:lnSpc>
                <a:spcPts val="16551"/>
              </a:lnSpc>
            </a:pPr>
            <a:r>
              <a:rPr lang="en-US" sz="11822" b="true">
                <a:solidFill>
                  <a:srgbClr val="081269"/>
                </a:solidFill>
                <a:latin typeface="Poppins Bold"/>
                <a:ea typeface="Poppins Bold"/>
                <a:cs typeface="Poppins Bold"/>
                <a:sym typeface="Poppins Bold"/>
              </a:rPr>
              <a:t>Ứng dụng Chat (GUI) via TCP</a:t>
            </a:r>
          </a:p>
        </p:txBody>
      </p:sp>
      <p:sp>
        <p:nvSpPr>
          <p:cNvPr name="TextBox 19" id="19"/>
          <p:cNvSpPr txBox="true"/>
          <p:nvPr/>
        </p:nvSpPr>
        <p:spPr>
          <a:xfrm rot="0">
            <a:off x="350358" y="774657"/>
            <a:ext cx="3322500" cy="47491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NHÓM 1</a:t>
            </a:r>
          </a:p>
        </p:txBody>
      </p:sp>
      <p:sp>
        <p:nvSpPr>
          <p:cNvPr name="TextBox 20" id="20"/>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000C74">
                    <a:alpha val="49804"/>
                  </a:srgbClr>
                </a:solidFill>
                <a:latin typeface="Poppins Bold"/>
                <a:ea typeface="Poppins Bold"/>
                <a:cs typeface="Poppins Bold"/>
                <a:sym typeface="Poppins Bold"/>
              </a:rPr>
              <a:t>GIAO THỨC ỨNG DỤNG</a:t>
            </a:r>
          </a:p>
        </p:txBody>
      </p:sp>
      <p:sp>
        <p:nvSpPr>
          <p:cNvPr name="TextBox 21" id="21"/>
          <p:cNvSpPr txBox="true"/>
          <p:nvPr/>
        </p:nvSpPr>
        <p:spPr>
          <a:xfrm rot="0">
            <a:off x="15643881" y="679191"/>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000C74">
                    <a:alpha val="49804"/>
                  </a:srgbClr>
                </a:solidFill>
                <a:latin typeface="Poppins Bold"/>
                <a:ea typeface="Poppins Bold"/>
                <a:cs typeface="Poppins Bold"/>
                <a:sym typeface="Poppins Bold"/>
              </a:rPr>
              <a:t>HIỆN THỨC HÓA HỆ THÔNG</a:t>
            </a:r>
          </a:p>
        </p:txBody>
      </p:sp>
      <p:sp>
        <p:nvSpPr>
          <p:cNvPr name="TextBox 22" id="22"/>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00C74"/>
                </a:solidFill>
                <a:latin typeface="Poppins Bold"/>
                <a:ea typeface="Poppins Bold"/>
                <a:cs typeface="Poppins Bold"/>
                <a:sym typeface="Poppins Bold"/>
              </a:rPr>
              <a:t>TỔNG QUAN</a:t>
            </a:r>
          </a:p>
        </p:txBody>
      </p:sp>
      <p:sp>
        <p:nvSpPr>
          <p:cNvPr name="TextBox 23" id="23"/>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000C74">
                    <a:alpha val="49804"/>
                  </a:srgbClr>
                </a:solidFill>
                <a:latin typeface="Poppins Bold"/>
                <a:ea typeface="Poppins Bold"/>
                <a:cs typeface="Poppins Bold"/>
                <a:sym typeface="Poppins Bold"/>
              </a:rPr>
              <a:t>PHÂN TÍCH THIẾT KẾ</a:t>
            </a:r>
          </a:p>
        </p:txBody>
      </p:sp>
      <p:sp>
        <p:nvSpPr>
          <p:cNvPr name="TextBox 24" id="24"/>
          <p:cNvSpPr txBox="true"/>
          <p:nvPr/>
        </p:nvSpPr>
        <p:spPr>
          <a:xfrm rot="0">
            <a:off x="3558161" y="8940447"/>
            <a:ext cx="7621155" cy="592663"/>
          </a:xfrm>
          <a:prstGeom prst="rect">
            <a:avLst/>
          </a:prstGeom>
        </p:spPr>
        <p:txBody>
          <a:bodyPr anchor="t" rtlCol="false" tIns="0" lIns="0" bIns="0" rIns="0">
            <a:spAutoFit/>
          </a:bodyPr>
          <a:lstStyle/>
          <a:p>
            <a:pPr algn="just">
              <a:lnSpc>
                <a:spcPts val="4608"/>
              </a:lnSpc>
            </a:pPr>
            <a:r>
              <a:rPr lang="en-US" sz="3291">
                <a:solidFill>
                  <a:srgbClr val="FFFFFF"/>
                </a:solidFill>
                <a:latin typeface="Poppins"/>
                <a:ea typeface="Poppins"/>
                <a:cs typeface="Poppins"/>
                <a:sym typeface="Poppins"/>
              </a:rPr>
              <a:t>Long time no see. Are you still oke ?</a:t>
            </a:r>
          </a:p>
        </p:txBody>
      </p:sp>
      <p:sp>
        <p:nvSpPr>
          <p:cNvPr name="TextBox 25" id="25"/>
          <p:cNvSpPr txBox="true"/>
          <p:nvPr/>
        </p:nvSpPr>
        <p:spPr>
          <a:xfrm rot="0">
            <a:off x="6995972" y="9742660"/>
            <a:ext cx="7621155" cy="441473"/>
          </a:xfrm>
          <a:prstGeom prst="rect">
            <a:avLst/>
          </a:prstGeom>
        </p:spPr>
        <p:txBody>
          <a:bodyPr anchor="t" rtlCol="false" tIns="0" lIns="0" bIns="0" rIns="0">
            <a:spAutoFit/>
          </a:bodyPr>
          <a:lstStyle/>
          <a:p>
            <a:pPr algn="ctr">
              <a:lnSpc>
                <a:spcPts val="3488"/>
              </a:lnSpc>
            </a:pPr>
            <a:r>
              <a:rPr lang="en-US" sz="2491">
                <a:solidFill>
                  <a:srgbClr val="FFFFFF"/>
                </a:solidFill>
                <a:latin typeface="Poppins"/>
                <a:ea typeface="Poppins"/>
                <a:cs typeface="Poppins"/>
                <a:sym typeface="Poppins"/>
              </a:rPr>
              <a:t>19:31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grpSp>
        <p:nvGrpSpPr>
          <p:cNvPr name="Group 2" id="2"/>
          <p:cNvGrpSpPr/>
          <p:nvPr/>
        </p:nvGrpSpPr>
        <p:grpSpPr>
          <a:xfrm rot="0">
            <a:off x="8602123" y="1973094"/>
            <a:ext cx="15108428" cy="1510842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709039" y="2929713"/>
            <a:ext cx="14094659" cy="1409465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C7C9FF">
                    <a:alpha val="69000"/>
                  </a:srgbClr>
                </a:gs>
              </a:gsLst>
              <a:lin ang="270000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40834" y="679099"/>
            <a:ext cx="4385302" cy="775403"/>
            <a:chOff x="0" y="0"/>
            <a:chExt cx="1200079" cy="212196"/>
          </a:xfrm>
        </p:grpSpPr>
        <p:sp>
          <p:nvSpPr>
            <p:cNvPr name="Freeform 10" id="10"/>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11" id="11"/>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2" id="12"/>
          <p:cNvSpPr/>
          <p:nvPr/>
        </p:nvSpPr>
        <p:spPr>
          <a:xfrm flipH="false" flipV="false" rot="0">
            <a:off x="12143408" y="4401257"/>
            <a:ext cx="4612961" cy="4122834"/>
          </a:xfrm>
          <a:custGeom>
            <a:avLst/>
            <a:gdLst/>
            <a:ahLst/>
            <a:cxnLst/>
            <a:rect r="r" b="b" t="t" l="l"/>
            <a:pathLst>
              <a:path h="4122834" w="4612961">
                <a:moveTo>
                  <a:pt x="0" y="0"/>
                </a:moveTo>
                <a:lnTo>
                  <a:pt x="4612960" y="0"/>
                </a:lnTo>
                <a:lnTo>
                  <a:pt x="4612960" y="4122833"/>
                </a:lnTo>
                <a:lnTo>
                  <a:pt x="0" y="4122833"/>
                </a:lnTo>
                <a:lnTo>
                  <a:pt x="0" y="0"/>
                </a:lnTo>
                <a:close/>
              </a:path>
            </a:pathLst>
          </a:custGeom>
          <a:blipFill>
            <a:blip r:embed="rId4"/>
            <a:stretch>
              <a:fillRect l="0" t="0" r="0" b="0"/>
            </a:stretch>
          </a:blipFill>
          <a:ln cap="sq">
            <a:noFill/>
            <a:prstDash val="solid"/>
            <a:miter/>
          </a:ln>
        </p:spPr>
      </p:sp>
      <p:sp>
        <p:nvSpPr>
          <p:cNvPr name="Freeform 13" id="13"/>
          <p:cNvSpPr/>
          <p:nvPr/>
        </p:nvSpPr>
        <p:spPr>
          <a:xfrm flipH="false" flipV="false" rot="0">
            <a:off x="680258" y="5446518"/>
            <a:ext cx="10265346" cy="4927366"/>
          </a:xfrm>
          <a:custGeom>
            <a:avLst/>
            <a:gdLst/>
            <a:ahLst/>
            <a:cxnLst/>
            <a:rect r="r" b="b" t="t" l="l"/>
            <a:pathLst>
              <a:path h="4927366" w="10265346">
                <a:moveTo>
                  <a:pt x="0" y="0"/>
                </a:moveTo>
                <a:lnTo>
                  <a:pt x="10265346" y="0"/>
                </a:lnTo>
                <a:lnTo>
                  <a:pt x="10265346" y="4927366"/>
                </a:lnTo>
                <a:lnTo>
                  <a:pt x="0" y="49273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1522845" y="1389974"/>
            <a:ext cx="8962769" cy="2215014"/>
          </a:xfrm>
          <a:prstGeom prst="rect">
            <a:avLst/>
          </a:prstGeom>
        </p:spPr>
        <p:txBody>
          <a:bodyPr anchor="t" rtlCol="false" tIns="0" lIns="0" bIns="0" rIns="0">
            <a:spAutoFit/>
          </a:bodyPr>
          <a:lstStyle/>
          <a:p>
            <a:pPr algn="l">
              <a:lnSpc>
                <a:spcPts val="17196"/>
              </a:lnSpc>
            </a:pPr>
            <a:r>
              <a:rPr lang="en-US" sz="12282" b="true">
                <a:solidFill>
                  <a:srgbClr val="FFFFFF"/>
                </a:solidFill>
                <a:latin typeface="Poppins Bold"/>
                <a:ea typeface="Poppins Bold"/>
                <a:cs typeface="Poppins Bold"/>
                <a:sym typeface="Poppins Bold"/>
              </a:rPr>
              <a:t>Lý Do</a:t>
            </a:r>
          </a:p>
        </p:txBody>
      </p:sp>
      <p:sp>
        <p:nvSpPr>
          <p:cNvPr name="TextBox 15" id="15"/>
          <p:cNvSpPr txBox="true"/>
          <p:nvPr/>
        </p:nvSpPr>
        <p:spPr>
          <a:xfrm rot="0">
            <a:off x="1522845" y="3281138"/>
            <a:ext cx="8962769" cy="2015734"/>
          </a:xfrm>
          <a:prstGeom prst="rect">
            <a:avLst/>
          </a:prstGeom>
        </p:spPr>
        <p:txBody>
          <a:bodyPr anchor="t" rtlCol="false" tIns="0" lIns="0" bIns="0" rIns="0">
            <a:spAutoFit/>
          </a:bodyPr>
          <a:lstStyle/>
          <a:p>
            <a:pPr algn="l">
              <a:lnSpc>
                <a:spcPts val="15575"/>
              </a:lnSpc>
            </a:pPr>
            <a:r>
              <a:rPr lang="en-US" sz="11125">
                <a:solidFill>
                  <a:srgbClr val="FFFFFF"/>
                </a:solidFill>
                <a:latin typeface="Poppins"/>
                <a:ea typeface="Poppins"/>
                <a:cs typeface="Poppins"/>
                <a:sym typeface="Poppins"/>
              </a:rPr>
              <a:t>Chọn Đề Tài</a:t>
            </a:r>
          </a:p>
        </p:txBody>
      </p:sp>
      <p:sp>
        <p:nvSpPr>
          <p:cNvPr name="TextBox 16" id="16"/>
          <p:cNvSpPr txBox="true"/>
          <p:nvPr/>
        </p:nvSpPr>
        <p:spPr>
          <a:xfrm rot="0">
            <a:off x="680258" y="5734966"/>
            <a:ext cx="9639894" cy="3125913"/>
          </a:xfrm>
          <a:prstGeom prst="rect">
            <a:avLst/>
          </a:prstGeom>
        </p:spPr>
        <p:txBody>
          <a:bodyPr anchor="t" rtlCol="false" tIns="0" lIns="0" bIns="0" rIns="0">
            <a:spAutoFit/>
          </a:bodyPr>
          <a:lstStyle/>
          <a:p>
            <a:pPr algn="just" marL="475263" indent="-237631" lvl="1">
              <a:lnSpc>
                <a:spcPts val="3081"/>
              </a:lnSpc>
              <a:buFont typeface="Arial"/>
              <a:buChar char="•"/>
            </a:pPr>
            <a:r>
              <a:rPr lang="en-US" b="true" sz="2201">
                <a:solidFill>
                  <a:srgbClr val="2E2E2E"/>
                </a:solidFill>
                <a:latin typeface="Poppins Bold"/>
                <a:ea typeface="Poppins Bold"/>
                <a:cs typeface="Poppins Bold"/>
                <a:sym typeface="Poppins Bold"/>
              </a:rPr>
              <a:t>Bối cảnh</a:t>
            </a:r>
            <a:r>
              <a:rPr lang="en-US" sz="2201">
                <a:solidFill>
                  <a:srgbClr val="2E2E2E"/>
                </a:solidFill>
                <a:latin typeface="Poppins"/>
                <a:ea typeface="Poppins"/>
                <a:cs typeface="Poppins"/>
                <a:sym typeface="Poppins"/>
              </a:rPr>
              <a:t>: Đáp ứng nhu cầu giao tiếp trực tuyến ngày càng tăng trong kỷ nguyên số.</a:t>
            </a:r>
          </a:p>
          <a:p>
            <a:pPr algn="just" marL="475263" indent="-237631" lvl="1">
              <a:lnSpc>
                <a:spcPts val="3081"/>
              </a:lnSpc>
              <a:buFont typeface="Arial"/>
              <a:buChar char="•"/>
            </a:pPr>
            <a:r>
              <a:rPr lang="en-US" b="true" sz="2201">
                <a:solidFill>
                  <a:srgbClr val="2E2E2E"/>
                </a:solidFill>
                <a:latin typeface="Poppins Bold"/>
                <a:ea typeface="Poppins Bold"/>
                <a:cs typeface="Poppins Bold"/>
                <a:sym typeface="Poppins Bold"/>
              </a:rPr>
              <a:t>Giải pháp</a:t>
            </a:r>
            <a:r>
              <a:rPr lang="en-US" sz="2201">
                <a:solidFill>
                  <a:srgbClr val="2E2E2E"/>
                </a:solidFill>
                <a:latin typeface="Poppins"/>
                <a:ea typeface="Poppins"/>
                <a:cs typeface="Poppins"/>
                <a:sym typeface="Poppins"/>
              </a:rPr>
              <a:t>: Lựa chọn giao thức TCP để đảm bảo tính ổn định, truyền dữ liệu đầy đủ và chính xác.</a:t>
            </a:r>
          </a:p>
          <a:p>
            <a:pPr algn="just" marL="475263" indent="-237631" lvl="1">
              <a:lnSpc>
                <a:spcPts val="3081"/>
              </a:lnSpc>
              <a:buFont typeface="Arial"/>
              <a:buChar char="•"/>
            </a:pPr>
            <a:r>
              <a:rPr lang="en-US" b="true" sz="2201">
                <a:solidFill>
                  <a:srgbClr val="2E2E2E"/>
                </a:solidFill>
                <a:latin typeface="Poppins Bold"/>
                <a:ea typeface="Poppins Bold"/>
                <a:cs typeface="Poppins Bold"/>
                <a:sym typeface="Poppins Bold"/>
              </a:rPr>
              <a:t>Mục tiêu</a:t>
            </a:r>
            <a:r>
              <a:rPr lang="en-US" sz="2201">
                <a:solidFill>
                  <a:srgbClr val="2E2E2E"/>
                </a:solidFill>
                <a:latin typeface="Poppins"/>
                <a:ea typeface="Poppins"/>
                <a:cs typeface="Poppins"/>
                <a:sym typeface="Poppins"/>
              </a:rPr>
              <a:t>: Xây dựng ứng dụng Chat GUI trên Windows để thực hành kiến thức lập trình mạng, xử lý đa luồng và mô hình Client-Server.</a:t>
            </a:r>
          </a:p>
          <a:p>
            <a:pPr algn="just">
              <a:lnSpc>
                <a:spcPts val="3081"/>
              </a:lnSpc>
            </a:pPr>
          </a:p>
        </p:txBody>
      </p:sp>
      <p:sp>
        <p:nvSpPr>
          <p:cNvPr name="TextBox 17" id="17"/>
          <p:cNvSpPr txBox="true"/>
          <p:nvPr/>
        </p:nvSpPr>
        <p:spPr>
          <a:xfrm rot="0">
            <a:off x="350358" y="774657"/>
            <a:ext cx="3322500" cy="47491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18" id="18"/>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GIAO THỨC ỨNG DỤNG</a:t>
            </a:r>
          </a:p>
        </p:txBody>
      </p:sp>
      <p:sp>
        <p:nvSpPr>
          <p:cNvPr name="TextBox 19" id="19"/>
          <p:cNvSpPr txBox="true"/>
          <p:nvPr/>
        </p:nvSpPr>
        <p:spPr>
          <a:xfrm rot="0">
            <a:off x="15851240" y="691532"/>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HIỆN THỨC HÓA HỆ THÔNG</a:t>
            </a:r>
          </a:p>
        </p:txBody>
      </p:sp>
      <p:sp>
        <p:nvSpPr>
          <p:cNvPr name="TextBox 20" id="20"/>
          <p:cNvSpPr txBox="true"/>
          <p:nvPr/>
        </p:nvSpPr>
        <p:spPr>
          <a:xfrm rot="0">
            <a:off x="9144000" y="703973"/>
            <a:ext cx="1662550" cy="3504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solidFill>
                <a:latin typeface="Poppins Bold"/>
                <a:ea typeface="Poppins Bold"/>
                <a:cs typeface="Poppins Bold"/>
                <a:sym typeface="Poppins Bold"/>
              </a:rPr>
              <a:t>TỔNG QUAN</a:t>
            </a:r>
          </a:p>
        </p:txBody>
      </p:sp>
      <p:sp>
        <p:nvSpPr>
          <p:cNvPr name="TextBox 21" id="21"/>
          <p:cNvSpPr txBox="true"/>
          <p:nvPr/>
        </p:nvSpPr>
        <p:spPr>
          <a:xfrm rot="0">
            <a:off x="11609447" y="703973"/>
            <a:ext cx="1907082" cy="3504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PTTK</a:t>
            </a:r>
          </a:p>
        </p:txBody>
      </p:sp>
      <p:sp>
        <p:nvSpPr>
          <p:cNvPr name="Freeform 22" id="22"/>
          <p:cNvSpPr/>
          <p:nvPr/>
        </p:nvSpPr>
        <p:spPr>
          <a:xfrm flipH="false" flipV="false" rot="0">
            <a:off x="12889082" y="4905241"/>
            <a:ext cx="3121612" cy="2789941"/>
          </a:xfrm>
          <a:custGeom>
            <a:avLst/>
            <a:gdLst/>
            <a:ahLst/>
            <a:cxnLst/>
            <a:rect r="r" b="b" t="t" l="l"/>
            <a:pathLst>
              <a:path h="2789941" w="3121612">
                <a:moveTo>
                  <a:pt x="0" y="0"/>
                </a:moveTo>
                <a:lnTo>
                  <a:pt x="3121612" y="0"/>
                </a:lnTo>
                <a:lnTo>
                  <a:pt x="3121612" y="2789941"/>
                </a:lnTo>
                <a:lnTo>
                  <a:pt x="0" y="2789941"/>
                </a:lnTo>
                <a:lnTo>
                  <a:pt x="0" y="0"/>
                </a:lnTo>
                <a:close/>
              </a:path>
            </a:pathLst>
          </a:custGeom>
          <a:blipFill>
            <a:blip r:embed="rId4"/>
            <a:stretch>
              <a:fillRect l="0" t="0" r="0" b="0"/>
            </a:stretch>
          </a:blipFill>
          <a:ln cap="sq">
            <a:noFill/>
            <a:prstDash val="solid"/>
            <a:miter/>
          </a:ln>
        </p:spPr>
      </p:sp>
      <p:sp>
        <p:nvSpPr>
          <p:cNvPr name="Freeform 23" id="23"/>
          <p:cNvSpPr/>
          <p:nvPr/>
        </p:nvSpPr>
        <p:spPr>
          <a:xfrm flipH="false" flipV="false" rot="0">
            <a:off x="13434436" y="5296816"/>
            <a:ext cx="2030904" cy="1815120"/>
          </a:xfrm>
          <a:custGeom>
            <a:avLst/>
            <a:gdLst/>
            <a:ahLst/>
            <a:cxnLst/>
            <a:rect r="r" b="b" t="t" l="l"/>
            <a:pathLst>
              <a:path h="1815120" w="2030904">
                <a:moveTo>
                  <a:pt x="0" y="0"/>
                </a:moveTo>
                <a:lnTo>
                  <a:pt x="2030904" y="0"/>
                </a:lnTo>
                <a:lnTo>
                  <a:pt x="2030904" y="1815120"/>
                </a:lnTo>
                <a:lnTo>
                  <a:pt x="0" y="1815120"/>
                </a:lnTo>
                <a:lnTo>
                  <a:pt x="0" y="0"/>
                </a:lnTo>
                <a:close/>
              </a:path>
            </a:pathLst>
          </a:custGeom>
          <a:blipFill>
            <a:blip r:embed="rId4"/>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grpSp>
        <p:nvGrpSpPr>
          <p:cNvPr name="Group 2" id="2"/>
          <p:cNvGrpSpPr/>
          <p:nvPr/>
        </p:nvGrpSpPr>
        <p:grpSpPr>
          <a:xfrm rot="0">
            <a:off x="8602123" y="1973094"/>
            <a:ext cx="15108428" cy="1510842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709039" y="2929713"/>
            <a:ext cx="14094659" cy="1409465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C7C9FF">
                    <a:alpha val="69000"/>
                  </a:srgbClr>
                </a:gs>
              </a:gsLst>
              <a:lin ang="270000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40834" y="679099"/>
            <a:ext cx="4385302" cy="775403"/>
            <a:chOff x="0" y="0"/>
            <a:chExt cx="1200079" cy="212196"/>
          </a:xfrm>
        </p:grpSpPr>
        <p:sp>
          <p:nvSpPr>
            <p:cNvPr name="Freeform 10" id="10"/>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11" id="11"/>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2" id="12"/>
          <p:cNvSpPr/>
          <p:nvPr/>
        </p:nvSpPr>
        <p:spPr>
          <a:xfrm flipH="false" flipV="false" rot="0">
            <a:off x="1028700" y="3439479"/>
            <a:ext cx="10254316" cy="2237305"/>
          </a:xfrm>
          <a:custGeom>
            <a:avLst/>
            <a:gdLst/>
            <a:ahLst/>
            <a:cxnLst/>
            <a:rect r="r" b="b" t="t" l="l"/>
            <a:pathLst>
              <a:path h="2237305" w="10254316">
                <a:moveTo>
                  <a:pt x="0" y="0"/>
                </a:moveTo>
                <a:lnTo>
                  <a:pt x="10254316" y="0"/>
                </a:lnTo>
                <a:lnTo>
                  <a:pt x="10254316" y="2237305"/>
                </a:lnTo>
                <a:lnTo>
                  <a:pt x="0" y="22373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 id="13"/>
          <p:cNvSpPr/>
          <p:nvPr/>
        </p:nvSpPr>
        <p:spPr>
          <a:xfrm flipH="false" flipV="false" rot="0">
            <a:off x="1028700" y="7290002"/>
            <a:ext cx="10254316" cy="2237305"/>
          </a:xfrm>
          <a:custGeom>
            <a:avLst/>
            <a:gdLst/>
            <a:ahLst/>
            <a:cxnLst/>
            <a:rect r="r" b="b" t="t" l="l"/>
            <a:pathLst>
              <a:path h="2237305" w="10254316">
                <a:moveTo>
                  <a:pt x="0" y="0"/>
                </a:moveTo>
                <a:lnTo>
                  <a:pt x="10254316" y="0"/>
                </a:lnTo>
                <a:lnTo>
                  <a:pt x="10254316" y="2237306"/>
                </a:lnTo>
                <a:lnTo>
                  <a:pt x="0" y="22373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4" id="14"/>
          <p:cNvSpPr/>
          <p:nvPr/>
        </p:nvSpPr>
        <p:spPr>
          <a:xfrm flipH="false" flipV="false" rot="0">
            <a:off x="1028700" y="5355216"/>
            <a:ext cx="10254316" cy="2237305"/>
          </a:xfrm>
          <a:custGeom>
            <a:avLst/>
            <a:gdLst/>
            <a:ahLst/>
            <a:cxnLst/>
            <a:rect r="r" b="b" t="t" l="l"/>
            <a:pathLst>
              <a:path h="2237305" w="10254316">
                <a:moveTo>
                  <a:pt x="0" y="0"/>
                </a:moveTo>
                <a:lnTo>
                  <a:pt x="10254316" y="0"/>
                </a:lnTo>
                <a:lnTo>
                  <a:pt x="10254316" y="2237305"/>
                </a:lnTo>
                <a:lnTo>
                  <a:pt x="0" y="22373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2894275" y="4264181"/>
            <a:ext cx="4318969" cy="4114800"/>
          </a:xfrm>
          <a:custGeom>
            <a:avLst/>
            <a:gdLst/>
            <a:ahLst/>
            <a:cxnLst/>
            <a:rect r="r" b="b" t="t" l="l"/>
            <a:pathLst>
              <a:path h="4114800" w="4318969">
                <a:moveTo>
                  <a:pt x="0" y="0"/>
                </a:moveTo>
                <a:lnTo>
                  <a:pt x="4318969" y="0"/>
                </a:lnTo>
                <a:lnTo>
                  <a:pt x="431896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1210325" y="1312778"/>
            <a:ext cx="8962769" cy="2215014"/>
          </a:xfrm>
          <a:prstGeom prst="rect">
            <a:avLst/>
          </a:prstGeom>
        </p:spPr>
        <p:txBody>
          <a:bodyPr anchor="t" rtlCol="false" tIns="0" lIns="0" bIns="0" rIns="0">
            <a:spAutoFit/>
          </a:bodyPr>
          <a:lstStyle/>
          <a:p>
            <a:pPr algn="l">
              <a:lnSpc>
                <a:spcPts val="17196"/>
              </a:lnSpc>
            </a:pPr>
            <a:r>
              <a:rPr lang="en-US" sz="12282" b="true">
                <a:solidFill>
                  <a:srgbClr val="FFFFFF"/>
                </a:solidFill>
                <a:latin typeface="Poppins Bold"/>
                <a:ea typeface="Poppins Bold"/>
                <a:cs typeface="Poppins Bold"/>
                <a:sym typeface="Poppins Bold"/>
              </a:rPr>
              <a:t>TCP</a:t>
            </a:r>
          </a:p>
        </p:txBody>
      </p:sp>
      <p:sp>
        <p:nvSpPr>
          <p:cNvPr name="TextBox 17" id="17"/>
          <p:cNvSpPr txBox="true"/>
          <p:nvPr/>
        </p:nvSpPr>
        <p:spPr>
          <a:xfrm rot="0">
            <a:off x="350358" y="774657"/>
            <a:ext cx="3322500" cy="47491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18" id="18"/>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GIAO THỨC ỨNG DỤNG</a:t>
            </a:r>
          </a:p>
        </p:txBody>
      </p:sp>
      <p:sp>
        <p:nvSpPr>
          <p:cNvPr name="TextBox 19" id="19"/>
          <p:cNvSpPr txBox="true"/>
          <p:nvPr/>
        </p:nvSpPr>
        <p:spPr>
          <a:xfrm rot="0">
            <a:off x="15643881"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HIỆN THỨC HÓA HỆ THÔNG</a:t>
            </a:r>
          </a:p>
        </p:txBody>
      </p:sp>
      <p:sp>
        <p:nvSpPr>
          <p:cNvPr name="TextBox 20" id="20"/>
          <p:cNvSpPr txBox="true"/>
          <p:nvPr/>
        </p:nvSpPr>
        <p:spPr>
          <a:xfrm rot="0">
            <a:off x="9144000" y="703973"/>
            <a:ext cx="1662550" cy="3504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solidFill>
                <a:latin typeface="Poppins Bold"/>
                <a:ea typeface="Poppins Bold"/>
                <a:cs typeface="Poppins Bold"/>
                <a:sym typeface="Poppins Bold"/>
              </a:rPr>
              <a:t>TỔNG QUAN</a:t>
            </a:r>
          </a:p>
        </p:txBody>
      </p:sp>
      <p:sp>
        <p:nvSpPr>
          <p:cNvPr name="TextBox 21" id="21"/>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22" id="22"/>
          <p:cNvSpPr txBox="true"/>
          <p:nvPr/>
        </p:nvSpPr>
        <p:spPr>
          <a:xfrm rot="0">
            <a:off x="1493001" y="3992712"/>
            <a:ext cx="9499622" cy="746840"/>
          </a:xfrm>
          <a:prstGeom prst="rect">
            <a:avLst/>
          </a:prstGeom>
        </p:spPr>
        <p:txBody>
          <a:bodyPr anchor="t" rtlCol="false" tIns="0" lIns="0" bIns="0" rIns="0">
            <a:spAutoFit/>
          </a:bodyPr>
          <a:lstStyle/>
          <a:p>
            <a:pPr algn="l">
              <a:lnSpc>
                <a:spcPts val="2935"/>
              </a:lnSpc>
              <a:spcBef>
                <a:spcPct val="0"/>
              </a:spcBef>
            </a:pPr>
            <a:r>
              <a:rPr lang="en-US" b="true" sz="2096">
                <a:solidFill>
                  <a:srgbClr val="2E2E2E"/>
                </a:solidFill>
                <a:latin typeface="Poppins Bold"/>
                <a:ea typeface="Poppins Bold"/>
                <a:cs typeface="Poppins Bold"/>
                <a:sym typeface="Poppins Bold"/>
              </a:rPr>
              <a:t>Định nghĩa</a:t>
            </a:r>
            <a:r>
              <a:rPr lang="en-US" sz="2096">
                <a:solidFill>
                  <a:srgbClr val="2E2E2E"/>
                </a:solidFill>
                <a:latin typeface="Poppins"/>
                <a:ea typeface="Poppins"/>
                <a:cs typeface="Poppins"/>
                <a:sym typeface="Poppins"/>
              </a:rPr>
              <a:t>: TCP là giao thức lớp Giao vận (Transport Layer) hướng kết nối, đảm bảo dữ liệu truyền đi an toàn và chính xác.</a:t>
            </a:r>
          </a:p>
        </p:txBody>
      </p:sp>
      <p:sp>
        <p:nvSpPr>
          <p:cNvPr name="TextBox 23" id="23"/>
          <p:cNvSpPr txBox="true"/>
          <p:nvPr/>
        </p:nvSpPr>
        <p:spPr>
          <a:xfrm rot="0">
            <a:off x="1493001" y="7843235"/>
            <a:ext cx="9499622" cy="1118315"/>
          </a:xfrm>
          <a:prstGeom prst="rect">
            <a:avLst/>
          </a:prstGeom>
        </p:spPr>
        <p:txBody>
          <a:bodyPr anchor="t" rtlCol="false" tIns="0" lIns="0" bIns="0" rIns="0">
            <a:spAutoFit/>
          </a:bodyPr>
          <a:lstStyle/>
          <a:p>
            <a:pPr algn="l">
              <a:lnSpc>
                <a:spcPts val="2935"/>
              </a:lnSpc>
              <a:spcBef>
                <a:spcPct val="0"/>
              </a:spcBef>
            </a:pPr>
            <a:r>
              <a:rPr lang="en-US" b="true" sz="2096">
                <a:solidFill>
                  <a:srgbClr val="000000"/>
                </a:solidFill>
                <a:latin typeface="Poppins Bold"/>
                <a:ea typeface="Poppins Bold"/>
                <a:cs typeface="Poppins Bold"/>
                <a:sym typeface="Poppins Bold"/>
              </a:rPr>
              <a:t>Lý do lựa c</a:t>
            </a:r>
            <a:r>
              <a:rPr lang="en-US" b="true" sz="2096">
                <a:solidFill>
                  <a:srgbClr val="000000"/>
                </a:solidFill>
                <a:latin typeface="Poppins Bold"/>
                <a:ea typeface="Poppins Bold"/>
                <a:cs typeface="Poppins Bold"/>
                <a:sym typeface="Poppins Bold"/>
              </a:rPr>
              <a:t>họn</a:t>
            </a:r>
            <a:r>
              <a:rPr lang="en-US" sz="2096">
                <a:solidFill>
                  <a:srgbClr val="000000"/>
                </a:solidFill>
                <a:latin typeface="Poppins"/>
                <a:ea typeface="Poppins"/>
                <a:cs typeface="Poppins"/>
                <a:sym typeface="Poppins"/>
              </a:rPr>
              <a:t>: Đảm bảo tính toàn vẹn (không mất dữ liệu, đúng thứ tự) – yếu tố tiên quyết cho ứng dụng chat, thay vì chọn UDP (nhanh nhưng thiếu tin cậy).</a:t>
            </a:r>
          </a:p>
        </p:txBody>
      </p:sp>
      <p:sp>
        <p:nvSpPr>
          <p:cNvPr name="TextBox 24" id="24"/>
          <p:cNvSpPr txBox="true"/>
          <p:nvPr/>
        </p:nvSpPr>
        <p:spPr>
          <a:xfrm rot="0">
            <a:off x="1493001" y="5897907"/>
            <a:ext cx="9790015" cy="777448"/>
          </a:xfrm>
          <a:prstGeom prst="rect">
            <a:avLst/>
          </a:prstGeom>
        </p:spPr>
        <p:txBody>
          <a:bodyPr anchor="t" rtlCol="false" tIns="0" lIns="0" bIns="0" rIns="0">
            <a:spAutoFit/>
          </a:bodyPr>
          <a:lstStyle/>
          <a:p>
            <a:pPr algn="l">
              <a:lnSpc>
                <a:spcPts val="3025"/>
              </a:lnSpc>
              <a:spcBef>
                <a:spcPct val="0"/>
              </a:spcBef>
            </a:pPr>
            <a:r>
              <a:rPr lang="en-US" b="true" sz="2160">
                <a:solidFill>
                  <a:srgbClr val="000000"/>
                </a:solidFill>
                <a:latin typeface="Poppins Bold"/>
                <a:ea typeface="Poppins Bold"/>
                <a:cs typeface="Poppins Bold"/>
                <a:sym typeface="Poppins Bold"/>
              </a:rPr>
              <a:t>Cơ c</a:t>
            </a:r>
            <a:r>
              <a:rPr lang="en-US" b="true" sz="2160">
                <a:solidFill>
                  <a:srgbClr val="000000"/>
                </a:solidFill>
                <a:latin typeface="Poppins Bold"/>
                <a:ea typeface="Poppins Bold"/>
                <a:cs typeface="Poppins Bold"/>
                <a:sym typeface="Poppins Bold"/>
              </a:rPr>
              <a:t>hế hoạt động</a:t>
            </a:r>
            <a:r>
              <a:rPr lang="en-US" sz="2160">
                <a:solidFill>
                  <a:srgbClr val="000000"/>
                </a:solidFill>
                <a:latin typeface="Poppins"/>
                <a:ea typeface="Poppins"/>
                <a:cs typeface="Poppins"/>
                <a:sym typeface="Poppins"/>
              </a:rPr>
              <a:t>: Thiết lập phiên giao tiếp trước khi gửi dữ liệu, tích hợp kiểm soát luồng, tắc nghẽn và truyền lại gói tin lỗi (ACK).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3180419" y="-4128160"/>
            <a:ext cx="11165322" cy="11165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C7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486891" y="-2532160"/>
            <a:ext cx="7333269" cy="733326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9804"/>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486404" y="-1532647"/>
            <a:ext cx="5334243" cy="533424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9804"/>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4326329" y="4941469"/>
            <a:ext cx="3808060" cy="4114800"/>
          </a:xfrm>
          <a:custGeom>
            <a:avLst/>
            <a:gdLst/>
            <a:ahLst/>
            <a:cxnLst/>
            <a:rect r="r" b="b" t="t" l="l"/>
            <a:pathLst>
              <a:path h="4114800" w="3808060">
                <a:moveTo>
                  <a:pt x="0" y="0"/>
                </a:moveTo>
                <a:lnTo>
                  <a:pt x="3808061" y="0"/>
                </a:lnTo>
                <a:lnTo>
                  <a:pt x="380806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440834" y="679099"/>
            <a:ext cx="4385302" cy="775403"/>
            <a:chOff x="0" y="0"/>
            <a:chExt cx="1200079" cy="212196"/>
          </a:xfrm>
        </p:grpSpPr>
        <p:sp>
          <p:nvSpPr>
            <p:cNvPr name="Freeform 14" id="14"/>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15" id="15"/>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6" id="16"/>
          <p:cNvSpPr/>
          <p:nvPr/>
        </p:nvSpPr>
        <p:spPr>
          <a:xfrm flipH="false" flipV="false" rot="0">
            <a:off x="441510" y="2311891"/>
            <a:ext cx="4675909" cy="4114800"/>
          </a:xfrm>
          <a:custGeom>
            <a:avLst/>
            <a:gdLst/>
            <a:ahLst/>
            <a:cxnLst/>
            <a:rect r="r" b="b" t="t" l="l"/>
            <a:pathLst>
              <a:path h="4114800" w="4675909">
                <a:moveTo>
                  <a:pt x="0" y="0"/>
                </a:moveTo>
                <a:lnTo>
                  <a:pt x="4675909" y="0"/>
                </a:lnTo>
                <a:lnTo>
                  <a:pt x="467590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5606266" y="4959883"/>
            <a:ext cx="7774124" cy="6374782"/>
          </a:xfrm>
          <a:custGeom>
            <a:avLst/>
            <a:gdLst/>
            <a:ahLst/>
            <a:cxnLst/>
            <a:rect r="r" b="b" t="t" l="l"/>
            <a:pathLst>
              <a:path h="6374782" w="7774124">
                <a:moveTo>
                  <a:pt x="0" y="0"/>
                </a:moveTo>
                <a:lnTo>
                  <a:pt x="7774124" y="0"/>
                </a:lnTo>
                <a:lnTo>
                  <a:pt x="7774124" y="6374781"/>
                </a:lnTo>
                <a:lnTo>
                  <a:pt x="0" y="63747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966125" y="7311733"/>
            <a:ext cx="2649865" cy="2649865"/>
          </a:xfrm>
          <a:custGeom>
            <a:avLst/>
            <a:gdLst/>
            <a:ahLst/>
            <a:cxnLst/>
            <a:rect r="r" b="b" t="t" l="l"/>
            <a:pathLst>
              <a:path h="2649865" w="2649865">
                <a:moveTo>
                  <a:pt x="0" y="0"/>
                </a:moveTo>
                <a:lnTo>
                  <a:pt x="2649865" y="0"/>
                </a:lnTo>
                <a:lnTo>
                  <a:pt x="2649865" y="2649865"/>
                </a:lnTo>
                <a:lnTo>
                  <a:pt x="0" y="26498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8297586" y="1758448"/>
            <a:ext cx="9990414" cy="1821044"/>
          </a:xfrm>
          <a:prstGeom prst="rect">
            <a:avLst/>
          </a:prstGeom>
        </p:spPr>
        <p:txBody>
          <a:bodyPr anchor="t" rtlCol="false" tIns="0" lIns="0" bIns="0" rIns="0">
            <a:spAutoFit/>
          </a:bodyPr>
          <a:lstStyle/>
          <a:p>
            <a:pPr algn="l">
              <a:lnSpc>
                <a:spcPts val="14174"/>
              </a:lnSpc>
            </a:pPr>
            <a:r>
              <a:rPr lang="en-US" sz="10124" b="true">
                <a:solidFill>
                  <a:srgbClr val="081269"/>
                </a:solidFill>
                <a:latin typeface="Poppins Bold"/>
                <a:ea typeface="Poppins Bold"/>
                <a:cs typeface="Poppins Bold"/>
                <a:sym typeface="Poppins Bold"/>
              </a:rPr>
              <a:t>Kiến trúc </a:t>
            </a:r>
          </a:p>
        </p:txBody>
      </p:sp>
      <p:sp>
        <p:nvSpPr>
          <p:cNvPr name="TextBox 20" id="20"/>
          <p:cNvSpPr txBox="true"/>
          <p:nvPr/>
        </p:nvSpPr>
        <p:spPr>
          <a:xfrm rot="0">
            <a:off x="8297586" y="3143618"/>
            <a:ext cx="9144000" cy="1816264"/>
          </a:xfrm>
          <a:prstGeom prst="rect">
            <a:avLst/>
          </a:prstGeom>
        </p:spPr>
        <p:txBody>
          <a:bodyPr anchor="t" rtlCol="false" tIns="0" lIns="0" bIns="0" rIns="0">
            <a:spAutoFit/>
          </a:bodyPr>
          <a:lstStyle/>
          <a:p>
            <a:pPr algn="l">
              <a:lnSpc>
                <a:spcPts val="14089"/>
              </a:lnSpc>
            </a:pPr>
            <a:r>
              <a:rPr lang="en-US" sz="10064">
                <a:solidFill>
                  <a:srgbClr val="081269"/>
                </a:solidFill>
                <a:latin typeface="Poppins"/>
                <a:ea typeface="Poppins"/>
                <a:cs typeface="Poppins"/>
                <a:sym typeface="Poppins"/>
              </a:rPr>
              <a:t>Client - Server</a:t>
            </a:r>
          </a:p>
        </p:txBody>
      </p:sp>
      <p:sp>
        <p:nvSpPr>
          <p:cNvPr name="TextBox 21" id="21"/>
          <p:cNvSpPr txBox="true"/>
          <p:nvPr/>
        </p:nvSpPr>
        <p:spPr>
          <a:xfrm rot="0">
            <a:off x="6687309" y="5230079"/>
            <a:ext cx="3706769" cy="494858"/>
          </a:xfrm>
          <a:prstGeom prst="rect">
            <a:avLst/>
          </a:prstGeom>
        </p:spPr>
        <p:txBody>
          <a:bodyPr anchor="t" rtlCol="false" tIns="0" lIns="0" bIns="0" rIns="0">
            <a:spAutoFit/>
          </a:bodyPr>
          <a:lstStyle/>
          <a:p>
            <a:pPr algn="l">
              <a:lnSpc>
                <a:spcPts val="3836"/>
              </a:lnSpc>
            </a:pPr>
            <a:r>
              <a:rPr lang="en-US" sz="2740" b="true">
                <a:solidFill>
                  <a:srgbClr val="081269"/>
                </a:solidFill>
                <a:latin typeface="Poppins Bold"/>
                <a:ea typeface="Poppins Bold"/>
                <a:cs typeface="Poppins Bold"/>
                <a:sym typeface="Poppins Bold"/>
              </a:rPr>
              <a:t>Mô hình hoạt động:</a:t>
            </a:r>
          </a:p>
        </p:txBody>
      </p:sp>
      <p:sp>
        <p:nvSpPr>
          <p:cNvPr name="TextBox 22" id="22"/>
          <p:cNvSpPr txBox="true"/>
          <p:nvPr/>
        </p:nvSpPr>
        <p:spPr>
          <a:xfrm rot="0">
            <a:off x="6210203" y="6340966"/>
            <a:ext cx="6086300" cy="2179816"/>
          </a:xfrm>
          <a:prstGeom prst="rect">
            <a:avLst/>
          </a:prstGeom>
        </p:spPr>
        <p:txBody>
          <a:bodyPr anchor="t" rtlCol="false" tIns="0" lIns="0" bIns="0" rIns="0">
            <a:spAutoFit/>
          </a:bodyPr>
          <a:lstStyle/>
          <a:p>
            <a:pPr algn="just">
              <a:lnSpc>
                <a:spcPts val="4277"/>
              </a:lnSpc>
            </a:pPr>
            <a:r>
              <a:rPr lang="en-US" sz="3055">
                <a:solidFill>
                  <a:srgbClr val="081269"/>
                </a:solidFill>
                <a:latin typeface="Poppins"/>
                <a:ea typeface="Poppins"/>
                <a:cs typeface="Poppins"/>
                <a:sym typeface="Poppins"/>
              </a:rPr>
              <a:t>Ứng dụng sử dụng kiến trúc tập trung, gồm hai thành phần độc lập (Client và Server) tương tác chặt chẽ.</a:t>
            </a:r>
          </a:p>
        </p:txBody>
      </p:sp>
      <p:sp>
        <p:nvSpPr>
          <p:cNvPr name="TextBox 23" id="23"/>
          <p:cNvSpPr txBox="true"/>
          <p:nvPr/>
        </p:nvSpPr>
        <p:spPr>
          <a:xfrm rot="0">
            <a:off x="350358" y="774657"/>
            <a:ext cx="3322500" cy="47491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24" id="24"/>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5" id="25"/>
          <p:cNvSpPr txBox="true"/>
          <p:nvPr/>
        </p:nvSpPr>
        <p:spPr>
          <a:xfrm rot="0">
            <a:off x="15643881"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HIỆN THỨC HÓA HỆ THÔNG</a:t>
            </a:r>
          </a:p>
        </p:txBody>
      </p:sp>
      <p:sp>
        <p:nvSpPr>
          <p:cNvPr name="TextBox 26" id="26"/>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7" id="27"/>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081269"/>
                </a:solidFill>
                <a:latin typeface="Poppins Bold"/>
                <a:ea typeface="Poppins Bold"/>
                <a:cs typeface="Poppins Bold"/>
                <a:sym typeface="Poppins Bold"/>
              </a:rPr>
              <a:t>PHÂN TÍCH THIẾT KẾ</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3180419" y="-4128160"/>
            <a:ext cx="11165322" cy="11165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C7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486891" y="-2532160"/>
            <a:ext cx="7333269" cy="733326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9804"/>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486404" y="-1532647"/>
            <a:ext cx="5334243" cy="533424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9804"/>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4326329" y="4941469"/>
            <a:ext cx="3808060" cy="4114800"/>
          </a:xfrm>
          <a:custGeom>
            <a:avLst/>
            <a:gdLst/>
            <a:ahLst/>
            <a:cxnLst/>
            <a:rect r="r" b="b" t="t" l="l"/>
            <a:pathLst>
              <a:path h="4114800" w="3808060">
                <a:moveTo>
                  <a:pt x="0" y="0"/>
                </a:moveTo>
                <a:lnTo>
                  <a:pt x="3808061" y="0"/>
                </a:lnTo>
                <a:lnTo>
                  <a:pt x="380806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440834" y="679099"/>
            <a:ext cx="4385302" cy="775403"/>
            <a:chOff x="0" y="0"/>
            <a:chExt cx="1200079" cy="212196"/>
          </a:xfrm>
        </p:grpSpPr>
        <p:sp>
          <p:nvSpPr>
            <p:cNvPr name="Freeform 14" id="14"/>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15" id="15"/>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6" id="16"/>
          <p:cNvSpPr/>
          <p:nvPr/>
        </p:nvSpPr>
        <p:spPr>
          <a:xfrm flipH="false" flipV="false" rot="0">
            <a:off x="5606266" y="4959883"/>
            <a:ext cx="7774124" cy="6374782"/>
          </a:xfrm>
          <a:custGeom>
            <a:avLst/>
            <a:gdLst/>
            <a:ahLst/>
            <a:cxnLst/>
            <a:rect r="r" b="b" t="t" l="l"/>
            <a:pathLst>
              <a:path h="6374782" w="7774124">
                <a:moveTo>
                  <a:pt x="0" y="0"/>
                </a:moveTo>
                <a:lnTo>
                  <a:pt x="7774124" y="0"/>
                </a:lnTo>
                <a:lnTo>
                  <a:pt x="7774124" y="6374781"/>
                </a:lnTo>
                <a:lnTo>
                  <a:pt x="0" y="63747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686675" y="2044198"/>
            <a:ext cx="3691597" cy="3691597"/>
          </a:xfrm>
          <a:custGeom>
            <a:avLst/>
            <a:gdLst/>
            <a:ahLst/>
            <a:cxnLst/>
            <a:rect r="r" b="b" t="t" l="l"/>
            <a:pathLst>
              <a:path h="3691597" w="3691597">
                <a:moveTo>
                  <a:pt x="0" y="0"/>
                </a:moveTo>
                <a:lnTo>
                  <a:pt x="3691597" y="0"/>
                </a:lnTo>
                <a:lnTo>
                  <a:pt x="3691597" y="3691597"/>
                </a:lnTo>
                <a:lnTo>
                  <a:pt x="0" y="36915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5400000">
            <a:off x="1656585" y="6998869"/>
            <a:ext cx="1920856" cy="3044585"/>
          </a:xfrm>
          <a:custGeom>
            <a:avLst/>
            <a:gdLst/>
            <a:ahLst/>
            <a:cxnLst/>
            <a:rect r="r" b="b" t="t" l="l"/>
            <a:pathLst>
              <a:path h="3044585" w="1920856">
                <a:moveTo>
                  <a:pt x="0" y="0"/>
                </a:moveTo>
                <a:lnTo>
                  <a:pt x="1920856" y="0"/>
                </a:lnTo>
                <a:lnTo>
                  <a:pt x="1920856" y="3044585"/>
                </a:lnTo>
                <a:lnTo>
                  <a:pt x="0" y="30445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8297586" y="1758448"/>
            <a:ext cx="9990414" cy="1821044"/>
          </a:xfrm>
          <a:prstGeom prst="rect">
            <a:avLst/>
          </a:prstGeom>
        </p:spPr>
        <p:txBody>
          <a:bodyPr anchor="t" rtlCol="false" tIns="0" lIns="0" bIns="0" rIns="0">
            <a:spAutoFit/>
          </a:bodyPr>
          <a:lstStyle/>
          <a:p>
            <a:pPr algn="l">
              <a:lnSpc>
                <a:spcPts val="14174"/>
              </a:lnSpc>
            </a:pPr>
            <a:r>
              <a:rPr lang="en-US" sz="10124" b="true">
                <a:solidFill>
                  <a:srgbClr val="081269"/>
                </a:solidFill>
                <a:latin typeface="Poppins Bold"/>
                <a:ea typeface="Poppins Bold"/>
                <a:cs typeface="Poppins Bold"/>
                <a:sym typeface="Poppins Bold"/>
              </a:rPr>
              <a:t>Kiến trúc </a:t>
            </a:r>
          </a:p>
        </p:txBody>
      </p:sp>
      <p:sp>
        <p:nvSpPr>
          <p:cNvPr name="TextBox 20" id="20"/>
          <p:cNvSpPr txBox="true"/>
          <p:nvPr/>
        </p:nvSpPr>
        <p:spPr>
          <a:xfrm rot="0">
            <a:off x="8297586" y="3143618"/>
            <a:ext cx="9144000" cy="1816264"/>
          </a:xfrm>
          <a:prstGeom prst="rect">
            <a:avLst/>
          </a:prstGeom>
        </p:spPr>
        <p:txBody>
          <a:bodyPr anchor="t" rtlCol="false" tIns="0" lIns="0" bIns="0" rIns="0">
            <a:spAutoFit/>
          </a:bodyPr>
          <a:lstStyle/>
          <a:p>
            <a:pPr algn="l">
              <a:lnSpc>
                <a:spcPts val="14089"/>
              </a:lnSpc>
            </a:pPr>
            <a:r>
              <a:rPr lang="en-US" sz="10064">
                <a:solidFill>
                  <a:srgbClr val="081269"/>
                </a:solidFill>
                <a:latin typeface="Poppins"/>
                <a:ea typeface="Poppins"/>
                <a:cs typeface="Poppins"/>
                <a:sym typeface="Poppins"/>
              </a:rPr>
              <a:t>Client - Server</a:t>
            </a:r>
          </a:p>
        </p:txBody>
      </p:sp>
      <p:sp>
        <p:nvSpPr>
          <p:cNvPr name="TextBox 21" id="21"/>
          <p:cNvSpPr txBox="true"/>
          <p:nvPr/>
        </p:nvSpPr>
        <p:spPr>
          <a:xfrm rot="0">
            <a:off x="6687309" y="5230079"/>
            <a:ext cx="3706769" cy="494858"/>
          </a:xfrm>
          <a:prstGeom prst="rect">
            <a:avLst/>
          </a:prstGeom>
        </p:spPr>
        <p:txBody>
          <a:bodyPr anchor="t" rtlCol="false" tIns="0" lIns="0" bIns="0" rIns="0">
            <a:spAutoFit/>
          </a:bodyPr>
          <a:lstStyle/>
          <a:p>
            <a:pPr algn="l">
              <a:lnSpc>
                <a:spcPts val="3836"/>
              </a:lnSpc>
            </a:pPr>
            <a:r>
              <a:rPr lang="en-US" sz="2740" b="true">
                <a:solidFill>
                  <a:srgbClr val="081269"/>
                </a:solidFill>
                <a:latin typeface="Poppins Bold"/>
                <a:ea typeface="Poppins Bold"/>
                <a:cs typeface="Poppins Bold"/>
                <a:sym typeface="Poppins Bold"/>
              </a:rPr>
              <a:t>Vai trò của Server:</a:t>
            </a:r>
          </a:p>
        </p:txBody>
      </p:sp>
      <p:sp>
        <p:nvSpPr>
          <p:cNvPr name="TextBox 22" id="22"/>
          <p:cNvSpPr txBox="true"/>
          <p:nvPr/>
        </p:nvSpPr>
        <p:spPr>
          <a:xfrm rot="0">
            <a:off x="6210203" y="6340966"/>
            <a:ext cx="6086300" cy="2722741"/>
          </a:xfrm>
          <a:prstGeom prst="rect">
            <a:avLst/>
          </a:prstGeom>
        </p:spPr>
        <p:txBody>
          <a:bodyPr anchor="t" rtlCol="false" tIns="0" lIns="0" bIns="0" rIns="0">
            <a:spAutoFit/>
          </a:bodyPr>
          <a:lstStyle/>
          <a:p>
            <a:pPr algn="just">
              <a:lnSpc>
                <a:spcPts val="4277"/>
              </a:lnSpc>
            </a:pPr>
            <a:r>
              <a:rPr lang="en-US" sz="3055">
                <a:solidFill>
                  <a:srgbClr val="081269"/>
                </a:solidFill>
                <a:latin typeface="Poppins"/>
                <a:ea typeface="Poppins"/>
                <a:cs typeface="Poppins"/>
                <a:sym typeface="Poppins"/>
              </a:rPr>
              <a:t>Là trung tâm điều phối, quản lý kết nối từ Client thông qua Socket, quản lý trạng thái người dùng và phòng chat (Room Management).</a:t>
            </a:r>
          </a:p>
        </p:txBody>
      </p:sp>
      <p:sp>
        <p:nvSpPr>
          <p:cNvPr name="TextBox 23" id="23"/>
          <p:cNvSpPr txBox="true"/>
          <p:nvPr/>
        </p:nvSpPr>
        <p:spPr>
          <a:xfrm rot="0">
            <a:off x="350358" y="774657"/>
            <a:ext cx="3322500" cy="47491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24" id="24"/>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5" id="25"/>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HIỆN </a:t>
            </a:r>
            <a:r>
              <a:rPr lang="en-US" b="true" sz="1951" strike="noStrike" u="none">
                <a:solidFill>
                  <a:srgbClr val="081269">
                    <a:alpha val="49804"/>
                  </a:srgbClr>
                </a:solidFill>
                <a:latin typeface="Poppins Bold"/>
                <a:ea typeface="Poppins Bold"/>
                <a:cs typeface="Poppins Bold"/>
                <a:sym typeface="Poppins Bold"/>
              </a:rPr>
              <a:t>TH</a:t>
            </a:r>
            <a:r>
              <a:rPr lang="en-US" b="true" sz="1951" strike="noStrike" u="none">
                <a:solidFill>
                  <a:srgbClr val="081269">
                    <a:alpha val="49804"/>
                  </a:srgbClr>
                </a:solidFill>
                <a:latin typeface="Poppins Bold"/>
                <a:ea typeface="Poppins Bold"/>
                <a:cs typeface="Poppins Bold"/>
                <a:sym typeface="Poppins Bold"/>
              </a:rPr>
              <a:t>ỨC HÓA HỆ THÔNG</a:t>
            </a:r>
          </a:p>
        </p:txBody>
      </p:sp>
      <p:sp>
        <p:nvSpPr>
          <p:cNvPr name="TextBox 26" id="26"/>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7" id="27"/>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081269"/>
                </a:solidFill>
                <a:latin typeface="Poppins Bold"/>
                <a:ea typeface="Poppins Bold"/>
                <a:cs typeface="Poppins Bold"/>
                <a:sym typeface="Poppins Bold"/>
              </a:rPr>
              <a:t>PHÂN TÍCH THIẾT KẾ</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3180419" y="-4128160"/>
            <a:ext cx="11165322" cy="11165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C7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486891" y="-2532160"/>
            <a:ext cx="7333269" cy="733326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9804"/>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486404" y="-1532647"/>
            <a:ext cx="5334243" cy="533424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9804"/>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4326329" y="4941469"/>
            <a:ext cx="3808060" cy="4114800"/>
          </a:xfrm>
          <a:custGeom>
            <a:avLst/>
            <a:gdLst/>
            <a:ahLst/>
            <a:cxnLst/>
            <a:rect r="r" b="b" t="t" l="l"/>
            <a:pathLst>
              <a:path h="4114800" w="3808060">
                <a:moveTo>
                  <a:pt x="0" y="0"/>
                </a:moveTo>
                <a:lnTo>
                  <a:pt x="3808061" y="0"/>
                </a:lnTo>
                <a:lnTo>
                  <a:pt x="380806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440834" y="679099"/>
            <a:ext cx="4385302" cy="775403"/>
            <a:chOff x="0" y="0"/>
            <a:chExt cx="1200079" cy="212196"/>
          </a:xfrm>
        </p:grpSpPr>
        <p:sp>
          <p:nvSpPr>
            <p:cNvPr name="Freeform 14" id="14"/>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15" id="15"/>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6" id="16"/>
          <p:cNvSpPr/>
          <p:nvPr/>
        </p:nvSpPr>
        <p:spPr>
          <a:xfrm flipH="false" flipV="false" rot="0">
            <a:off x="5606266" y="4959883"/>
            <a:ext cx="7774124" cy="6374782"/>
          </a:xfrm>
          <a:custGeom>
            <a:avLst/>
            <a:gdLst/>
            <a:ahLst/>
            <a:cxnLst/>
            <a:rect r="r" b="b" t="t" l="l"/>
            <a:pathLst>
              <a:path h="6374782" w="7774124">
                <a:moveTo>
                  <a:pt x="0" y="0"/>
                </a:moveTo>
                <a:lnTo>
                  <a:pt x="7774124" y="0"/>
                </a:lnTo>
                <a:lnTo>
                  <a:pt x="7774124" y="6374781"/>
                </a:lnTo>
                <a:lnTo>
                  <a:pt x="0" y="63747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5400000">
            <a:off x="1656585" y="6998869"/>
            <a:ext cx="1920856" cy="3044585"/>
          </a:xfrm>
          <a:custGeom>
            <a:avLst/>
            <a:gdLst/>
            <a:ahLst/>
            <a:cxnLst/>
            <a:rect r="r" b="b" t="t" l="l"/>
            <a:pathLst>
              <a:path h="3044585" w="1920856">
                <a:moveTo>
                  <a:pt x="0" y="0"/>
                </a:moveTo>
                <a:lnTo>
                  <a:pt x="1920856" y="0"/>
                </a:lnTo>
                <a:lnTo>
                  <a:pt x="1920856" y="3044585"/>
                </a:lnTo>
                <a:lnTo>
                  <a:pt x="0" y="3044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770163" y="173810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8297586" y="1758448"/>
            <a:ext cx="9990414" cy="1821044"/>
          </a:xfrm>
          <a:prstGeom prst="rect">
            <a:avLst/>
          </a:prstGeom>
        </p:spPr>
        <p:txBody>
          <a:bodyPr anchor="t" rtlCol="false" tIns="0" lIns="0" bIns="0" rIns="0">
            <a:spAutoFit/>
          </a:bodyPr>
          <a:lstStyle/>
          <a:p>
            <a:pPr algn="l">
              <a:lnSpc>
                <a:spcPts val="14174"/>
              </a:lnSpc>
            </a:pPr>
            <a:r>
              <a:rPr lang="en-US" sz="10124" b="true">
                <a:solidFill>
                  <a:srgbClr val="081269"/>
                </a:solidFill>
                <a:latin typeface="Poppins Bold"/>
                <a:ea typeface="Poppins Bold"/>
                <a:cs typeface="Poppins Bold"/>
                <a:sym typeface="Poppins Bold"/>
              </a:rPr>
              <a:t>Kiến trúc </a:t>
            </a:r>
          </a:p>
        </p:txBody>
      </p:sp>
      <p:sp>
        <p:nvSpPr>
          <p:cNvPr name="TextBox 20" id="20"/>
          <p:cNvSpPr txBox="true"/>
          <p:nvPr/>
        </p:nvSpPr>
        <p:spPr>
          <a:xfrm rot="0">
            <a:off x="8297586" y="3143618"/>
            <a:ext cx="9144000" cy="1816264"/>
          </a:xfrm>
          <a:prstGeom prst="rect">
            <a:avLst/>
          </a:prstGeom>
        </p:spPr>
        <p:txBody>
          <a:bodyPr anchor="t" rtlCol="false" tIns="0" lIns="0" bIns="0" rIns="0">
            <a:spAutoFit/>
          </a:bodyPr>
          <a:lstStyle/>
          <a:p>
            <a:pPr algn="l">
              <a:lnSpc>
                <a:spcPts val="14089"/>
              </a:lnSpc>
            </a:pPr>
            <a:r>
              <a:rPr lang="en-US" sz="10064">
                <a:solidFill>
                  <a:srgbClr val="081269"/>
                </a:solidFill>
                <a:latin typeface="Poppins"/>
                <a:ea typeface="Poppins"/>
                <a:cs typeface="Poppins"/>
                <a:sym typeface="Poppins"/>
              </a:rPr>
              <a:t>Client - Server</a:t>
            </a:r>
          </a:p>
        </p:txBody>
      </p:sp>
      <p:sp>
        <p:nvSpPr>
          <p:cNvPr name="TextBox 21" id="21"/>
          <p:cNvSpPr txBox="true"/>
          <p:nvPr/>
        </p:nvSpPr>
        <p:spPr>
          <a:xfrm rot="0">
            <a:off x="6687309" y="5230079"/>
            <a:ext cx="3706769" cy="494858"/>
          </a:xfrm>
          <a:prstGeom prst="rect">
            <a:avLst/>
          </a:prstGeom>
        </p:spPr>
        <p:txBody>
          <a:bodyPr anchor="t" rtlCol="false" tIns="0" lIns="0" bIns="0" rIns="0">
            <a:spAutoFit/>
          </a:bodyPr>
          <a:lstStyle/>
          <a:p>
            <a:pPr algn="l">
              <a:lnSpc>
                <a:spcPts val="3836"/>
              </a:lnSpc>
            </a:pPr>
            <a:r>
              <a:rPr lang="en-US" sz="2740" b="true">
                <a:solidFill>
                  <a:srgbClr val="081269"/>
                </a:solidFill>
                <a:latin typeface="Poppins Bold"/>
                <a:ea typeface="Poppins Bold"/>
                <a:cs typeface="Poppins Bold"/>
                <a:sym typeface="Poppins Bold"/>
              </a:rPr>
              <a:t>Xử lý đa luồng:</a:t>
            </a:r>
          </a:p>
        </p:txBody>
      </p:sp>
      <p:sp>
        <p:nvSpPr>
          <p:cNvPr name="TextBox 22" id="22"/>
          <p:cNvSpPr txBox="true"/>
          <p:nvPr/>
        </p:nvSpPr>
        <p:spPr>
          <a:xfrm rot="0">
            <a:off x="6358949" y="6286912"/>
            <a:ext cx="6086300" cy="3416161"/>
          </a:xfrm>
          <a:prstGeom prst="rect">
            <a:avLst/>
          </a:prstGeom>
        </p:spPr>
        <p:txBody>
          <a:bodyPr anchor="t" rtlCol="false" tIns="0" lIns="0" bIns="0" rIns="0">
            <a:spAutoFit/>
          </a:bodyPr>
          <a:lstStyle/>
          <a:p>
            <a:pPr algn="just">
              <a:lnSpc>
                <a:spcPts val="3857"/>
              </a:lnSpc>
            </a:pPr>
            <a:r>
              <a:rPr lang="en-US" sz="2755">
                <a:solidFill>
                  <a:srgbClr val="081269"/>
                </a:solidFill>
                <a:latin typeface="Poppins"/>
                <a:ea typeface="Poppins"/>
                <a:cs typeface="Poppins"/>
                <a:sym typeface="Poppins"/>
              </a:rPr>
              <a:t>Server sử dụng kỹ thuật quản lý đa luồng để phục vụ đồng thời nhiều Client mà không gây nghẽn hệ thống, đồng thời sử dụng kỹ thuật Broadcast để phân phối tin nhắn đến đúng các thành viên trong phòng chat.</a:t>
            </a:r>
          </a:p>
        </p:txBody>
      </p:sp>
      <p:sp>
        <p:nvSpPr>
          <p:cNvPr name="TextBox 23" id="23"/>
          <p:cNvSpPr txBox="true"/>
          <p:nvPr/>
        </p:nvSpPr>
        <p:spPr>
          <a:xfrm rot="0">
            <a:off x="350358" y="774657"/>
            <a:ext cx="3322500" cy="47491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24" id="24"/>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5" id="25"/>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6" id="26"/>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081269"/>
                </a:solidFill>
                <a:latin typeface="Poppins Bold"/>
                <a:ea typeface="Poppins Bold"/>
                <a:cs typeface="Poppins Bold"/>
                <a:sym typeface="Poppins Bold"/>
              </a:rPr>
              <a:t>PHÂN TÍCH THIẾT KẾ</a:t>
            </a:r>
          </a:p>
        </p:txBody>
      </p:sp>
      <p:sp>
        <p:nvSpPr>
          <p:cNvPr name="TextBox 27" id="27"/>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HIỆN </a:t>
            </a:r>
            <a:r>
              <a:rPr lang="en-US" b="true" sz="1951" strike="noStrike" u="none">
                <a:solidFill>
                  <a:srgbClr val="081269">
                    <a:alpha val="49804"/>
                  </a:srgbClr>
                </a:solidFill>
                <a:latin typeface="Poppins Bold"/>
                <a:ea typeface="Poppins Bold"/>
                <a:cs typeface="Poppins Bold"/>
                <a:sym typeface="Poppins Bold"/>
              </a:rPr>
              <a:t>TH</a:t>
            </a:r>
            <a:r>
              <a:rPr lang="en-US" b="true" sz="1951" strike="noStrike" u="none">
                <a:solidFill>
                  <a:srgbClr val="081269">
                    <a:alpha val="49804"/>
                  </a:srgbClr>
                </a:solidFill>
                <a:latin typeface="Poppins Bold"/>
                <a:ea typeface="Poppins Bold"/>
                <a:cs typeface="Poppins Bold"/>
                <a:sym typeface="Poppins Bold"/>
              </a:rPr>
              <a:t>ỨC HÓA HỆ THÔNG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3180419" y="-4128160"/>
            <a:ext cx="11165322" cy="11165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C74"/>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486891" y="-2532160"/>
            <a:ext cx="7333269" cy="733326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9804"/>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486404" y="-1532647"/>
            <a:ext cx="5334243" cy="533424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9804"/>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4326329" y="4941469"/>
            <a:ext cx="3808060" cy="4114800"/>
          </a:xfrm>
          <a:custGeom>
            <a:avLst/>
            <a:gdLst/>
            <a:ahLst/>
            <a:cxnLst/>
            <a:rect r="r" b="b" t="t" l="l"/>
            <a:pathLst>
              <a:path h="4114800" w="3808060">
                <a:moveTo>
                  <a:pt x="0" y="0"/>
                </a:moveTo>
                <a:lnTo>
                  <a:pt x="3808061" y="0"/>
                </a:lnTo>
                <a:lnTo>
                  <a:pt x="380806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440834" y="679099"/>
            <a:ext cx="4385302" cy="775403"/>
            <a:chOff x="0" y="0"/>
            <a:chExt cx="1200079" cy="212196"/>
          </a:xfrm>
        </p:grpSpPr>
        <p:sp>
          <p:nvSpPr>
            <p:cNvPr name="Freeform 14" id="14"/>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15" id="15"/>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6" id="16"/>
          <p:cNvSpPr/>
          <p:nvPr/>
        </p:nvSpPr>
        <p:spPr>
          <a:xfrm flipH="false" flipV="false" rot="0">
            <a:off x="5606266" y="4959883"/>
            <a:ext cx="7774124" cy="6374782"/>
          </a:xfrm>
          <a:custGeom>
            <a:avLst/>
            <a:gdLst/>
            <a:ahLst/>
            <a:cxnLst/>
            <a:rect r="r" b="b" t="t" l="l"/>
            <a:pathLst>
              <a:path h="6374782" w="7774124">
                <a:moveTo>
                  <a:pt x="0" y="0"/>
                </a:moveTo>
                <a:lnTo>
                  <a:pt x="7774124" y="0"/>
                </a:lnTo>
                <a:lnTo>
                  <a:pt x="7774124" y="6374781"/>
                </a:lnTo>
                <a:lnTo>
                  <a:pt x="0" y="63747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5400000">
            <a:off x="1656585" y="6998869"/>
            <a:ext cx="1920856" cy="3044585"/>
          </a:xfrm>
          <a:custGeom>
            <a:avLst/>
            <a:gdLst/>
            <a:ahLst/>
            <a:cxnLst/>
            <a:rect r="r" b="b" t="t" l="l"/>
            <a:pathLst>
              <a:path h="3044585" w="1920856">
                <a:moveTo>
                  <a:pt x="0" y="0"/>
                </a:moveTo>
                <a:lnTo>
                  <a:pt x="1920856" y="0"/>
                </a:lnTo>
                <a:lnTo>
                  <a:pt x="1920856" y="3044585"/>
                </a:lnTo>
                <a:lnTo>
                  <a:pt x="0" y="3044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787797" y="1744196"/>
            <a:ext cx="3658431" cy="4114800"/>
          </a:xfrm>
          <a:custGeom>
            <a:avLst/>
            <a:gdLst/>
            <a:ahLst/>
            <a:cxnLst/>
            <a:rect r="r" b="b" t="t" l="l"/>
            <a:pathLst>
              <a:path h="4114800" w="3658431">
                <a:moveTo>
                  <a:pt x="0" y="0"/>
                </a:moveTo>
                <a:lnTo>
                  <a:pt x="3658431" y="0"/>
                </a:lnTo>
                <a:lnTo>
                  <a:pt x="365843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8297586" y="1758448"/>
            <a:ext cx="9990414" cy="1821044"/>
          </a:xfrm>
          <a:prstGeom prst="rect">
            <a:avLst/>
          </a:prstGeom>
        </p:spPr>
        <p:txBody>
          <a:bodyPr anchor="t" rtlCol="false" tIns="0" lIns="0" bIns="0" rIns="0">
            <a:spAutoFit/>
          </a:bodyPr>
          <a:lstStyle/>
          <a:p>
            <a:pPr algn="l">
              <a:lnSpc>
                <a:spcPts val="14174"/>
              </a:lnSpc>
            </a:pPr>
            <a:r>
              <a:rPr lang="en-US" sz="10124" b="true">
                <a:solidFill>
                  <a:srgbClr val="081269"/>
                </a:solidFill>
                <a:latin typeface="Poppins Bold"/>
                <a:ea typeface="Poppins Bold"/>
                <a:cs typeface="Poppins Bold"/>
                <a:sym typeface="Poppins Bold"/>
              </a:rPr>
              <a:t>Kiến trúc </a:t>
            </a:r>
          </a:p>
        </p:txBody>
      </p:sp>
      <p:sp>
        <p:nvSpPr>
          <p:cNvPr name="TextBox 20" id="20"/>
          <p:cNvSpPr txBox="true"/>
          <p:nvPr/>
        </p:nvSpPr>
        <p:spPr>
          <a:xfrm rot="0">
            <a:off x="8297586" y="3143618"/>
            <a:ext cx="9144000" cy="1816264"/>
          </a:xfrm>
          <a:prstGeom prst="rect">
            <a:avLst/>
          </a:prstGeom>
        </p:spPr>
        <p:txBody>
          <a:bodyPr anchor="t" rtlCol="false" tIns="0" lIns="0" bIns="0" rIns="0">
            <a:spAutoFit/>
          </a:bodyPr>
          <a:lstStyle/>
          <a:p>
            <a:pPr algn="l">
              <a:lnSpc>
                <a:spcPts val="14089"/>
              </a:lnSpc>
            </a:pPr>
            <a:r>
              <a:rPr lang="en-US" sz="10064">
                <a:solidFill>
                  <a:srgbClr val="081269"/>
                </a:solidFill>
                <a:latin typeface="Poppins"/>
                <a:ea typeface="Poppins"/>
                <a:cs typeface="Poppins"/>
                <a:sym typeface="Poppins"/>
              </a:rPr>
              <a:t>Client - Server</a:t>
            </a:r>
          </a:p>
        </p:txBody>
      </p:sp>
      <p:sp>
        <p:nvSpPr>
          <p:cNvPr name="TextBox 21" id="21"/>
          <p:cNvSpPr txBox="true"/>
          <p:nvPr/>
        </p:nvSpPr>
        <p:spPr>
          <a:xfrm rot="0">
            <a:off x="6687309" y="5230079"/>
            <a:ext cx="3706769" cy="494858"/>
          </a:xfrm>
          <a:prstGeom prst="rect">
            <a:avLst/>
          </a:prstGeom>
        </p:spPr>
        <p:txBody>
          <a:bodyPr anchor="t" rtlCol="false" tIns="0" lIns="0" bIns="0" rIns="0">
            <a:spAutoFit/>
          </a:bodyPr>
          <a:lstStyle/>
          <a:p>
            <a:pPr algn="l">
              <a:lnSpc>
                <a:spcPts val="3836"/>
              </a:lnSpc>
            </a:pPr>
            <a:r>
              <a:rPr lang="en-US" sz="2740" b="true">
                <a:solidFill>
                  <a:srgbClr val="081269"/>
                </a:solidFill>
                <a:latin typeface="Poppins Bold"/>
                <a:ea typeface="Poppins Bold"/>
                <a:cs typeface="Poppins Bold"/>
                <a:sym typeface="Poppins Bold"/>
              </a:rPr>
              <a:t>Vai trò của Client:</a:t>
            </a:r>
          </a:p>
        </p:txBody>
      </p:sp>
      <p:sp>
        <p:nvSpPr>
          <p:cNvPr name="TextBox 22" id="22"/>
          <p:cNvSpPr txBox="true"/>
          <p:nvPr/>
        </p:nvSpPr>
        <p:spPr>
          <a:xfrm rot="0">
            <a:off x="6210203" y="6340966"/>
            <a:ext cx="6086300" cy="2722741"/>
          </a:xfrm>
          <a:prstGeom prst="rect">
            <a:avLst/>
          </a:prstGeom>
        </p:spPr>
        <p:txBody>
          <a:bodyPr anchor="t" rtlCol="false" tIns="0" lIns="0" bIns="0" rIns="0">
            <a:spAutoFit/>
          </a:bodyPr>
          <a:lstStyle/>
          <a:p>
            <a:pPr algn="just">
              <a:lnSpc>
                <a:spcPts val="4277"/>
              </a:lnSpc>
            </a:pPr>
            <a:r>
              <a:rPr lang="en-US" sz="3055">
                <a:solidFill>
                  <a:srgbClr val="081269"/>
                </a:solidFill>
                <a:latin typeface="Poppins"/>
                <a:ea typeface="Poppins"/>
                <a:cs typeface="Poppins"/>
                <a:sym typeface="Poppins"/>
              </a:rPr>
              <a:t>Cung cấp giao diện tương tác, thiết lập kết nối, gửi/nhận tin nhắn thời gian thực và hiển thị nội dung trực quan cho người dùng.</a:t>
            </a:r>
          </a:p>
        </p:txBody>
      </p:sp>
      <p:sp>
        <p:nvSpPr>
          <p:cNvPr name="TextBox 23" id="23"/>
          <p:cNvSpPr txBox="true"/>
          <p:nvPr/>
        </p:nvSpPr>
        <p:spPr>
          <a:xfrm rot="0">
            <a:off x="350358" y="774657"/>
            <a:ext cx="3322500" cy="47491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24" id="24"/>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5" id="25"/>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6" id="26"/>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081269"/>
                </a:solidFill>
                <a:latin typeface="Poppins Bold"/>
                <a:ea typeface="Poppins Bold"/>
                <a:cs typeface="Poppins Bold"/>
                <a:sym typeface="Poppins Bold"/>
              </a:rPr>
              <a:t>PHÂN TÍCH THIẾT KẾ</a:t>
            </a:r>
          </a:p>
        </p:txBody>
      </p:sp>
      <p:sp>
        <p:nvSpPr>
          <p:cNvPr name="TextBox 27" id="27"/>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HIỆN </a:t>
            </a:r>
            <a:r>
              <a:rPr lang="en-US" b="true" sz="1951" strike="noStrike" u="none">
                <a:solidFill>
                  <a:srgbClr val="081269">
                    <a:alpha val="49804"/>
                  </a:srgbClr>
                </a:solidFill>
                <a:latin typeface="Poppins Bold"/>
                <a:ea typeface="Poppins Bold"/>
                <a:cs typeface="Poppins Bold"/>
                <a:sym typeface="Poppins Bold"/>
              </a:rPr>
              <a:t>TH</a:t>
            </a:r>
            <a:r>
              <a:rPr lang="en-US" b="true" sz="1951" strike="noStrike" u="none">
                <a:solidFill>
                  <a:srgbClr val="081269">
                    <a:alpha val="49804"/>
                  </a:srgbClr>
                </a:solidFill>
                <a:latin typeface="Poppins Bold"/>
                <a:ea typeface="Poppins Bold"/>
                <a:cs typeface="Poppins Bold"/>
                <a:sym typeface="Poppins Bold"/>
              </a:rPr>
              <a:t>ỨC HÓA HỆ THÔNG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grpSp>
        <p:nvGrpSpPr>
          <p:cNvPr name="Group 2" id="2"/>
          <p:cNvGrpSpPr/>
          <p:nvPr/>
        </p:nvGrpSpPr>
        <p:grpSpPr>
          <a:xfrm rot="0">
            <a:off x="-3153041" y="-5621027"/>
            <a:ext cx="10764527" cy="1076452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846538" y="-5621027"/>
            <a:ext cx="9531646" cy="95316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7689616" y="-2436900"/>
            <a:ext cx="15411352" cy="15411352"/>
          </a:xfrm>
          <a:custGeom>
            <a:avLst/>
            <a:gdLst/>
            <a:ahLst/>
            <a:cxnLst/>
            <a:rect r="r" b="b" t="t" l="l"/>
            <a:pathLst>
              <a:path h="15411352" w="15411352">
                <a:moveTo>
                  <a:pt x="0" y="0"/>
                </a:moveTo>
                <a:lnTo>
                  <a:pt x="15411351" y="0"/>
                </a:lnTo>
                <a:lnTo>
                  <a:pt x="15411351" y="15411352"/>
                </a:lnTo>
                <a:lnTo>
                  <a:pt x="0" y="15411352"/>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756368" y="8814412"/>
            <a:ext cx="1005863" cy="1005863"/>
          </a:xfrm>
          <a:custGeom>
            <a:avLst/>
            <a:gdLst/>
            <a:ahLst/>
            <a:cxnLst/>
            <a:rect r="r" b="b" t="t" l="l"/>
            <a:pathLst>
              <a:path h="1005863" w="1005863">
                <a:moveTo>
                  <a:pt x="0" y="0"/>
                </a:moveTo>
                <a:lnTo>
                  <a:pt x="1005864" y="0"/>
                </a:lnTo>
                <a:lnTo>
                  <a:pt x="1005864"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440834" y="679099"/>
            <a:ext cx="4385302" cy="775403"/>
            <a:chOff x="0" y="0"/>
            <a:chExt cx="1200079" cy="212196"/>
          </a:xfrm>
        </p:grpSpPr>
        <p:sp>
          <p:nvSpPr>
            <p:cNvPr name="Freeform 11" id="11"/>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12" id="12"/>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pSp>
        <p:nvGrpSpPr>
          <p:cNvPr name="Group 13" id="13"/>
          <p:cNvGrpSpPr/>
          <p:nvPr/>
        </p:nvGrpSpPr>
        <p:grpSpPr>
          <a:xfrm rot="0">
            <a:off x="-1255065" y="5604052"/>
            <a:ext cx="10399065" cy="1039906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C7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863113" y="4609989"/>
            <a:ext cx="12043278" cy="1988127"/>
            <a:chOff x="0" y="0"/>
            <a:chExt cx="3171892" cy="523622"/>
          </a:xfrm>
        </p:grpSpPr>
        <p:sp>
          <p:nvSpPr>
            <p:cNvPr name="Freeform 17" id="17"/>
            <p:cNvSpPr/>
            <p:nvPr/>
          </p:nvSpPr>
          <p:spPr>
            <a:xfrm flipH="false" flipV="false" rot="0">
              <a:off x="0" y="0"/>
              <a:ext cx="3171892" cy="523622"/>
            </a:xfrm>
            <a:custGeom>
              <a:avLst/>
              <a:gdLst/>
              <a:ahLst/>
              <a:cxnLst/>
              <a:rect r="r" b="b" t="t" l="l"/>
              <a:pathLst>
                <a:path h="523622" w="3171892">
                  <a:moveTo>
                    <a:pt x="24428" y="0"/>
                  </a:moveTo>
                  <a:lnTo>
                    <a:pt x="3147464" y="0"/>
                  </a:lnTo>
                  <a:cubicBezTo>
                    <a:pt x="3153943" y="0"/>
                    <a:pt x="3160156" y="2574"/>
                    <a:pt x="3164737" y="7155"/>
                  </a:cubicBezTo>
                  <a:cubicBezTo>
                    <a:pt x="3169319" y="11736"/>
                    <a:pt x="3171892" y="17949"/>
                    <a:pt x="3171892" y="24428"/>
                  </a:cubicBezTo>
                  <a:lnTo>
                    <a:pt x="3171892" y="499194"/>
                  </a:lnTo>
                  <a:cubicBezTo>
                    <a:pt x="3171892" y="505673"/>
                    <a:pt x="3169319" y="511886"/>
                    <a:pt x="3164737" y="516467"/>
                  </a:cubicBezTo>
                  <a:cubicBezTo>
                    <a:pt x="3160156" y="521048"/>
                    <a:pt x="3153943" y="523622"/>
                    <a:pt x="3147464" y="523622"/>
                  </a:cubicBezTo>
                  <a:lnTo>
                    <a:pt x="24428" y="523622"/>
                  </a:lnTo>
                  <a:cubicBezTo>
                    <a:pt x="10937" y="523622"/>
                    <a:pt x="0" y="512685"/>
                    <a:pt x="0" y="499194"/>
                  </a:cubicBezTo>
                  <a:lnTo>
                    <a:pt x="0" y="24428"/>
                  </a:lnTo>
                  <a:cubicBezTo>
                    <a:pt x="0" y="17949"/>
                    <a:pt x="2574" y="11736"/>
                    <a:pt x="7155" y="7155"/>
                  </a:cubicBezTo>
                  <a:cubicBezTo>
                    <a:pt x="11736" y="2574"/>
                    <a:pt x="17949" y="0"/>
                    <a:pt x="24428" y="0"/>
                  </a:cubicBezTo>
                  <a:close/>
                </a:path>
              </a:pathLst>
            </a:custGeom>
            <a:gradFill rotWithShape="true">
              <a:gsLst>
                <a:gs pos="0">
                  <a:srgbClr val="FFFFFF">
                    <a:alpha val="100000"/>
                  </a:srgbClr>
                </a:gs>
                <a:gs pos="100000">
                  <a:srgbClr val="C7C9FF">
                    <a:alpha val="69000"/>
                  </a:srgbClr>
                </a:gs>
              </a:gsLst>
              <a:lin ang="2700000"/>
            </a:gradFill>
          </p:spPr>
        </p:sp>
        <p:sp>
          <p:nvSpPr>
            <p:cNvPr name="TextBox 18" id="18"/>
            <p:cNvSpPr txBox="true"/>
            <p:nvPr/>
          </p:nvSpPr>
          <p:spPr>
            <a:xfrm>
              <a:off x="0" y="-57150"/>
              <a:ext cx="3171892" cy="580772"/>
            </a:xfrm>
            <a:prstGeom prst="rect">
              <a:avLst/>
            </a:prstGeom>
          </p:spPr>
          <p:txBody>
            <a:bodyPr anchor="ctr" rtlCol="false" tIns="50800" lIns="50800" bIns="50800" rIns="50800"/>
            <a:lstStyle/>
            <a:p>
              <a:pPr algn="ctr">
                <a:lnSpc>
                  <a:spcPts val="2731"/>
                </a:lnSpc>
              </a:pPr>
            </a:p>
          </p:txBody>
        </p:sp>
      </p:grpSp>
      <p:grpSp>
        <p:nvGrpSpPr>
          <p:cNvPr name="Group 19" id="19"/>
          <p:cNvGrpSpPr/>
          <p:nvPr/>
        </p:nvGrpSpPr>
        <p:grpSpPr>
          <a:xfrm rot="0">
            <a:off x="863113" y="6712416"/>
            <a:ext cx="4754839" cy="2101996"/>
            <a:chOff x="0" y="0"/>
            <a:chExt cx="1252303" cy="553612"/>
          </a:xfrm>
        </p:grpSpPr>
        <p:sp>
          <p:nvSpPr>
            <p:cNvPr name="Freeform 20" id="20"/>
            <p:cNvSpPr/>
            <p:nvPr/>
          </p:nvSpPr>
          <p:spPr>
            <a:xfrm flipH="false" flipV="false" rot="0">
              <a:off x="0" y="0"/>
              <a:ext cx="1252303" cy="553612"/>
            </a:xfrm>
            <a:custGeom>
              <a:avLst/>
              <a:gdLst/>
              <a:ahLst/>
              <a:cxnLst/>
              <a:rect r="r" b="b" t="t" l="l"/>
              <a:pathLst>
                <a:path h="553612" w="1252303">
                  <a:moveTo>
                    <a:pt x="61872" y="0"/>
                  </a:moveTo>
                  <a:lnTo>
                    <a:pt x="1190431" y="0"/>
                  </a:lnTo>
                  <a:cubicBezTo>
                    <a:pt x="1224602" y="0"/>
                    <a:pt x="1252303" y="27701"/>
                    <a:pt x="1252303" y="61872"/>
                  </a:cubicBezTo>
                  <a:lnTo>
                    <a:pt x="1252303" y="491740"/>
                  </a:lnTo>
                  <a:cubicBezTo>
                    <a:pt x="1252303" y="508149"/>
                    <a:pt x="1245785" y="523887"/>
                    <a:pt x="1234181" y="535490"/>
                  </a:cubicBezTo>
                  <a:cubicBezTo>
                    <a:pt x="1222578" y="547093"/>
                    <a:pt x="1206840" y="553612"/>
                    <a:pt x="1190431" y="553612"/>
                  </a:cubicBezTo>
                  <a:lnTo>
                    <a:pt x="61872" y="553612"/>
                  </a:lnTo>
                  <a:cubicBezTo>
                    <a:pt x="45463" y="553612"/>
                    <a:pt x="29725" y="547093"/>
                    <a:pt x="18122" y="535490"/>
                  </a:cubicBezTo>
                  <a:cubicBezTo>
                    <a:pt x="6519" y="523887"/>
                    <a:pt x="0" y="508149"/>
                    <a:pt x="0" y="491740"/>
                  </a:cubicBezTo>
                  <a:lnTo>
                    <a:pt x="0" y="61872"/>
                  </a:lnTo>
                  <a:cubicBezTo>
                    <a:pt x="0" y="45463"/>
                    <a:pt x="6519" y="29725"/>
                    <a:pt x="18122" y="18122"/>
                  </a:cubicBezTo>
                  <a:cubicBezTo>
                    <a:pt x="29725" y="6519"/>
                    <a:pt x="45463" y="0"/>
                    <a:pt x="61872" y="0"/>
                  </a:cubicBezTo>
                  <a:close/>
                </a:path>
              </a:pathLst>
            </a:custGeom>
            <a:solidFill>
              <a:srgbClr val="E0E1F5"/>
            </a:solidFill>
          </p:spPr>
        </p:sp>
        <p:sp>
          <p:nvSpPr>
            <p:cNvPr name="TextBox 21" id="21"/>
            <p:cNvSpPr txBox="true"/>
            <p:nvPr/>
          </p:nvSpPr>
          <p:spPr>
            <a:xfrm>
              <a:off x="0" y="-57150"/>
              <a:ext cx="1252303" cy="610762"/>
            </a:xfrm>
            <a:prstGeom prst="rect">
              <a:avLst/>
            </a:prstGeom>
          </p:spPr>
          <p:txBody>
            <a:bodyPr anchor="ctr" rtlCol="false" tIns="50800" lIns="50800" bIns="50800" rIns="50800"/>
            <a:lstStyle/>
            <a:p>
              <a:pPr algn="ctr">
                <a:lnSpc>
                  <a:spcPts val="2731"/>
                </a:lnSpc>
              </a:pPr>
            </a:p>
          </p:txBody>
        </p:sp>
      </p:grpSp>
      <p:grpSp>
        <p:nvGrpSpPr>
          <p:cNvPr name="Group 22" id="22"/>
          <p:cNvGrpSpPr/>
          <p:nvPr/>
        </p:nvGrpSpPr>
        <p:grpSpPr>
          <a:xfrm rot="0">
            <a:off x="5802347" y="6684308"/>
            <a:ext cx="4754839" cy="2101996"/>
            <a:chOff x="0" y="0"/>
            <a:chExt cx="1252303" cy="553612"/>
          </a:xfrm>
        </p:grpSpPr>
        <p:sp>
          <p:nvSpPr>
            <p:cNvPr name="Freeform 23" id="23"/>
            <p:cNvSpPr/>
            <p:nvPr/>
          </p:nvSpPr>
          <p:spPr>
            <a:xfrm flipH="false" flipV="false" rot="0">
              <a:off x="0" y="0"/>
              <a:ext cx="1252303" cy="553612"/>
            </a:xfrm>
            <a:custGeom>
              <a:avLst/>
              <a:gdLst/>
              <a:ahLst/>
              <a:cxnLst/>
              <a:rect r="r" b="b" t="t" l="l"/>
              <a:pathLst>
                <a:path h="553612" w="1252303">
                  <a:moveTo>
                    <a:pt x="61872" y="0"/>
                  </a:moveTo>
                  <a:lnTo>
                    <a:pt x="1190431" y="0"/>
                  </a:lnTo>
                  <a:cubicBezTo>
                    <a:pt x="1224602" y="0"/>
                    <a:pt x="1252303" y="27701"/>
                    <a:pt x="1252303" y="61872"/>
                  </a:cubicBezTo>
                  <a:lnTo>
                    <a:pt x="1252303" y="491740"/>
                  </a:lnTo>
                  <a:cubicBezTo>
                    <a:pt x="1252303" y="508149"/>
                    <a:pt x="1245785" y="523887"/>
                    <a:pt x="1234181" y="535490"/>
                  </a:cubicBezTo>
                  <a:cubicBezTo>
                    <a:pt x="1222578" y="547093"/>
                    <a:pt x="1206840" y="553612"/>
                    <a:pt x="1190431" y="553612"/>
                  </a:cubicBezTo>
                  <a:lnTo>
                    <a:pt x="61872" y="553612"/>
                  </a:lnTo>
                  <a:cubicBezTo>
                    <a:pt x="45463" y="553612"/>
                    <a:pt x="29725" y="547093"/>
                    <a:pt x="18122" y="535490"/>
                  </a:cubicBezTo>
                  <a:cubicBezTo>
                    <a:pt x="6519" y="523887"/>
                    <a:pt x="0" y="508149"/>
                    <a:pt x="0" y="491740"/>
                  </a:cubicBezTo>
                  <a:lnTo>
                    <a:pt x="0" y="61872"/>
                  </a:lnTo>
                  <a:cubicBezTo>
                    <a:pt x="0" y="45463"/>
                    <a:pt x="6519" y="29725"/>
                    <a:pt x="18122" y="18122"/>
                  </a:cubicBezTo>
                  <a:cubicBezTo>
                    <a:pt x="29725" y="6519"/>
                    <a:pt x="45463" y="0"/>
                    <a:pt x="61872" y="0"/>
                  </a:cubicBezTo>
                  <a:close/>
                </a:path>
              </a:pathLst>
            </a:custGeom>
            <a:solidFill>
              <a:srgbClr val="E0E1F5"/>
            </a:solidFill>
          </p:spPr>
        </p:sp>
        <p:sp>
          <p:nvSpPr>
            <p:cNvPr name="TextBox 24" id="24"/>
            <p:cNvSpPr txBox="true"/>
            <p:nvPr/>
          </p:nvSpPr>
          <p:spPr>
            <a:xfrm>
              <a:off x="0" y="-57150"/>
              <a:ext cx="1252303" cy="610762"/>
            </a:xfrm>
            <a:prstGeom prst="rect">
              <a:avLst/>
            </a:prstGeom>
          </p:spPr>
          <p:txBody>
            <a:bodyPr anchor="ctr" rtlCol="false" tIns="50800" lIns="50800" bIns="50800" rIns="50800"/>
            <a:lstStyle/>
            <a:p>
              <a:pPr algn="ctr">
                <a:lnSpc>
                  <a:spcPts val="2731"/>
                </a:lnSpc>
              </a:pPr>
            </a:p>
          </p:txBody>
        </p:sp>
      </p:grpSp>
      <p:grpSp>
        <p:nvGrpSpPr>
          <p:cNvPr name="Group 25" id="25"/>
          <p:cNvGrpSpPr/>
          <p:nvPr/>
        </p:nvGrpSpPr>
        <p:grpSpPr>
          <a:xfrm rot="0">
            <a:off x="10738161" y="6712416"/>
            <a:ext cx="7437297" cy="2101996"/>
            <a:chOff x="0" y="0"/>
            <a:chExt cx="1958794" cy="553612"/>
          </a:xfrm>
        </p:grpSpPr>
        <p:sp>
          <p:nvSpPr>
            <p:cNvPr name="Freeform 26" id="26"/>
            <p:cNvSpPr/>
            <p:nvPr/>
          </p:nvSpPr>
          <p:spPr>
            <a:xfrm flipH="false" flipV="false" rot="0">
              <a:off x="0" y="0"/>
              <a:ext cx="1958794" cy="553612"/>
            </a:xfrm>
            <a:custGeom>
              <a:avLst/>
              <a:gdLst/>
              <a:ahLst/>
              <a:cxnLst/>
              <a:rect r="r" b="b" t="t" l="l"/>
              <a:pathLst>
                <a:path h="553612" w="1958794">
                  <a:moveTo>
                    <a:pt x="39556" y="0"/>
                  </a:moveTo>
                  <a:lnTo>
                    <a:pt x="1919238" y="0"/>
                  </a:lnTo>
                  <a:cubicBezTo>
                    <a:pt x="1929729" y="0"/>
                    <a:pt x="1939790" y="4168"/>
                    <a:pt x="1947208" y="11586"/>
                  </a:cubicBezTo>
                  <a:cubicBezTo>
                    <a:pt x="1954627" y="19004"/>
                    <a:pt x="1958794" y="29065"/>
                    <a:pt x="1958794" y="39556"/>
                  </a:cubicBezTo>
                  <a:lnTo>
                    <a:pt x="1958794" y="514056"/>
                  </a:lnTo>
                  <a:cubicBezTo>
                    <a:pt x="1958794" y="524547"/>
                    <a:pt x="1954627" y="534608"/>
                    <a:pt x="1947208" y="542026"/>
                  </a:cubicBezTo>
                  <a:cubicBezTo>
                    <a:pt x="1939790" y="549445"/>
                    <a:pt x="1929729" y="553612"/>
                    <a:pt x="1919238" y="553612"/>
                  </a:cubicBezTo>
                  <a:lnTo>
                    <a:pt x="39556" y="553612"/>
                  </a:lnTo>
                  <a:cubicBezTo>
                    <a:pt x="17710" y="553612"/>
                    <a:pt x="0" y="535902"/>
                    <a:pt x="0" y="514056"/>
                  </a:cubicBezTo>
                  <a:lnTo>
                    <a:pt x="0" y="39556"/>
                  </a:lnTo>
                  <a:cubicBezTo>
                    <a:pt x="0" y="29065"/>
                    <a:pt x="4168" y="19004"/>
                    <a:pt x="11586" y="11586"/>
                  </a:cubicBezTo>
                  <a:cubicBezTo>
                    <a:pt x="19004" y="4168"/>
                    <a:pt x="29065" y="0"/>
                    <a:pt x="39556" y="0"/>
                  </a:cubicBezTo>
                  <a:close/>
                </a:path>
              </a:pathLst>
            </a:custGeom>
            <a:solidFill>
              <a:srgbClr val="E0E1F5"/>
            </a:solidFill>
          </p:spPr>
        </p:sp>
        <p:sp>
          <p:nvSpPr>
            <p:cNvPr name="TextBox 27" id="27"/>
            <p:cNvSpPr txBox="true"/>
            <p:nvPr/>
          </p:nvSpPr>
          <p:spPr>
            <a:xfrm>
              <a:off x="0" y="-57150"/>
              <a:ext cx="1958794" cy="610762"/>
            </a:xfrm>
            <a:prstGeom prst="rect">
              <a:avLst/>
            </a:prstGeom>
          </p:spPr>
          <p:txBody>
            <a:bodyPr anchor="ctr" rtlCol="false" tIns="50800" lIns="50800" bIns="50800" rIns="50800"/>
            <a:lstStyle/>
            <a:p>
              <a:pPr algn="ctr">
                <a:lnSpc>
                  <a:spcPts val="2731"/>
                </a:lnSpc>
              </a:pPr>
            </a:p>
          </p:txBody>
        </p:sp>
      </p:grpSp>
      <p:sp>
        <p:nvSpPr>
          <p:cNvPr name="TextBox 28" id="28"/>
          <p:cNvSpPr txBox="true"/>
          <p:nvPr/>
        </p:nvSpPr>
        <p:spPr>
          <a:xfrm rot="0">
            <a:off x="1379607" y="1236731"/>
            <a:ext cx="11526785" cy="2063033"/>
          </a:xfrm>
          <a:prstGeom prst="rect">
            <a:avLst/>
          </a:prstGeom>
        </p:spPr>
        <p:txBody>
          <a:bodyPr anchor="t" rtlCol="false" tIns="0" lIns="0" bIns="0" rIns="0">
            <a:spAutoFit/>
          </a:bodyPr>
          <a:lstStyle/>
          <a:p>
            <a:pPr algn="l">
              <a:lnSpc>
                <a:spcPts val="15967"/>
              </a:lnSpc>
            </a:pPr>
            <a:r>
              <a:rPr lang="en-US" sz="11405" b="true">
                <a:solidFill>
                  <a:srgbClr val="FFFFFF"/>
                </a:solidFill>
                <a:latin typeface="Poppins Bold"/>
                <a:ea typeface="Poppins Bold"/>
                <a:cs typeface="Poppins Bold"/>
                <a:sym typeface="Poppins Bold"/>
              </a:rPr>
              <a:t>JSON Protocol</a:t>
            </a:r>
          </a:p>
        </p:txBody>
      </p:sp>
      <p:sp>
        <p:nvSpPr>
          <p:cNvPr name="TextBox 29" id="29"/>
          <p:cNvSpPr txBox="true"/>
          <p:nvPr/>
        </p:nvSpPr>
        <p:spPr>
          <a:xfrm rot="0">
            <a:off x="1522845" y="4979371"/>
            <a:ext cx="11111804" cy="1164643"/>
          </a:xfrm>
          <a:prstGeom prst="rect">
            <a:avLst/>
          </a:prstGeom>
        </p:spPr>
        <p:txBody>
          <a:bodyPr anchor="t" rtlCol="false" tIns="0" lIns="0" bIns="0" rIns="0">
            <a:spAutoFit/>
          </a:bodyPr>
          <a:lstStyle/>
          <a:p>
            <a:pPr algn="just">
              <a:lnSpc>
                <a:spcPts val="4575"/>
              </a:lnSpc>
            </a:pPr>
            <a:r>
              <a:rPr lang="en-US" b="true" sz="3268">
                <a:solidFill>
                  <a:srgbClr val="081269"/>
                </a:solidFill>
                <a:latin typeface="Poppins Bold"/>
                <a:ea typeface="Poppins Bold"/>
                <a:cs typeface="Poppins Bold"/>
                <a:sym typeface="Poppins Bold"/>
              </a:rPr>
              <a:t>Giao thức truyền tải</a:t>
            </a:r>
            <a:r>
              <a:rPr lang="en-US" sz="3268">
                <a:solidFill>
                  <a:srgbClr val="081269"/>
                </a:solidFill>
                <a:latin typeface="Poppins"/>
                <a:ea typeface="Poppins"/>
                <a:cs typeface="Poppins"/>
                <a:sym typeface="Poppins"/>
              </a:rPr>
              <a:t>: Sử dụng </a:t>
            </a:r>
            <a:r>
              <a:rPr lang="en-US" b="true" sz="3268">
                <a:solidFill>
                  <a:srgbClr val="081269"/>
                </a:solidFill>
                <a:latin typeface="Poppins Bold"/>
                <a:ea typeface="Poppins Bold"/>
                <a:cs typeface="Poppins Bold"/>
                <a:sym typeface="Poppins Bold"/>
              </a:rPr>
              <a:t>TCP</a:t>
            </a:r>
            <a:r>
              <a:rPr lang="en-US" sz="3268">
                <a:solidFill>
                  <a:srgbClr val="081269"/>
                </a:solidFill>
                <a:latin typeface="Poppins"/>
                <a:ea typeface="Poppins"/>
                <a:cs typeface="Poppins"/>
                <a:sym typeface="Poppins"/>
              </a:rPr>
              <a:t> để giao tiếp giữa Client và Server.</a:t>
            </a:r>
          </a:p>
        </p:txBody>
      </p:sp>
      <p:sp>
        <p:nvSpPr>
          <p:cNvPr name="TextBox 30" id="30"/>
          <p:cNvSpPr txBox="true"/>
          <p:nvPr/>
        </p:nvSpPr>
        <p:spPr>
          <a:xfrm rot="0">
            <a:off x="11414406" y="3032780"/>
            <a:ext cx="4204247" cy="725296"/>
          </a:xfrm>
          <a:prstGeom prst="rect">
            <a:avLst/>
          </a:prstGeom>
        </p:spPr>
        <p:txBody>
          <a:bodyPr anchor="t" rtlCol="false" tIns="0" lIns="0" bIns="0" rIns="0">
            <a:spAutoFit/>
          </a:bodyPr>
          <a:lstStyle/>
          <a:p>
            <a:pPr algn="l">
              <a:lnSpc>
                <a:spcPts val="5698"/>
              </a:lnSpc>
            </a:pPr>
            <a:r>
              <a:rPr lang="en-US" sz="4070">
                <a:solidFill>
                  <a:srgbClr val="E0E1F5"/>
                </a:solidFill>
                <a:latin typeface="Poppins"/>
                <a:ea typeface="Poppins"/>
                <a:cs typeface="Poppins"/>
                <a:sym typeface="Poppins"/>
              </a:rPr>
              <a:t>Message Model</a:t>
            </a:r>
          </a:p>
        </p:txBody>
      </p:sp>
      <p:sp>
        <p:nvSpPr>
          <p:cNvPr name="TextBox 31" id="31"/>
          <p:cNvSpPr txBox="true"/>
          <p:nvPr/>
        </p:nvSpPr>
        <p:spPr>
          <a:xfrm rot="0">
            <a:off x="1522845" y="6887896"/>
            <a:ext cx="3676826" cy="458120"/>
          </a:xfrm>
          <a:prstGeom prst="rect">
            <a:avLst/>
          </a:prstGeom>
        </p:spPr>
        <p:txBody>
          <a:bodyPr anchor="t" rtlCol="false" tIns="0" lIns="0" bIns="0" rIns="0">
            <a:spAutoFit/>
          </a:bodyPr>
          <a:lstStyle/>
          <a:p>
            <a:pPr algn="l">
              <a:lnSpc>
                <a:spcPts val="3624"/>
              </a:lnSpc>
            </a:pPr>
            <a:r>
              <a:rPr lang="en-US" sz="2588" b="true">
                <a:solidFill>
                  <a:srgbClr val="081269"/>
                </a:solidFill>
                <a:latin typeface="Poppins Bold"/>
                <a:ea typeface="Poppins Bold"/>
                <a:cs typeface="Poppins Bold"/>
                <a:sym typeface="Poppins Bold"/>
              </a:rPr>
              <a:t>Định dạng dữ liệu:</a:t>
            </a:r>
          </a:p>
        </p:txBody>
      </p:sp>
      <p:sp>
        <p:nvSpPr>
          <p:cNvPr name="TextBox 32" id="32"/>
          <p:cNvSpPr txBox="true"/>
          <p:nvPr/>
        </p:nvSpPr>
        <p:spPr>
          <a:xfrm rot="0">
            <a:off x="1522845" y="7522686"/>
            <a:ext cx="3676826" cy="954677"/>
          </a:xfrm>
          <a:prstGeom prst="rect">
            <a:avLst/>
          </a:prstGeom>
        </p:spPr>
        <p:txBody>
          <a:bodyPr anchor="t" rtlCol="false" tIns="0" lIns="0" bIns="0" rIns="0">
            <a:spAutoFit/>
          </a:bodyPr>
          <a:lstStyle/>
          <a:p>
            <a:pPr algn="just">
              <a:lnSpc>
                <a:spcPts val="2504"/>
              </a:lnSpc>
            </a:pPr>
            <a:r>
              <a:rPr lang="en-US" sz="1789">
                <a:solidFill>
                  <a:srgbClr val="081269"/>
                </a:solidFill>
                <a:latin typeface="Poppins"/>
                <a:ea typeface="Poppins"/>
                <a:cs typeface="Poppins"/>
                <a:sym typeface="Poppins"/>
              </a:rPr>
              <a:t>Toàn bộ dữ liệu được đóng gói bằng JSON giúp cấu trúc rõ ràng, dễ xử lý và dễ mở rộng.</a:t>
            </a:r>
          </a:p>
        </p:txBody>
      </p:sp>
      <p:sp>
        <p:nvSpPr>
          <p:cNvPr name="TextBox 33" id="33"/>
          <p:cNvSpPr txBox="true"/>
          <p:nvPr/>
        </p:nvSpPr>
        <p:spPr>
          <a:xfrm rot="0">
            <a:off x="6295778" y="6887896"/>
            <a:ext cx="3676826" cy="458120"/>
          </a:xfrm>
          <a:prstGeom prst="rect">
            <a:avLst/>
          </a:prstGeom>
        </p:spPr>
        <p:txBody>
          <a:bodyPr anchor="t" rtlCol="false" tIns="0" lIns="0" bIns="0" rIns="0">
            <a:spAutoFit/>
          </a:bodyPr>
          <a:lstStyle/>
          <a:p>
            <a:pPr algn="l">
              <a:lnSpc>
                <a:spcPts val="3624"/>
              </a:lnSpc>
            </a:pPr>
            <a:r>
              <a:rPr lang="en-US" sz="2588" b="true">
                <a:solidFill>
                  <a:srgbClr val="081269"/>
                </a:solidFill>
                <a:latin typeface="Poppins Bold"/>
                <a:ea typeface="Poppins Bold"/>
                <a:cs typeface="Poppins Bold"/>
                <a:sym typeface="Poppins Bold"/>
              </a:rPr>
              <a:t>Thành phần cốt lõi:</a:t>
            </a:r>
          </a:p>
        </p:txBody>
      </p:sp>
      <p:sp>
        <p:nvSpPr>
          <p:cNvPr name="TextBox 34" id="34"/>
          <p:cNvSpPr txBox="true"/>
          <p:nvPr/>
        </p:nvSpPr>
        <p:spPr>
          <a:xfrm rot="0">
            <a:off x="6295778" y="7522686"/>
            <a:ext cx="3767977" cy="2526302"/>
          </a:xfrm>
          <a:prstGeom prst="rect">
            <a:avLst/>
          </a:prstGeom>
        </p:spPr>
        <p:txBody>
          <a:bodyPr anchor="t" rtlCol="false" tIns="0" lIns="0" bIns="0" rIns="0">
            <a:spAutoFit/>
          </a:bodyPr>
          <a:lstStyle/>
          <a:p>
            <a:pPr algn="just">
              <a:lnSpc>
                <a:spcPts val="2504"/>
              </a:lnSpc>
            </a:pPr>
            <a:r>
              <a:rPr lang="en-US" sz="1789">
                <a:solidFill>
                  <a:srgbClr val="081269"/>
                </a:solidFill>
                <a:latin typeface="Poppins"/>
                <a:ea typeface="Poppins"/>
                <a:cs typeface="Poppins"/>
                <a:sym typeface="Poppins"/>
              </a:rPr>
              <a:t>sử dụng chung một lớp Message cho cả Client và Server để đại diện cho thông điệp.</a:t>
            </a:r>
          </a:p>
          <a:p>
            <a:pPr algn="just">
              <a:lnSpc>
                <a:spcPts val="2504"/>
              </a:lnSpc>
            </a:pPr>
          </a:p>
          <a:p>
            <a:pPr algn="just">
              <a:lnSpc>
                <a:spcPts val="2504"/>
              </a:lnSpc>
            </a:pPr>
          </a:p>
          <a:p>
            <a:pPr algn="just">
              <a:lnSpc>
                <a:spcPts val="2504"/>
              </a:lnSpc>
            </a:pPr>
          </a:p>
          <a:p>
            <a:pPr algn="just">
              <a:lnSpc>
                <a:spcPts val="2504"/>
              </a:lnSpc>
            </a:pPr>
          </a:p>
          <a:p>
            <a:pPr algn="just">
              <a:lnSpc>
                <a:spcPts val="2504"/>
              </a:lnSpc>
            </a:pPr>
          </a:p>
        </p:txBody>
      </p:sp>
      <p:sp>
        <p:nvSpPr>
          <p:cNvPr name="TextBox 35" id="35"/>
          <p:cNvSpPr txBox="true"/>
          <p:nvPr/>
        </p:nvSpPr>
        <p:spPr>
          <a:xfrm rot="0">
            <a:off x="11067979" y="6908927"/>
            <a:ext cx="3676826" cy="458120"/>
          </a:xfrm>
          <a:prstGeom prst="rect">
            <a:avLst/>
          </a:prstGeom>
        </p:spPr>
        <p:txBody>
          <a:bodyPr anchor="t" rtlCol="false" tIns="0" lIns="0" bIns="0" rIns="0">
            <a:spAutoFit/>
          </a:bodyPr>
          <a:lstStyle/>
          <a:p>
            <a:pPr algn="l">
              <a:lnSpc>
                <a:spcPts val="3624"/>
              </a:lnSpc>
            </a:pPr>
            <a:r>
              <a:rPr lang="en-US" sz="2588" b="true">
                <a:solidFill>
                  <a:srgbClr val="081269"/>
                </a:solidFill>
                <a:latin typeface="Poppins Bold"/>
                <a:ea typeface="Poppins Bold"/>
                <a:cs typeface="Poppins Bold"/>
                <a:sym typeface="Poppins Bold"/>
              </a:rPr>
              <a:t>Cơ chế Gửi / Nhận:</a:t>
            </a:r>
          </a:p>
        </p:txBody>
      </p:sp>
      <p:sp>
        <p:nvSpPr>
          <p:cNvPr name="TextBox 36" id="36"/>
          <p:cNvSpPr txBox="true"/>
          <p:nvPr/>
        </p:nvSpPr>
        <p:spPr>
          <a:xfrm rot="0">
            <a:off x="11067979" y="7543717"/>
            <a:ext cx="6422514" cy="326027"/>
          </a:xfrm>
          <a:prstGeom prst="rect">
            <a:avLst/>
          </a:prstGeom>
        </p:spPr>
        <p:txBody>
          <a:bodyPr anchor="t" rtlCol="false" tIns="0" lIns="0" bIns="0" rIns="0">
            <a:spAutoFit/>
          </a:bodyPr>
          <a:lstStyle/>
          <a:p>
            <a:pPr algn="just">
              <a:lnSpc>
                <a:spcPts val="2504"/>
              </a:lnSpc>
            </a:pPr>
            <a:r>
              <a:rPr lang="en-US" b="true" sz="1789">
                <a:solidFill>
                  <a:srgbClr val="081269"/>
                </a:solidFill>
                <a:latin typeface="Poppins Bold"/>
                <a:ea typeface="Poppins Bold"/>
                <a:cs typeface="Poppins Bold"/>
                <a:sym typeface="Poppins Bold"/>
              </a:rPr>
              <a:t>Khi gử</a:t>
            </a:r>
            <a:r>
              <a:rPr lang="en-US" sz="1789">
                <a:solidFill>
                  <a:srgbClr val="081269"/>
                </a:solidFill>
                <a:latin typeface="Poppins"/>
                <a:ea typeface="Poppins"/>
                <a:cs typeface="Poppins"/>
                <a:sym typeface="Poppins"/>
              </a:rPr>
              <a:t>i: Đối tượng </a:t>
            </a:r>
            <a:r>
              <a:rPr lang="en-US" b="true" sz="1789">
                <a:solidFill>
                  <a:srgbClr val="081269"/>
                </a:solidFill>
                <a:latin typeface="Poppins Bold"/>
                <a:ea typeface="Poppins Bold"/>
                <a:cs typeface="Poppins Bold"/>
                <a:sym typeface="Poppins Bold"/>
              </a:rPr>
              <a:t>Message</a:t>
            </a:r>
            <a:r>
              <a:rPr lang="en-US" sz="1789">
                <a:solidFill>
                  <a:srgbClr val="081269"/>
                </a:solidFill>
                <a:latin typeface="Poppins"/>
                <a:ea typeface="Poppins"/>
                <a:cs typeface="Poppins"/>
                <a:sym typeface="Poppins"/>
              </a:rPr>
              <a:t> -&gt; </a:t>
            </a:r>
            <a:r>
              <a:rPr lang="en-US" b="true" sz="1789">
                <a:solidFill>
                  <a:srgbClr val="081269"/>
                </a:solidFill>
                <a:latin typeface="Poppins Bold"/>
                <a:ea typeface="Poppins Bold"/>
                <a:cs typeface="Poppins Bold"/>
                <a:sym typeface="Poppins Bold"/>
              </a:rPr>
              <a:t>ToJson(</a:t>
            </a:r>
            <a:r>
              <a:rPr lang="en-US" sz="1789">
                <a:solidFill>
                  <a:srgbClr val="081269"/>
                </a:solidFill>
                <a:latin typeface="Poppins"/>
                <a:ea typeface="Poppins"/>
                <a:cs typeface="Poppins"/>
                <a:sym typeface="Poppins"/>
              </a:rPr>
              <a:t>) -&gt; Chuỗi </a:t>
            </a:r>
            <a:r>
              <a:rPr lang="en-US" b="true" sz="1789">
                <a:solidFill>
                  <a:srgbClr val="081269"/>
                </a:solidFill>
                <a:latin typeface="Poppins Bold"/>
                <a:ea typeface="Poppins Bold"/>
                <a:cs typeface="Poppins Bold"/>
                <a:sym typeface="Poppins Bold"/>
              </a:rPr>
              <a:t>JSON</a:t>
            </a:r>
            <a:r>
              <a:rPr lang="en-US" sz="1789">
                <a:solidFill>
                  <a:srgbClr val="081269"/>
                </a:solidFill>
                <a:latin typeface="Poppins"/>
                <a:ea typeface="Poppins"/>
                <a:cs typeface="Poppins"/>
                <a:sym typeface="Poppins"/>
              </a:rPr>
              <a:t>. </a:t>
            </a:r>
          </a:p>
        </p:txBody>
      </p:sp>
      <p:sp>
        <p:nvSpPr>
          <p:cNvPr name="TextBox 37" id="37"/>
          <p:cNvSpPr txBox="true"/>
          <p:nvPr/>
        </p:nvSpPr>
        <p:spPr>
          <a:xfrm rot="0">
            <a:off x="350358" y="774657"/>
            <a:ext cx="3322500" cy="47491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38" id="38"/>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solidFill>
                <a:latin typeface="Poppins Bold"/>
                <a:ea typeface="Poppins Bold"/>
                <a:cs typeface="Poppins Bold"/>
                <a:sym typeface="Poppins Bold"/>
              </a:rPr>
              <a:t>GIAO THỨC ỨNG DỤNG</a:t>
            </a:r>
          </a:p>
        </p:txBody>
      </p:sp>
      <p:sp>
        <p:nvSpPr>
          <p:cNvPr name="TextBox 39" id="39"/>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40" id="40"/>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41" id="41"/>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HIỆN THỨC HÓA HỆ THÔNG</a:t>
            </a:r>
          </a:p>
        </p:txBody>
      </p:sp>
      <p:sp>
        <p:nvSpPr>
          <p:cNvPr name="TextBox 42" id="42"/>
          <p:cNvSpPr txBox="true"/>
          <p:nvPr/>
        </p:nvSpPr>
        <p:spPr>
          <a:xfrm rot="0">
            <a:off x="11067979" y="7971449"/>
            <a:ext cx="6894490" cy="326027"/>
          </a:xfrm>
          <a:prstGeom prst="rect">
            <a:avLst/>
          </a:prstGeom>
        </p:spPr>
        <p:txBody>
          <a:bodyPr anchor="t" rtlCol="false" tIns="0" lIns="0" bIns="0" rIns="0">
            <a:spAutoFit/>
          </a:bodyPr>
          <a:lstStyle/>
          <a:p>
            <a:pPr algn="just">
              <a:lnSpc>
                <a:spcPts val="2504"/>
              </a:lnSpc>
            </a:pPr>
            <a:r>
              <a:rPr lang="en-US" b="true" sz="1789">
                <a:solidFill>
                  <a:srgbClr val="081269"/>
                </a:solidFill>
                <a:latin typeface="Poppins Bold"/>
                <a:ea typeface="Poppins Bold"/>
                <a:cs typeface="Poppins Bold"/>
                <a:sym typeface="Poppins Bold"/>
              </a:rPr>
              <a:t>Khi nhận</a:t>
            </a:r>
            <a:r>
              <a:rPr lang="en-US" sz="1789">
                <a:solidFill>
                  <a:srgbClr val="081269"/>
                </a:solidFill>
                <a:latin typeface="Poppins"/>
                <a:ea typeface="Poppins"/>
                <a:cs typeface="Poppins"/>
                <a:sym typeface="Poppins"/>
              </a:rPr>
              <a:t>: Chuỗi </a:t>
            </a:r>
            <a:r>
              <a:rPr lang="en-US" b="true" sz="1789">
                <a:solidFill>
                  <a:srgbClr val="081269"/>
                </a:solidFill>
                <a:latin typeface="Poppins Bold"/>
                <a:ea typeface="Poppins Bold"/>
                <a:cs typeface="Poppins Bold"/>
                <a:sym typeface="Poppins Bold"/>
              </a:rPr>
              <a:t>JSON</a:t>
            </a:r>
            <a:r>
              <a:rPr lang="en-US" sz="1789">
                <a:solidFill>
                  <a:srgbClr val="081269"/>
                </a:solidFill>
                <a:latin typeface="Poppins"/>
                <a:ea typeface="Poppins"/>
                <a:cs typeface="Poppins"/>
                <a:sym typeface="Poppins"/>
              </a:rPr>
              <a:t> -&gt; </a:t>
            </a:r>
            <a:r>
              <a:rPr lang="en-US" b="true" sz="1789">
                <a:solidFill>
                  <a:srgbClr val="081269"/>
                </a:solidFill>
                <a:latin typeface="Poppins Bold"/>
                <a:ea typeface="Poppins Bold"/>
                <a:cs typeface="Poppins Bold"/>
                <a:sym typeface="Poppins Bold"/>
              </a:rPr>
              <a:t>FromJson()</a:t>
            </a:r>
            <a:r>
              <a:rPr lang="en-US" sz="1789">
                <a:solidFill>
                  <a:srgbClr val="081269"/>
                </a:solidFill>
                <a:latin typeface="Poppins"/>
                <a:ea typeface="Poppins"/>
                <a:cs typeface="Poppins"/>
                <a:sym typeface="Poppins"/>
              </a:rPr>
              <a:t> -&gt; Đối tượng </a:t>
            </a:r>
            <a:r>
              <a:rPr lang="en-US" b="true" sz="1789">
                <a:solidFill>
                  <a:srgbClr val="081269"/>
                </a:solidFill>
                <a:latin typeface="Poppins Bold"/>
                <a:ea typeface="Poppins Bold"/>
                <a:cs typeface="Poppins Bold"/>
                <a:sym typeface="Poppins Bold"/>
              </a:rPr>
              <a:t>Message</a:t>
            </a:r>
            <a:r>
              <a:rPr lang="en-US" sz="1789">
                <a:solidFill>
                  <a:srgbClr val="081269"/>
                </a:solidFill>
                <a:latin typeface="Poppins"/>
                <a:ea typeface="Poppins"/>
                <a:cs typeface="Poppins"/>
                <a:sym typeface="Poppins"/>
              </a:rPr>
              <a: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sp>
        <p:nvSpPr>
          <p:cNvPr name="Freeform 2" id="2"/>
          <p:cNvSpPr/>
          <p:nvPr/>
        </p:nvSpPr>
        <p:spPr>
          <a:xfrm flipH="false" flipV="false" rot="0">
            <a:off x="7410655" y="-2562176"/>
            <a:ext cx="15411352" cy="15411352"/>
          </a:xfrm>
          <a:custGeom>
            <a:avLst/>
            <a:gdLst/>
            <a:ahLst/>
            <a:cxnLst/>
            <a:rect r="r" b="b" t="t" l="l"/>
            <a:pathLst>
              <a:path h="15411352" w="15411352">
                <a:moveTo>
                  <a:pt x="0" y="0"/>
                </a:moveTo>
                <a:lnTo>
                  <a:pt x="15411351" y="0"/>
                </a:lnTo>
                <a:lnTo>
                  <a:pt x="15411351" y="15411352"/>
                </a:lnTo>
                <a:lnTo>
                  <a:pt x="0" y="15411352"/>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114119" y="4699612"/>
            <a:ext cx="3246750" cy="4114800"/>
          </a:xfrm>
          <a:custGeom>
            <a:avLst/>
            <a:gdLst/>
            <a:ahLst/>
            <a:cxnLst/>
            <a:rect r="r" b="b" t="t" l="l"/>
            <a:pathLst>
              <a:path h="4114800" w="3246750">
                <a:moveTo>
                  <a:pt x="0" y="0"/>
                </a:moveTo>
                <a:lnTo>
                  <a:pt x="3246750" y="0"/>
                </a:lnTo>
                <a:lnTo>
                  <a:pt x="324675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153041" y="-5621027"/>
            <a:ext cx="10764527" cy="1076452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2846538" y="-5621027"/>
            <a:ext cx="9531646" cy="953164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6756368" y="8814412"/>
            <a:ext cx="1005863" cy="1005863"/>
          </a:xfrm>
          <a:custGeom>
            <a:avLst/>
            <a:gdLst/>
            <a:ahLst/>
            <a:cxnLst/>
            <a:rect r="r" b="b" t="t" l="l"/>
            <a:pathLst>
              <a:path h="1005863" w="1005863">
                <a:moveTo>
                  <a:pt x="0" y="0"/>
                </a:moveTo>
                <a:lnTo>
                  <a:pt x="1005864" y="0"/>
                </a:lnTo>
                <a:lnTo>
                  <a:pt x="1005864" y="1005863"/>
                </a:lnTo>
                <a:lnTo>
                  <a:pt x="0" y="10058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1255065" y="5604052"/>
            <a:ext cx="10399065" cy="1039906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C7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440834" y="679099"/>
            <a:ext cx="4385302" cy="775403"/>
            <a:chOff x="0" y="0"/>
            <a:chExt cx="1200079" cy="212196"/>
          </a:xfrm>
        </p:grpSpPr>
        <p:sp>
          <p:nvSpPr>
            <p:cNvPr name="Freeform 15" id="15"/>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16" id="16"/>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aphicFrame>
        <p:nvGraphicFramePr>
          <p:cNvPr name="Object 17" id="17"/>
          <p:cNvGraphicFramePr/>
          <p:nvPr/>
        </p:nvGraphicFramePr>
        <p:xfrm>
          <a:off x="2346701" y="4101119"/>
          <a:ext cx="8472488" cy="5657850"/>
        </p:xfrm>
        <a:graphic>
          <a:graphicData uri="http://schemas.openxmlformats.org/presentationml/2006/ole">
            <p:oleObj imgW="10160000" imgH="73533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18" id="18"/>
          <p:cNvSpPr txBox="true"/>
          <p:nvPr/>
        </p:nvSpPr>
        <p:spPr>
          <a:xfrm rot="0">
            <a:off x="1379607" y="1236731"/>
            <a:ext cx="12034629" cy="2063033"/>
          </a:xfrm>
          <a:prstGeom prst="rect">
            <a:avLst/>
          </a:prstGeom>
        </p:spPr>
        <p:txBody>
          <a:bodyPr anchor="t" rtlCol="false" tIns="0" lIns="0" bIns="0" rIns="0">
            <a:spAutoFit/>
          </a:bodyPr>
          <a:lstStyle/>
          <a:p>
            <a:pPr algn="l">
              <a:lnSpc>
                <a:spcPts val="15967"/>
              </a:lnSpc>
            </a:pPr>
            <a:r>
              <a:rPr lang="en-US" sz="11405" b="true">
                <a:solidFill>
                  <a:srgbClr val="FFFFFF"/>
                </a:solidFill>
                <a:latin typeface="Poppins Bold"/>
                <a:ea typeface="Poppins Bold"/>
                <a:cs typeface="Poppins Bold"/>
                <a:sym typeface="Poppins Bold"/>
              </a:rPr>
              <a:t>Message Model</a:t>
            </a:r>
          </a:p>
        </p:txBody>
      </p:sp>
      <p:sp>
        <p:nvSpPr>
          <p:cNvPr name="TextBox 19" id="19"/>
          <p:cNvSpPr txBox="true"/>
          <p:nvPr/>
        </p:nvSpPr>
        <p:spPr>
          <a:xfrm rot="0">
            <a:off x="11414406" y="3032780"/>
            <a:ext cx="4204247" cy="725296"/>
          </a:xfrm>
          <a:prstGeom prst="rect">
            <a:avLst/>
          </a:prstGeom>
        </p:spPr>
        <p:txBody>
          <a:bodyPr anchor="t" rtlCol="false" tIns="0" lIns="0" bIns="0" rIns="0">
            <a:spAutoFit/>
          </a:bodyPr>
          <a:lstStyle/>
          <a:p>
            <a:pPr algn="l">
              <a:lnSpc>
                <a:spcPts val="5698"/>
              </a:lnSpc>
            </a:pPr>
            <a:r>
              <a:rPr lang="en-US" sz="4070">
                <a:solidFill>
                  <a:srgbClr val="E0E1F5"/>
                </a:solidFill>
                <a:latin typeface="Poppins"/>
                <a:ea typeface="Poppins"/>
                <a:cs typeface="Poppins"/>
                <a:sym typeface="Poppins"/>
              </a:rPr>
              <a:t>JSON</a:t>
            </a:r>
            <a:r>
              <a:rPr lang="en-US" sz="4070">
                <a:solidFill>
                  <a:srgbClr val="E0E1F5"/>
                </a:solidFill>
                <a:latin typeface="Poppins"/>
                <a:ea typeface="Poppins"/>
                <a:cs typeface="Poppins"/>
                <a:sym typeface="Poppins"/>
              </a:rPr>
              <a:t> Protocol</a:t>
            </a:r>
          </a:p>
        </p:txBody>
      </p:sp>
      <p:sp>
        <p:nvSpPr>
          <p:cNvPr name="TextBox 20" id="20"/>
          <p:cNvSpPr txBox="true"/>
          <p:nvPr/>
        </p:nvSpPr>
        <p:spPr>
          <a:xfrm rot="0">
            <a:off x="350358" y="774657"/>
            <a:ext cx="3322500" cy="47491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21" id="21"/>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solidFill>
                <a:latin typeface="Poppins Bold"/>
                <a:ea typeface="Poppins Bold"/>
                <a:cs typeface="Poppins Bold"/>
                <a:sym typeface="Poppins Bold"/>
              </a:rPr>
              <a:t>GIAO THỨC ỨNG DỤNG</a:t>
            </a:r>
          </a:p>
        </p:txBody>
      </p:sp>
      <p:sp>
        <p:nvSpPr>
          <p:cNvPr name="TextBox 22" id="22"/>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23" id="23"/>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24" id="24"/>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HIỆN THỨC HÓA HỆ THÔNG</a:t>
            </a:r>
          </a:p>
        </p:txBody>
      </p:sp>
      <p:sp>
        <p:nvSpPr>
          <p:cNvPr name="TextBox 25" id="25"/>
          <p:cNvSpPr txBox="true"/>
          <p:nvPr/>
        </p:nvSpPr>
        <p:spPr>
          <a:xfrm rot="0">
            <a:off x="1496801" y="3495678"/>
            <a:ext cx="7114539" cy="915320"/>
          </a:xfrm>
          <a:prstGeom prst="rect">
            <a:avLst/>
          </a:prstGeom>
        </p:spPr>
        <p:txBody>
          <a:bodyPr anchor="t" rtlCol="false" tIns="0" lIns="0" bIns="0" rIns="0">
            <a:spAutoFit/>
          </a:bodyPr>
          <a:lstStyle/>
          <a:p>
            <a:pPr algn="l">
              <a:lnSpc>
                <a:spcPts val="3624"/>
              </a:lnSpc>
            </a:pPr>
            <a:r>
              <a:rPr lang="en-US" sz="2588" b="true">
                <a:solidFill>
                  <a:srgbClr val="FFFFFF"/>
                </a:solidFill>
                <a:latin typeface="Poppins Bold"/>
                <a:ea typeface="Poppins Bold"/>
                <a:cs typeface="Poppins Bold"/>
                <a:sym typeface="Poppins Bold"/>
              </a:rPr>
              <a:t>Cấu trúc Message</a:t>
            </a:r>
          </a:p>
          <a:p>
            <a:pPr algn="l">
              <a:lnSpc>
                <a:spcPts val="3624"/>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sp>
        <p:nvSpPr>
          <p:cNvPr name="Freeform 2" id="2"/>
          <p:cNvSpPr/>
          <p:nvPr/>
        </p:nvSpPr>
        <p:spPr>
          <a:xfrm flipH="false" flipV="false" rot="0">
            <a:off x="7410655" y="-2562176"/>
            <a:ext cx="15411352" cy="15411352"/>
          </a:xfrm>
          <a:custGeom>
            <a:avLst/>
            <a:gdLst/>
            <a:ahLst/>
            <a:cxnLst/>
            <a:rect r="r" b="b" t="t" l="l"/>
            <a:pathLst>
              <a:path h="15411352" w="15411352">
                <a:moveTo>
                  <a:pt x="0" y="0"/>
                </a:moveTo>
                <a:lnTo>
                  <a:pt x="15411351" y="0"/>
                </a:lnTo>
                <a:lnTo>
                  <a:pt x="15411351" y="15411352"/>
                </a:lnTo>
                <a:lnTo>
                  <a:pt x="0" y="15411352"/>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53041" y="-5621027"/>
            <a:ext cx="10764527" cy="1076452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846538" y="-5621027"/>
            <a:ext cx="9531646" cy="95316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6756368" y="8814412"/>
            <a:ext cx="1005863" cy="1005863"/>
          </a:xfrm>
          <a:custGeom>
            <a:avLst/>
            <a:gdLst/>
            <a:ahLst/>
            <a:cxnLst/>
            <a:rect r="r" b="b" t="t" l="l"/>
            <a:pathLst>
              <a:path h="1005863" w="1005863">
                <a:moveTo>
                  <a:pt x="0" y="0"/>
                </a:moveTo>
                <a:lnTo>
                  <a:pt x="1005864" y="0"/>
                </a:lnTo>
                <a:lnTo>
                  <a:pt x="1005864"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255065" y="5604052"/>
            <a:ext cx="10399065" cy="1039906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C7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440834" y="679099"/>
            <a:ext cx="4385302" cy="775403"/>
            <a:chOff x="0" y="0"/>
            <a:chExt cx="1200079" cy="212196"/>
          </a:xfrm>
        </p:grpSpPr>
        <p:sp>
          <p:nvSpPr>
            <p:cNvPr name="Freeform 14" id="14"/>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15" id="15"/>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aphicFrame>
        <p:nvGraphicFramePr>
          <p:cNvPr name="Object 16" id="16"/>
          <p:cNvGraphicFramePr/>
          <p:nvPr/>
        </p:nvGraphicFramePr>
        <p:xfrm>
          <a:off x="2705632" y="4410998"/>
          <a:ext cx="8472488" cy="3771900"/>
        </p:xfrm>
        <a:graphic>
          <a:graphicData uri="http://schemas.openxmlformats.org/presentationml/2006/ole">
            <p:oleObj imgW="10160000" imgH="54610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17" id="17"/>
          <p:cNvSpPr txBox="true"/>
          <p:nvPr/>
        </p:nvSpPr>
        <p:spPr>
          <a:xfrm rot="0">
            <a:off x="1379607" y="1236731"/>
            <a:ext cx="12034629" cy="2063033"/>
          </a:xfrm>
          <a:prstGeom prst="rect">
            <a:avLst/>
          </a:prstGeom>
        </p:spPr>
        <p:txBody>
          <a:bodyPr anchor="t" rtlCol="false" tIns="0" lIns="0" bIns="0" rIns="0">
            <a:spAutoFit/>
          </a:bodyPr>
          <a:lstStyle/>
          <a:p>
            <a:pPr algn="l">
              <a:lnSpc>
                <a:spcPts val="15967"/>
              </a:lnSpc>
            </a:pPr>
            <a:r>
              <a:rPr lang="en-US" sz="11405" b="true">
                <a:solidFill>
                  <a:srgbClr val="FFFFFF"/>
                </a:solidFill>
                <a:latin typeface="Poppins Bold"/>
                <a:ea typeface="Poppins Bold"/>
                <a:cs typeface="Poppins Bold"/>
                <a:sym typeface="Poppins Bold"/>
              </a:rPr>
              <a:t>Message Model</a:t>
            </a:r>
          </a:p>
        </p:txBody>
      </p:sp>
      <p:sp>
        <p:nvSpPr>
          <p:cNvPr name="TextBox 18" id="18"/>
          <p:cNvSpPr txBox="true"/>
          <p:nvPr/>
        </p:nvSpPr>
        <p:spPr>
          <a:xfrm rot="0">
            <a:off x="11414406" y="3032780"/>
            <a:ext cx="4204247" cy="725296"/>
          </a:xfrm>
          <a:prstGeom prst="rect">
            <a:avLst/>
          </a:prstGeom>
        </p:spPr>
        <p:txBody>
          <a:bodyPr anchor="t" rtlCol="false" tIns="0" lIns="0" bIns="0" rIns="0">
            <a:spAutoFit/>
          </a:bodyPr>
          <a:lstStyle/>
          <a:p>
            <a:pPr algn="l">
              <a:lnSpc>
                <a:spcPts val="5698"/>
              </a:lnSpc>
            </a:pPr>
            <a:r>
              <a:rPr lang="en-US" sz="4070">
                <a:solidFill>
                  <a:srgbClr val="E0E1F5"/>
                </a:solidFill>
                <a:latin typeface="Poppins"/>
                <a:ea typeface="Poppins"/>
                <a:cs typeface="Poppins"/>
                <a:sym typeface="Poppins"/>
              </a:rPr>
              <a:t>JSON</a:t>
            </a:r>
            <a:r>
              <a:rPr lang="en-US" sz="4070">
                <a:solidFill>
                  <a:srgbClr val="E0E1F5"/>
                </a:solidFill>
                <a:latin typeface="Poppins"/>
                <a:ea typeface="Poppins"/>
                <a:cs typeface="Poppins"/>
                <a:sym typeface="Poppins"/>
              </a:rPr>
              <a:t> Protocol</a:t>
            </a:r>
          </a:p>
        </p:txBody>
      </p:sp>
      <p:sp>
        <p:nvSpPr>
          <p:cNvPr name="TextBox 19" id="19"/>
          <p:cNvSpPr txBox="true"/>
          <p:nvPr/>
        </p:nvSpPr>
        <p:spPr>
          <a:xfrm rot="0">
            <a:off x="350358" y="774657"/>
            <a:ext cx="3322500" cy="47491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20" id="20"/>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solidFill>
                <a:latin typeface="Poppins Bold"/>
                <a:ea typeface="Poppins Bold"/>
                <a:cs typeface="Poppins Bold"/>
                <a:sym typeface="Poppins Bold"/>
              </a:rPr>
              <a:t>GIAO THỨC ỨNG DỤNG</a:t>
            </a:r>
          </a:p>
        </p:txBody>
      </p:sp>
      <p:sp>
        <p:nvSpPr>
          <p:cNvPr name="TextBox 21" id="21"/>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22" id="22"/>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23" id="23"/>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HIỆN THỨC HÓA HỆ THÔNG</a:t>
            </a:r>
          </a:p>
        </p:txBody>
      </p:sp>
      <p:sp>
        <p:nvSpPr>
          <p:cNvPr name="TextBox 24" id="24"/>
          <p:cNvSpPr txBox="true"/>
          <p:nvPr/>
        </p:nvSpPr>
        <p:spPr>
          <a:xfrm rot="0">
            <a:off x="1496801" y="3495678"/>
            <a:ext cx="7114539" cy="458120"/>
          </a:xfrm>
          <a:prstGeom prst="rect">
            <a:avLst/>
          </a:prstGeom>
        </p:spPr>
        <p:txBody>
          <a:bodyPr anchor="t" rtlCol="false" tIns="0" lIns="0" bIns="0" rIns="0">
            <a:spAutoFit/>
          </a:bodyPr>
          <a:lstStyle/>
          <a:p>
            <a:pPr algn="l">
              <a:lnSpc>
                <a:spcPts val="3624"/>
              </a:lnSpc>
            </a:pPr>
            <a:r>
              <a:rPr lang="en-US" sz="2588" b="true">
                <a:solidFill>
                  <a:srgbClr val="FFFFFF"/>
                </a:solidFill>
                <a:latin typeface="Poppins Bold"/>
                <a:ea typeface="Poppins Bold"/>
                <a:cs typeface="Poppins Bold"/>
                <a:sym typeface="Poppins Bold"/>
              </a:rPr>
              <a:t>Các loại Message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sp>
        <p:nvSpPr>
          <p:cNvPr name="Freeform 2" id="2"/>
          <p:cNvSpPr/>
          <p:nvPr/>
        </p:nvSpPr>
        <p:spPr>
          <a:xfrm flipH="false" flipV="false" rot="0">
            <a:off x="7410655" y="-2562176"/>
            <a:ext cx="15411352" cy="15411352"/>
          </a:xfrm>
          <a:custGeom>
            <a:avLst/>
            <a:gdLst/>
            <a:ahLst/>
            <a:cxnLst/>
            <a:rect r="r" b="b" t="t" l="l"/>
            <a:pathLst>
              <a:path h="15411352" w="15411352">
                <a:moveTo>
                  <a:pt x="0" y="0"/>
                </a:moveTo>
                <a:lnTo>
                  <a:pt x="15411351" y="0"/>
                </a:lnTo>
                <a:lnTo>
                  <a:pt x="15411351" y="15411352"/>
                </a:lnTo>
                <a:lnTo>
                  <a:pt x="0" y="15411352"/>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53041" y="-5621027"/>
            <a:ext cx="10764527" cy="1076452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846538" y="-5621027"/>
            <a:ext cx="9531646" cy="95316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6756368" y="8814412"/>
            <a:ext cx="1005863" cy="1005863"/>
          </a:xfrm>
          <a:custGeom>
            <a:avLst/>
            <a:gdLst/>
            <a:ahLst/>
            <a:cxnLst/>
            <a:rect r="r" b="b" t="t" l="l"/>
            <a:pathLst>
              <a:path h="1005863" w="1005863">
                <a:moveTo>
                  <a:pt x="0" y="0"/>
                </a:moveTo>
                <a:lnTo>
                  <a:pt x="1005864" y="0"/>
                </a:lnTo>
                <a:lnTo>
                  <a:pt x="1005864"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255065" y="5604052"/>
            <a:ext cx="10399065" cy="1039906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C7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440834" y="679099"/>
            <a:ext cx="4385302" cy="775403"/>
            <a:chOff x="0" y="0"/>
            <a:chExt cx="1200079" cy="212196"/>
          </a:xfrm>
        </p:grpSpPr>
        <p:sp>
          <p:nvSpPr>
            <p:cNvPr name="Freeform 14" id="14"/>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15" id="15"/>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pSp>
        <p:nvGrpSpPr>
          <p:cNvPr name="Group 16" id="16"/>
          <p:cNvGrpSpPr/>
          <p:nvPr/>
        </p:nvGrpSpPr>
        <p:grpSpPr>
          <a:xfrm rot="0">
            <a:off x="3916200" y="3953798"/>
            <a:ext cx="9390282" cy="5133052"/>
            <a:chOff x="0" y="0"/>
            <a:chExt cx="2473161" cy="1351915"/>
          </a:xfrm>
        </p:grpSpPr>
        <p:sp>
          <p:nvSpPr>
            <p:cNvPr name="Freeform 17" id="17"/>
            <p:cNvSpPr/>
            <p:nvPr/>
          </p:nvSpPr>
          <p:spPr>
            <a:xfrm flipH="false" flipV="false" rot="0">
              <a:off x="0" y="0"/>
              <a:ext cx="2473161" cy="1351915"/>
            </a:xfrm>
            <a:custGeom>
              <a:avLst/>
              <a:gdLst/>
              <a:ahLst/>
              <a:cxnLst/>
              <a:rect r="r" b="b" t="t" l="l"/>
              <a:pathLst>
                <a:path h="1351915" w="2473161">
                  <a:moveTo>
                    <a:pt x="68430" y="0"/>
                  </a:moveTo>
                  <a:lnTo>
                    <a:pt x="2404731" y="0"/>
                  </a:lnTo>
                  <a:cubicBezTo>
                    <a:pt x="2422879" y="0"/>
                    <a:pt x="2440285" y="7210"/>
                    <a:pt x="2453118" y="20043"/>
                  </a:cubicBezTo>
                  <a:cubicBezTo>
                    <a:pt x="2465951" y="32876"/>
                    <a:pt x="2473161" y="50281"/>
                    <a:pt x="2473161" y="68430"/>
                  </a:cubicBezTo>
                  <a:lnTo>
                    <a:pt x="2473161" y="1283485"/>
                  </a:lnTo>
                  <a:cubicBezTo>
                    <a:pt x="2473161" y="1321278"/>
                    <a:pt x="2442524" y="1351915"/>
                    <a:pt x="2404731" y="1351915"/>
                  </a:cubicBezTo>
                  <a:lnTo>
                    <a:pt x="68430" y="1351915"/>
                  </a:lnTo>
                  <a:cubicBezTo>
                    <a:pt x="30637" y="1351915"/>
                    <a:pt x="0" y="1321278"/>
                    <a:pt x="0" y="1283485"/>
                  </a:cubicBezTo>
                  <a:lnTo>
                    <a:pt x="0" y="68430"/>
                  </a:lnTo>
                  <a:cubicBezTo>
                    <a:pt x="0" y="30637"/>
                    <a:pt x="30637" y="0"/>
                    <a:pt x="68430" y="0"/>
                  </a:cubicBezTo>
                  <a:close/>
                </a:path>
              </a:pathLst>
            </a:custGeom>
            <a:solidFill>
              <a:srgbClr val="E0E1F5"/>
            </a:solidFill>
          </p:spPr>
        </p:sp>
        <p:sp>
          <p:nvSpPr>
            <p:cNvPr name="TextBox 18" id="18"/>
            <p:cNvSpPr txBox="true"/>
            <p:nvPr/>
          </p:nvSpPr>
          <p:spPr>
            <a:xfrm>
              <a:off x="0" y="-57150"/>
              <a:ext cx="2473161" cy="1409065"/>
            </a:xfrm>
            <a:prstGeom prst="rect">
              <a:avLst/>
            </a:prstGeom>
          </p:spPr>
          <p:txBody>
            <a:bodyPr anchor="ctr" rtlCol="false" tIns="50800" lIns="50800" bIns="50800" rIns="50800"/>
            <a:lstStyle/>
            <a:p>
              <a:pPr algn="ctr">
                <a:lnSpc>
                  <a:spcPts val="2731"/>
                </a:lnSpc>
              </a:pPr>
            </a:p>
          </p:txBody>
        </p:sp>
      </p:grpSp>
      <p:sp>
        <p:nvSpPr>
          <p:cNvPr name="TextBox 19" id="19"/>
          <p:cNvSpPr txBox="true"/>
          <p:nvPr/>
        </p:nvSpPr>
        <p:spPr>
          <a:xfrm rot="0">
            <a:off x="1379607" y="1236731"/>
            <a:ext cx="12034629" cy="2063033"/>
          </a:xfrm>
          <a:prstGeom prst="rect">
            <a:avLst/>
          </a:prstGeom>
        </p:spPr>
        <p:txBody>
          <a:bodyPr anchor="t" rtlCol="false" tIns="0" lIns="0" bIns="0" rIns="0">
            <a:spAutoFit/>
          </a:bodyPr>
          <a:lstStyle/>
          <a:p>
            <a:pPr algn="l">
              <a:lnSpc>
                <a:spcPts val="15967"/>
              </a:lnSpc>
            </a:pPr>
            <a:r>
              <a:rPr lang="en-US" sz="11405" b="true">
                <a:solidFill>
                  <a:srgbClr val="FFFFFF"/>
                </a:solidFill>
                <a:latin typeface="Poppins Bold"/>
                <a:ea typeface="Poppins Bold"/>
                <a:cs typeface="Poppins Bold"/>
                <a:sym typeface="Poppins Bold"/>
              </a:rPr>
              <a:t>Message Model</a:t>
            </a:r>
          </a:p>
        </p:txBody>
      </p:sp>
      <p:sp>
        <p:nvSpPr>
          <p:cNvPr name="TextBox 20" id="20"/>
          <p:cNvSpPr txBox="true"/>
          <p:nvPr/>
        </p:nvSpPr>
        <p:spPr>
          <a:xfrm rot="0">
            <a:off x="11414406" y="3032780"/>
            <a:ext cx="4204247" cy="725296"/>
          </a:xfrm>
          <a:prstGeom prst="rect">
            <a:avLst/>
          </a:prstGeom>
        </p:spPr>
        <p:txBody>
          <a:bodyPr anchor="t" rtlCol="false" tIns="0" lIns="0" bIns="0" rIns="0">
            <a:spAutoFit/>
          </a:bodyPr>
          <a:lstStyle/>
          <a:p>
            <a:pPr algn="l">
              <a:lnSpc>
                <a:spcPts val="5698"/>
              </a:lnSpc>
            </a:pPr>
            <a:r>
              <a:rPr lang="en-US" sz="4070">
                <a:solidFill>
                  <a:srgbClr val="E0E1F5"/>
                </a:solidFill>
                <a:latin typeface="Poppins"/>
                <a:ea typeface="Poppins"/>
                <a:cs typeface="Poppins"/>
                <a:sym typeface="Poppins"/>
              </a:rPr>
              <a:t>JSON</a:t>
            </a:r>
            <a:r>
              <a:rPr lang="en-US" sz="4070">
                <a:solidFill>
                  <a:srgbClr val="E0E1F5"/>
                </a:solidFill>
                <a:latin typeface="Poppins"/>
                <a:ea typeface="Poppins"/>
                <a:cs typeface="Poppins"/>
                <a:sym typeface="Poppins"/>
              </a:rPr>
              <a:t> Protocol</a:t>
            </a:r>
          </a:p>
        </p:txBody>
      </p:sp>
      <p:sp>
        <p:nvSpPr>
          <p:cNvPr name="TextBox 21" id="21"/>
          <p:cNvSpPr txBox="true"/>
          <p:nvPr/>
        </p:nvSpPr>
        <p:spPr>
          <a:xfrm rot="0">
            <a:off x="350358" y="774657"/>
            <a:ext cx="3322500" cy="47491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22" id="22"/>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solidFill>
                <a:latin typeface="Poppins Bold"/>
                <a:ea typeface="Poppins Bold"/>
                <a:cs typeface="Poppins Bold"/>
                <a:sym typeface="Poppins Bold"/>
              </a:rPr>
              <a:t>GIAO THỨC ỨNG DỤNG</a:t>
            </a:r>
          </a:p>
        </p:txBody>
      </p:sp>
      <p:sp>
        <p:nvSpPr>
          <p:cNvPr name="TextBox 23" id="23"/>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24" id="24"/>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25" id="25"/>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HIỆN THỨC HÓA HỆ THÔNG</a:t>
            </a:r>
          </a:p>
        </p:txBody>
      </p:sp>
      <p:sp>
        <p:nvSpPr>
          <p:cNvPr name="TextBox 26" id="26"/>
          <p:cNvSpPr txBox="true"/>
          <p:nvPr/>
        </p:nvSpPr>
        <p:spPr>
          <a:xfrm rot="0">
            <a:off x="1496801" y="3299956"/>
            <a:ext cx="7114539" cy="458120"/>
          </a:xfrm>
          <a:prstGeom prst="rect">
            <a:avLst/>
          </a:prstGeom>
        </p:spPr>
        <p:txBody>
          <a:bodyPr anchor="t" rtlCol="false" tIns="0" lIns="0" bIns="0" rIns="0">
            <a:spAutoFit/>
          </a:bodyPr>
          <a:lstStyle/>
          <a:p>
            <a:pPr algn="l">
              <a:lnSpc>
                <a:spcPts val="3624"/>
              </a:lnSpc>
            </a:pPr>
            <a:r>
              <a:rPr lang="en-US" sz="2588" b="true">
                <a:solidFill>
                  <a:srgbClr val="FFFFFF"/>
                </a:solidFill>
                <a:latin typeface="Poppins Bold"/>
                <a:ea typeface="Poppins Bold"/>
                <a:cs typeface="Poppins Bold"/>
                <a:sym typeface="Poppins Bold"/>
              </a:rPr>
              <a:t>Cấu trúc gói tin thực tế</a:t>
            </a:r>
          </a:p>
        </p:txBody>
      </p:sp>
      <p:sp>
        <p:nvSpPr>
          <p:cNvPr name="TextBox 27" id="27"/>
          <p:cNvSpPr txBox="true"/>
          <p:nvPr/>
        </p:nvSpPr>
        <p:spPr>
          <a:xfrm rot="0">
            <a:off x="5410904" y="4363373"/>
            <a:ext cx="6198543" cy="4610961"/>
          </a:xfrm>
          <a:prstGeom prst="rect">
            <a:avLst/>
          </a:prstGeom>
        </p:spPr>
        <p:txBody>
          <a:bodyPr anchor="t" rtlCol="false" tIns="0" lIns="0" bIns="0" rIns="0">
            <a:spAutoFit/>
          </a:bodyPr>
          <a:lstStyle/>
          <a:p>
            <a:pPr algn="l">
              <a:lnSpc>
                <a:spcPts val="5202"/>
              </a:lnSpc>
              <a:spcBef>
                <a:spcPct val="0"/>
              </a:spcBef>
            </a:pPr>
            <a:r>
              <a:rPr lang="en-US" b="true" sz="3716">
                <a:solidFill>
                  <a:srgbClr val="081269"/>
                </a:solidFill>
                <a:latin typeface="Poppins Bold"/>
                <a:ea typeface="Poppins Bold"/>
                <a:cs typeface="Poppins Bold"/>
                <a:sym typeface="Poppins Bold"/>
              </a:rPr>
              <a:t>{</a:t>
            </a:r>
          </a:p>
          <a:p>
            <a:pPr algn="l">
              <a:lnSpc>
                <a:spcPts val="5202"/>
              </a:lnSpc>
              <a:spcBef>
                <a:spcPct val="0"/>
              </a:spcBef>
            </a:pPr>
            <a:r>
              <a:rPr lang="en-US" b="true" sz="3716">
                <a:solidFill>
                  <a:srgbClr val="081269"/>
                </a:solidFill>
                <a:latin typeface="Poppins Bold"/>
                <a:ea typeface="Poppins Bold"/>
                <a:cs typeface="Poppins Bold"/>
                <a:sym typeface="Poppins Bold"/>
              </a:rPr>
              <a:t>  "Type": "Join",</a:t>
            </a:r>
          </a:p>
          <a:p>
            <a:pPr algn="l">
              <a:lnSpc>
                <a:spcPts val="5202"/>
              </a:lnSpc>
              <a:spcBef>
                <a:spcPct val="0"/>
              </a:spcBef>
            </a:pPr>
            <a:r>
              <a:rPr lang="en-US" b="true" sz="3716">
                <a:solidFill>
                  <a:srgbClr val="081269"/>
                </a:solidFill>
                <a:latin typeface="Poppins Bold"/>
                <a:ea typeface="Poppins Bold"/>
                <a:cs typeface="Poppins Bold"/>
                <a:sym typeface="Poppins Bold"/>
              </a:rPr>
              <a:t>  "Username": "VinhPhuc",</a:t>
            </a:r>
          </a:p>
          <a:p>
            <a:pPr algn="l">
              <a:lnSpc>
                <a:spcPts val="5202"/>
              </a:lnSpc>
              <a:spcBef>
                <a:spcPct val="0"/>
              </a:spcBef>
            </a:pPr>
            <a:r>
              <a:rPr lang="en-US" b="true" sz="3716">
                <a:solidFill>
                  <a:srgbClr val="081269"/>
                </a:solidFill>
                <a:latin typeface="Poppins Bold"/>
                <a:ea typeface="Poppins Bold"/>
                <a:cs typeface="Poppins Bold"/>
                <a:sym typeface="Poppins Bold"/>
              </a:rPr>
              <a:t>  "Room": "general",</a:t>
            </a:r>
          </a:p>
          <a:p>
            <a:pPr algn="l">
              <a:lnSpc>
                <a:spcPts val="5202"/>
              </a:lnSpc>
              <a:spcBef>
                <a:spcPct val="0"/>
              </a:spcBef>
            </a:pPr>
            <a:r>
              <a:rPr lang="en-US" b="true" sz="3716">
                <a:solidFill>
                  <a:srgbClr val="081269"/>
                </a:solidFill>
                <a:latin typeface="Poppins Bold"/>
                <a:ea typeface="Poppins Bold"/>
                <a:cs typeface="Poppins Bold"/>
                <a:sym typeface="Poppins Bold"/>
              </a:rPr>
              <a:t>  "Content": ""</a:t>
            </a:r>
          </a:p>
          <a:p>
            <a:pPr algn="l">
              <a:lnSpc>
                <a:spcPts val="5202"/>
              </a:lnSpc>
              <a:spcBef>
                <a:spcPct val="0"/>
              </a:spcBef>
            </a:pPr>
            <a:r>
              <a:rPr lang="en-US" b="true" sz="3716">
                <a:solidFill>
                  <a:srgbClr val="081269"/>
                </a:solidFill>
                <a:latin typeface="Poppins Bold"/>
                <a:ea typeface="Poppins Bold"/>
                <a:cs typeface="Poppins Bold"/>
                <a:sym typeface="Poppins Bold"/>
              </a:rPr>
              <a:t>}</a:t>
            </a:r>
          </a:p>
          <a:p>
            <a:pPr algn="l">
              <a:lnSpc>
                <a:spcPts val="5202"/>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775877" y="3207105"/>
            <a:ext cx="12102391" cy="121023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425414" y="4856641"/>
            <a:ext cx="8803317" cy="880331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9144000" y="-3334529"/>
            <a:ext cx="10084731" cy="5432955"/>
            <a:chOff x="0" y="0"/>
            <a:chExt cx="2656061" cy="1430902"/>
          </a:xfrm>
        </p:grpSpPr>
        <p:sp>
          <p:nvSpPr>
            <p:cNvPr name="Freeform 10" id="10"/>
            <p:cNvSpPr/>
            <p:nvPr/>
          </p:nvSpPr>
          <p:spPr>
            <a:xfrm flipH="false" flipV="false" rot="0">
              <a:off x="0" y="0"/>
              <a:ext cx="2656061" cy="1430902"/>
            </a:xfrm>
            <a:custGeom>
              <a:avLst/>
              <a:gdLst/>
              <a:ahLst/>
              <a:cxnLst/>
              <a:rect r="r" b="b" t="t" l="l"/>
              <a:pathLst>
                <a:path h="1430902" w="2656061">
                  <a:moveTo>
                    <a:pt x="23798" y="0"/>
                  </a:moveTo>
                  <a:lnTo>
                    <a:pt x="2632263" y="0"/>
                  </a:lnTo>
                  <a:cubicBezTo>
                    <a:pt x="2638574" y="0"/>
                    <a:pt x="2644628" y="2507"/>
                    <a:pt x="2649091" y="6970"/>
                  </a:cubicBezTo>
                  <a:cubicBezTo>
                    <a:pt x="2653554" y="11433"/>
                    <a:pt x="2656061" y="17487"/>
                    <a:pt x="2656061" y="23798"/>
                  </a:cubicBezTo>
                  <a:lnTo>
                    <a:pt x="2656061" y="1407103"/>
                  </a:lnTo>
                  <a:cubicBezTo>
                    <a:pt x="2656061" y="1413415"/>
                    <a:pt x="2653554" y="1419468"/>
                    <a:pt x="2649091" y="1423931"/>
                  </a:cubicBezTo>
                  <a:cubicBezTo>
                    <a:pt x="2644628" y="1428394"/>
                    <a:pt x="2638574" y="1430902"/>
                    <a:pt x="2632263" y="1430902"/>
                  </a:cubicBezTo>
                  <a:lnTo>
                    <a:pt x="23798" y="1430902"/>
                  </a:lnTo>
                  <a:cubicBezTo>
                    <a:pt x="17487" y="1430902"/>
                    <a:pt x="11433" y="1428394"/>
                    <a:pt x="6970" y="1423931"/>
                  </a:cubicBezTo>
                  <a:cubicBezTo>
                    <a:pt x="2507" y="1419468"/>
                    <a:pt x="0" y="1413415"/>
                    <a:pt x="0" y="1407103"/>
                  </a:cubicBezTo>
                  <a:lnTo>
                    <a:pt x="0" y="23798"/>
                  </a:lnTo>
                  <a:cubicBezTo>
                    <a:pt x="0" y="17487"/>
                    <a:pt x="2507" y="11433"/>
                    <a:pt x="6970" y="6970"/>
                  </a:cubicBezTo>
                  <a:cubicBezTo>
                    <a:pt x="11433" y="2507"/>
                    <a:pt x="17487" y="0"/>
                    <a:pt x="23798" y="0"/>
                  </a:cubicBezTo>
                  <a:close/>
                </a:path>
              </a:pathLst>
            </a:custGeom>
            <a:solidFill>
              <a:srgbClr val="000C74"/>
            </a:solidFill>
          </p:spPr>
        </p:sp>
        <p:sp>
          <p:nvSpPr>
            <p:cNvPr name="TextBox 11" id="11"/>
            <p:cNvSpPr txBox="true"/>
            <p:nvPr/>
          </p:nvSpPr>
          <p:spPr>
            <a:xfrm>
              <a:off x="0" y="-38100"/>
              <a:ext cx="2656061" cy="146900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40834" y="679099"/>
            <a:ext cx="4385302" cy="775403"/>
            <a:chOff x="0" y="0"/>
            <a:chExt cx="1200079" cy="212196"/>
          </a:xfrm>
        </p:grpSpPr>
        <p:sp>
          <p:nvSpPr>
            <p:cNvPr name="Freeform 13" id="13"/>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4" id="14"/>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5" id="15"/>
          <p:cNvSpPr/>
          <p:nvPr/>
        </p:nvSpPr>
        <p:spPr>
          <a:xfrm flipH="false" flipV="false" rot="0">
            <a:off x="14980552" y="2204752"/>
            <a:ext cx="2278748" cy="2278748"/>
          </a:xfrm>
          <a:custGeom>
            <a:avLst/>
            <a:gdLst/>
            <a:ahLst/>
            <a:cxnLst/>
            <a:rect r="r" b="b" t="t" l="l"/>
            <a:pathLst>
              <a:path h="2278748" w="2278748">
                <a:moveTo>
                  <a:pt x="0" y="0"/>
                </a:moveTo>
                <a:lnTo>
                  <a:pt x="2278748" y="0"/>
                </a:lnTo>
                <a:lnTo>
                  <a:pt x="2278748" y="2278748"/>
                </a:lnTo>
                <a:lnTo>
                  <a:pt x="0" y="22787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502063" y="5041324"/>
            <a:ext cx="7771772" cy="5143500"/>
          </a:xfrm>
          <a:custGeom>
            <a:avLst/>
            <a:gdLst/>
            <a:ahLst/>
            <a:cxnLst/>
            <a:rect r="r" b="b" t="t" l="l"/>
            <a:pathLst>
              <a:path h="5143500" w="7771772">
                <a:moveTo>
                  <a:pt x="0" y="0"/>
                </a:moveTo>
                <a:lnTo>
                  <a:pt x="7771772" y="0"/>
                </a:lnTo>
                <a:lnTo>
                  <a:pt x="7771772" y="5143500"/>
                </a:lnTo>
                <a:lnTo>
                  <a:pt x="0" y="51435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8680034" y="6368074"/>
            <a:ext cx="7573403" cy="2387294"/>
            <a:chOff x="0" y="0"/>
            <a:chExt cx="1994641" cy="628752"/>
          </a:xfrm>
        </p:grpSpPr>
        <p:sp>
          <p:nvSpPr>
            <p:cNvPr name="Freeform 18" id="18"/>
            <p:cNvSpPr/>
            <p:nvPr/>
          </p:nvSpPr>
          <p:spPr>
            <a:xfrm flipH="false" flipV="false" rot="0">
              <a:off x="0" y="0"/>
              <a:ext cx="1994641" cy="628752"/>
            </a:xfrm>
            <a:custGeom>
              <a:avLst/>
              <a:gdLst/>
              <a:ahLst/>
              <a:cxnLst/>
              <a:rect r="r" b="b" t="t" l="l"/>
              <a:pathLst>
                <a:path h="628752" w="1994641">
                  <a:moveTo>
                    <a:pt x="67469" y="0"/>
                  </a:moveTo>
                  <a:lnTo>
                    <a:pt x="1927172" y="0"/>
                  </a:lnTo>
                  <a:cubicBezTo>
                    <a:pt x="1945066" y="0"/>
                    <a:pt x="1962227" y="7108"/>
                    <a:pt x="1974880" y="19761"/>
                  </a:cubicBezTo>
                  <a:cubicBezTo>
                    <a:pt x="1987533" y="32414"/>
                    <a:pt x="1994641" y="49575"/>
                    <a:pt x="1994641" y="67469"/>
                  </a:cubicBezTo>
                  <a:lnTo>
                    <a:pt x="1994641" y="561284"/>
                  </a:lnTo>
                  <a:cubicBezTo>
                    <a:pt x="1994641" y="598546"/>
                    <a:pt x="1964434" y="628752"/>
                    <a:pt x="1927172" y="628752"/>
                  </a:cubicBezTo>
                  <a:lnTo>
                    <a:pt x="67469" y="628752"/>
                  </a:lnTo>
                  <a:cubicBezTo>
                    <a:pt x="30207" y="628752"/>
                    <a:pt x="0" y="598546"/>
                    <a:pt x="0" y="561284"/>
                  </a:cubicBezTo>
                  <a:lnTo>
                    <a:pt x="0" y="67469"/>
                  </a:lnTo>
                  <a:cubicBezTo>
                    <a:pt x="0" y="30207"/>
                    <a:pt x="30207" y="0"/>
                    <a:pt x="67469" y="0"/>
                  </a:cubicBezTo>
                  <a:close/>
                </a:path>
              </a:pathLst>
            </a:custGeom>
            <a:solidFill>
              <a:srgbClr val="000C74"/>
            </a:solidFill>
          </p:spPr>
        </p:sp>
        <p:sp>
          <p:nvSpPr>
            <p:cNvPr name="TextBox 19" id="19"/>
            <p:cNvSpPr txBox="true"/>
            <p:nvPr/>
          </p:nvSpPr>
          <p:spPr>
            <a:xfrm>
              <a:off x="0" y="-85725"/>
              <a:ext cx="1994641" cy="714477"/>
            </a:xfrm>
            <a:prstGeom prst="rect">
              <a:avLst/>
            </a:prstGeom>
          </p:spPr>
          <p:txBody>
            <a:bodyPr anchor="ctr" rtlCol="false" tIns="50800" lIns="50800" bIns="50800" rIns="50800"/>
            <a:lstStyle/>
            <a:p>
              <a:pPr algn="ctr">
                <a:lnSpc>
                  <a:spcPts val="3851"/>
                </a:lnSpc>
              </a:pPr>
              <a:r>
                <a:rPr lang="en-US" sz="2751">
                  <a:solidFill>
                    <a:srgbClr val="4EBFFF"/>
                  </a:solidFill>
                  <a:latin typeface="Poppins"/>
                  <a:ea typeface="Poppins"/>
                  <a:cs typeface="Poppins"/>
                  <a:sym typeface="Poppins"/>
                </a:rPr>
                <a:t>public </a:t>
              </a:r>
              <a:r>
                <a:rPr lang="en-US" sz="2751">
                  <a:solidFill>
                    <a:srgbClr val="FD6044"/>
                  </a:solidFill>
                  <a:latin typeface="Poppins"/>
                  <a:ea typeface="Poppins"/>
                  <a:cs typeface="Poppins"/>
                  <a:sym typeface="Poppins"/>
                </a:rPr>
                <a:t>class </a:t>
              </a:r>
              <a:r>
                <a:rPr lang="en-US" sz="2751">
                  <a:solidFill>
                    <a:srgbClr val="0DFF00"/>
                  </a:solidFill>
                  <a:latin typeface="Poppins"/>
                  <a:ea typeface="Poppins"/>
                  <a:cs typeface="Poppins"/>
                  <a:sym typeface="Poppins"/>
                </a:rPr>
                <a:t>TcpListener</a:t>
              </a:r>
              <a:r>
                <a:rPr lang="en-US" sz="2751">
                  <a:solidFill>
                    <a:srgbClr val="FFFFFF"/>
                  </a:solidFill>
                  <a:latin typeface="Poppins"/>
                  <a:ea typeface="Poppins"/>
                  <a:cs typeface="Poppins"/>
                  <a:sym typeface="Poppins"/>
                </a:rPr>
                <a:t> : </a:t>
              </a:r>
              <a:r>
                <a:rPr lang="en-US" sz="2751">
                  <a:solidFill>
                    <a:srgbClr val="0DFF00"/>
                  </a:solidFill>
                  <a:latin typeface="Poppins"/>
                  <a:ea typeface="Poppins"/>
                  <a:cs typeface="Poppins"/>
                  <a:sym typeface="Poppins"/>
                </a:rPr>
                <a:t>IDisposable</a:t>
              </a:r>
            </a:p>
          </p:txBody>
        </p:sp>
      </p:grpSp>
      <p:sp>
        <p:nvSpPr>
          <p:cNvPr name="TextBox 20" id="20"/>
          <p:cNvSpPr txBox="true"/>
          <p:nvPr/>
        </p:nvSpPr>
        <p:spPr>
          <a:xfrm rot="0">
            <a:off x="350358" y="1871377"/>
            <a:ext cx="12265511" cy="2126177"/>
          </a:xfrm>
          <a:prstGeom prst="rect">
            <a:avLst/>
          </a:prstGeom>
        </p:spPr>
        <p:txBody>
          <a:bodyPr anchor="t" rtlCol="false" tIns="0" lIns="0" bIns="0" rIns="0">
            <a:spAutoFit/>
          </a:bodyPr>
          <a:lstStyle/>
          <a:p>
            <a:pPr algn="l">
              <a:lnSpc>
                <a:spcPts val="16551"/>
              </a:lnSpc>
            </a:pPr>
            <a:r>
              <a:rPr lang="en-US" sz="11822" b="true">
                <a:solidFill>
                  <a:srgbClr val="081269"/>
                </a:solidFill>
                <a:latin typeface="Poppins Bold"/>
                <a:ea typeface="Poppins Bold"/>
                <a:cs typeface="Poppins Bold"/>
                <a:sym typeface="Poppins Bold"/>
              </a:rPr>
              <a:t>TCP Server</a:t>
            </a:r>
          </a:p>
        </p:txBody>
      </p:sp>
      <p:sp>
        <p:nvSpPr>
          <p:cNvPr name="TextBox 21" id="21"/>
          <p:cNvSpPr txBox="true"/>
          <p:nvPr/>
        </p:nvSpPr>
        <p:spPr>
          <a:xfrm rot="0">
            <a:off x="350358" y="3807054"/>
            <a:ext cx="19170744" cy="1234270"/>
          </a:xfrm>
          <a:prstGeom prst="rect">
            <a:avLst/>
          </a:prstGeom>
        </p:spPr>
        <p:txBody>
          <a:bodyPr anchor="t" rtlCol="false" tIns="0" lIns="0" bIns="0" rIns="0">
            <a:spAutoFit/>
          </a:bodyPr>
          <a:lstStyle/>
          <a:p>
            <a:pPr algn="l">
              <a:lnSpc>
                <a:spcPts val="9672"/>
              </a:lnSpc>
            </a:pPr>
            <a:r>
              <a:rPr lang="en-US" sz="6909">
                <a:solidFill>
                  <a:srgbClr val="081269"/>
                </a:solidFill>
                <a:latin typeface="Poppins"/>
                <a:ea typeface="Poppins"/>
                <a:cs typeface="Poppins"/>
                <a:sym typeface="Poppins"/>
              </a:rPr>
              <a:t>Xử lý đa luồng Async/Await</a:t>
            </a:r>
          </a:p>
        </p:txBody>
      </p:sp>
      <p:sp>
        <p:nvSpPr>
          <p:cNvPr name="TextBox 22" id="22"/>
          <p:cNvSpPr txBox="true"/>
          <p:nvPr/>
        </p:nvSpPr>
        <p:spPr>
          <a:xfrm rot="0">
            <a:off x="1028700" y="6502578"/>
            <a:ext cx="6373031" cy="2252791"/>
          </a:xfrm>
          <a:prstGeom prst="rect">
            <a:avLst/>
          </a:prstGeom>
        </p:spPr>
        <p:txBody>
          <a:bodyPr anchor="t" rtlCol="false" tIns="0" lIns="0" bIns="0" rIns="0">
            <a:spAutoFit/>
          </a:bodyPr>
          <a:lstStyle/>
          <a:p>
            <a:pPr algn="just">
              <a:lnSpc>
                <a:spcPts val="4468"/>
              </a:lnSpc>
            </a:pPr>
            <a:r>
              <a:rPr lang="en-US" sz="3191">
                <a:solidFill>
                  <a:srgbClr val="081269"/>
                </a:solidFill>
                <a:latin typeface="Poppins"/>
                <a:ea typeface="Poppins"/>
                <a:cs typeface="Poppins"/>
                <a:sym typeface="Poppins"/>
              </a:rPr>
              <a:t>Server sử dụng lớp </a:t>
            </a:r>
            <a:r>
              <a:rPr lang="en-US" sz="3191" b="true">
                <a:solidFill>
                  <a:srgbClr val="081269"/>
                </a:solidFill>
                <a:latin typeface="Poppins Bold"/>
                <a:ea typeface="Poppins Bold"/>
                <a:cs typeface="Poppins Bold"/>
                <a:sym typeface="Poppins Bold"/>
              </a:rPr>
              <a:t>TcpListener</a:t>
            </a:r>
            <a:r>
              <a:rPr lang="en-US" sz="3191">
                <a:solidFill>
                  <a:srgbClr val="081269"/>
                </a:solidFill>
                <a:latin typeface="Poppins"/>
                <a:ea typeface="Poppins"/>
                <a:cs typeface="Poppins"/>
                <a:sym typeface="Poppins"/>
              </a:rPr>
              <a:t> của </a:t>
            </a:r>
            <a:r>
              <a:rPr lang="en-US" sz="3191" b="true">
                <a:solidFill>
                  <a:srgbClr val="081269"/>
                </a:solidFill>
                <a:latin typeface="Poppins Bold"/>
                <a:ea typeface="Poppins Bold"/>
                <a:cs typeface="Poppins Bold"/>
                <a:sym typeface="Poppins Bold"/>
              </a:rPr>
              <a:t>.NET</a:t>
            </a:r>
            <a:r>
              <a:rPr lang="en-US" sz="3191">
                <a:solidFill>
                  <a:srgbClr val="081269"/>
                </a:solidFill>
                <a:latin typeface="Poppins"/>
                <a:ea typeface="Poppins"/>
                <a:cs typeface="Poppins"/>
                <a:sym typeface="Poppins"/>
              </a:rPr>
              <a:t> để thực hiện nhiệm vụ lắng nghe, tiếp nhận kết nối và phân phối thông điệp.</a:t>
            </a:r>
          </a:p>
        </p:txBody>
      </p:sp>
      <p:sp>
        <p:nvSpPr>
          <p:cNvPr name="TextBox 23" id="23"/>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Thynk Unlimited</a:t>
            </a:r>
          </a:p>
        </p:txBody>
      </p:sp>
      <p:sp>
        <p:nvSpPr>
          <p:cNvPr name="TextBox 24" id="24"/>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GIAO THỨC ỨNG DỤNG</a:t>
            </a:r>
          </a:p>
        </p:txBody>
      </p:sp>
      <p:sp>
        <p:nvSpPr>
          <p:cNvPr name="TextBox 25" id="25"/>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26" id="26"/>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27" id="27"/>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solidFill>
                <a:latin typeface="Poppins Bold"/>
                <a:ea typeface="Poppins Bold"/>
                <a:cs typeface="Poppins Bold"/>
                <a:sym typeface="Poppins Bold"/>
              </a:rPr>
              <a:t>HIỆN THỨC HÓA HỆ THÔNG</a:t>
            </a:r>
          </a:p>
        </p:txBody>
      </p:sp>
      <p:sp>
        <p:nvSpPr>
          <p:cNvPr name="TextBox 28" id="28"/>
          <p:cNvSpPr txBox="true"/>
          <p:nvPr/>
        </p:nvSpPr>
        <p:spPr>
          <a:xfrm rot="0">
            <a:off x="2011608" y="5217058"/>
            <a:ext cx="3706769" cy="501891"/>
          </a:xfrm>
          <a:prstGeom prst="rect">
            <a:avLst/>
          </a:prstGeom>
        </p:spPr>
        <p:txBody>
          <a:bodyPr anchor="t" rtlCol="false" tIns="0" lIns="0" bIns="0" rIns="0">
            <a:spAutoFit/>
          </a:bodyPr>
          <a:lstStyle/>
          <a:p>
            <a:pPr algn="l">
              <a:lnSpc>
                <a:spcPts val="3836"/>
              </a:lnSpc>
            </a:pPr>
            <a:r>
              <a:rPr lang="en-US" sz="2740" b="true">
                <a:solidFill>
                  <a:srgbClr val="FFFFFF"/>
                </a:solidFill>
                <a:latin typeface="Poppins Bold"/>
                <a:ea typeface="Poppins Bold"/>
                <a:cs typeface="Poppins Bold"/>
                <a:sym typeface="Poppins Bold"/>
              </a:rPr>
              <a:t>CÔNG NGHỆ LÕI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775877" y="3207105"/>
            <a:ext cx="12102391" cy="121023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425414" y="4856641"/>
            <a:ext cx="8803317" cy="880331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9144000" y="-3334529"/>
            <a:ext cx="10084731" cy="5432955"/>
            <a:chOff x="0" y="0"/>
            <a:chExt cx="2656061" cy="1430902"/>
          </a:xfrm>
        </p:grpSpPr>
        <p:sp>
          <p:nvSpPr>
            <p:cNvPr name="Freeform 10" id="10"/>
            <p:cNvSpPr/>
            <p:nvPr/>
          </p:nvSpPr>
          <p:spPr>
            <a:xfrm flipH="false" flipV="false" rot="0">
              <a:off x="0" y="0"/>
              <a:ext cx="2656061" cy="1430902"/>
            </a:xfrm>
            <a:custGeom>
              <a:avLst/>
              <a:gdLst/>
              <a:ahLst/>
              <a:cxnLst/>
              <a:rect r="r" b="b" t="t" l="l"/>
              <a:pathLst>
                <a:path h="1430902" w="2656061">
                  <a:moveTo>
                    <a:pt x="23798" y="0"/>
                  </a:moveTo>
                  <a:lnTo>
                    <a:pt x="2632263" y="0"/>
                  </a:lnTo>
                  <a:cubicBezTo>
                    <a:pt x="2638574" y="0"/>
                    <a:pt x="2644628" y="2507"/>
                    <a:pt x="2649091" y="6970"/>
                  </a:cubicBezTo>
                  <a:cubicBezTo>
                    <a:pt x="2653554" y="11433"/>
                    <a:pt x="2656061" y="17487"/>
                    <a:pt x="2656061" y="23798"/>
                  </a:cubicBezTo>
                  <a:lnTo>
                    <a:pt x="2656061" y="1407103"/>
                  </a:lnTo>
                  <a:cubicBezTo>
                    <a:pt x="2656061" y="1413415"/>
                    <a:pt x="2653554" y="1419468"/>
                    <a:pt x="2649091" y="1423931"/>
                  </a:cubicBezTo>
                  <a:cubicBezTo>
                    <a:pt x="2644628" y="1428394"/>
                    <a:pt x="2638574" y="1430902"/>
                    <a:pt x="2632263" y="1430902"/>
                  </a:cubicBezTo>
                  <a:lnTo>
                    <a:pt x="23798" y="1430902"/>
                  </a:lnTo>
                  <a:cubicBezTo>
                    <a:pt x="17487" y="1430902"/>
                    <a:pt x="11433" y="1428394"/>
                    <a:pt x="6970" y="1423931"/>
                  </a:cubicBezTo>
                  <a:cubicBezTo>
                    <a:pt x="2507" y="1419468"/>
                    <a:pt x="0" y="1413415"/>
                    <a:pt x="0" y="1407103"/>
                  </a:cubicBezTo>
                  <a:lnTo>
                    <a:pt x="0" y="23798"/>
                  </a:lnTo>
                  <a:cubicBezTo>
                    <a:pt x="0" y="17487"/>
                    <a:pt x="2507" y="11433"/>
                    <a:pt x="6970" y="6970"/>
                  </a:cubicBezTo>
                  <a:cubicBezTo>
                    <a:pt x="11433" y="2507"/>
                    <a:pt x="17487" y="0"/>
                    <a:pt x="23798" y="0"/>
                  </a:cubicBezTo>
                  <a:close/>
                </a:path>
              </a:pathLst>
            </a:custGeom>
            <a:solidFill>
              <a:srgbClr val="000C74"/>
            </a:solidFill>
          </p:spPr>
        </p:sp>
        <p:sp>
          <p:nvSpPr>
            <p:cNvPr name="TextBox 11" id="11"/>
            <p:cNvSpPr txBox="true"/>
            <p:nvPr/>
          </p:nvSpPr>
          <p:spPr>
            <a:xfrm>
              <a:off x="0" y="-38100"/>
              <a:ext cx="2656061" cy="146900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40834" y="679099"/>
            <a:ext cx="4385302" cy="775403"/>
            <a:chOff x="0" y="0"/>
            <a:chExt cx="1200079" cy="212196"/>
          </a:xfrm>
        </p:grpSpPr>
        <p:sp>
          <p:nvSpPr>
            <p:cNvPr name="Freeform 13" id="13"/>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4" id="14"/>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5" id="15"/>
          <p:cNvSpPr/>
          <p:nvPr/>
        </p:nvSpPr>
        <p:spPr>
          <a:xfrm flipH="false" flipV="false" rot="0">
            <a:off x="14980552" y="2204752"/>
            <a:ext cx="2278748" cy="2278748"/>
          </a:xfrm>
          <a:custGeom>
            <a:avLst/>
            <a:gdLst/>
            <a:ahLst/>
            <a:cxnLst/>
            <a:rect r="r" b="b" t="t" l="l"/>
            <a:pathLst>
              <a:path h="2278748" w="2278748">
                <a:moveTo>
                  <a:pt x="0" y="0"/>
                </a:moveTo>
                <a:lnTo>
                  <a:pt x="2278748" y="0"/>
                </a:lnTo>
                <a:lnTo>
                  <a:pt x="2278748" y="2278748"/>
                </a:lnTo>
                <a:lnTo>
                  <a:pt x="0" y="22787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679811" y="5143500"/>
            <a:ext cx="7328297" cy="4850000"/>
          </a:xfrm>
          <a:custGeom>
            <a:avLst/>
            <a:gdLst/>
            <a:ahLst/>
            <a:cxnLst/>
            <a:rect r="r" b="b" t="t" l="l"/>
            <a:pathLst>
              <a:path h="4850000" w="7328297">
                <a:moveTo>
                  <a:pt x="0" y="0"/>
                </a:moveTo>
                <a:lnTo>
                  <a:pt x="7328297" y="0"/>
                </a:lnTo>
                <a:lnTo>
                  <a:pt x="7328297" y="4850000"/>
                </a:lnTo>
                <a:lnTo>
                  <a:pt x="0" y="48500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350358" y="3807054"/>
            <a:ext cx="19170744" cy="1234270"/>
          </a:xfrm>
          <a:prstGeom prst="rect">
            <a:avLst/>
          </a:prstGeom>
        </p:spPr>
        <p:txBody>
          <a:bodyPr anchor="t" rtlCol="false" tIns="0" lIns="0" bIns="0" rIns="0">
            <a:spAutoFit/>
          </a:bodyPr>
          <a:lstStyle/>
          <a:p>
            <a:pPr algn="l">
              <a:lnSpc>
                <a:spcPts val="9672"/>
              </a:lnSpc>
            </a:pPr>
            <a:r>
              <a:rPr lang="en-US" sz="6909">
                <a:solidFill>
                  <a:srgbClr val="081269"/>
                </a:solidFill>
                <a:latin typeface="Poppins"/>
                <a:ea typeface="Poppins"/>
                <a:cs typeface="Poppins"/>
                <a:sym typeface="Poppins"/>
              </a:rPr>
              <a:t>Xử lý đa luồng Async/Await</a:t>
            </a:r>
          </a:p>
        </p:txBody>
      </p:sp>
      <p:sp>
        <p:nvSpPr>
          <p:cNvPr name="TextBox 18" id="18"/>
          <p:cNvSpPr txBox="true"/>
          <p:nvPr/>
        </p:nvSpPr>
        <p:spPr>
          <a:xfrm rot="0">
            <a:off x="350358" y="1871377"/>
            <a:ext cx="12265511" cy="2126177"/>
          </a:xfrm>
          <a:prstGeom prst="rect">
            <a:avLst/>
          </a:prstGeom>
        </p:spPr>
        <p:txBody>
          <a:bodyPr anchor="t" rtlCol="false" tIns="0" lIns="0" bIns="0" rIns="0">
            <a:spAutoFit/>
          </a:bodyPr>
          <a:lstStyle/>
          <a:p>
            <a:pPr algn="l">
              <a:lnSpc>
                <a:spcPts val="16551"/>
              </a:lnSpc>
            </a:pPr>
            <a:r>
              <a:rPr lang="en-US" sz="11822" b="true">
                <a:solidFill>
                  <a:srgbClr val="081269"/>
                </a:solidFill>
                <a:latin typeface="Poppins Bold"/>
                <a:ea typeface="Poppins Bold"/>
                <a:cs typeface="Poppins Bold"/>
                <a:sym typeface="Poppins Bold"/>
              </a:rPr>
              <a:t>TCP Server</a:t>
            </a:r>
          </a:p>
        </p:txBody>
      </p:sp>
      <p:sp>
        <p:nvSpPr>
          <p:cNvPr name="Freeform 19" id="19"/>
          <p:cNvSpPr/>
          <p:nvPr/>
        </p:nvSpPr>
        <p:spPr>
          <a:xfrm flipH="false" flipV="false" rot="0">
            <a:off x="502063" y="5041324"/>
            <a:ext cx="7771772" cy="5143500"/>
          </a:xfrm>
          <a:custGeom>
            <a:avLst/>
            <a:gdLst/>
            <a:ahLst/>
            <a:cxnLst/>
            <a:rect r="r" b="b" t="t" l="l"/>
            <a:pathLst>
              <a:path h="5143500" w="7771772">
                <a:moveTo>
                  <a:pt x="0" y="0"/>
                </a:moveTo>
                <a:lnTo>
                  <a:pt x="7771772" y="0"/>
                </a:lnTo>
                <a:lnTo>
                  <a:pt x="7771772" y="5143500"/>
                </a:lnTo>
                <a:lnTo>
                  <a:pt x="0" y="51435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883880" y="6376173"/>
            <a:ext cx="6920159" cy="2731343"/>
          </a:xfrm>
          <a:prstGeom prst="rect">
            <a:avLst/>
          </a:prstGeom>
        </p:spPr>
        <p:txBody>
          <a:bodyPr anchor="t" rtlCol="false" tIns="0" lIns="0" bIns="0" rIns="0">
            <a:spAutoFit/>
          </a:bodyPr>
          <a:lstStyle/>
          <a:p>
            <a:pPr algn="just">
              <a:lnSpc>
                <a:spcPts val="4328"/>
              </a:lnSpc>
            </a:pPr>
            <a:r>
              <a:rPr lang="en-US" sz="3091">
                <a:solidFill>
                  <a:srgbClr val="081269"/>
                </a:solidFill>
                <a:latin typeface="Poppins"/>
                <a:ea typeface="Poppins"/>
                <a:cs typeface="Poppins"/>
                <a:sym typeface="Poppins"/>
              </a:rPr>
              <a:t>Để tăng khả nă</a:t>
            </a:r>
            <a:r>
              <a:rPr lang="en-US" sz="3091">
                <a:solidFill>
                  <a:srgbClr val="081269"/>
                </a:solidFill>
                <a:latin typeface="Poppins"/>
                <a:ea typeface="Poppins"/>
                <a:cs typeface="Poppins"/>
                <a:sym typeface="Poppins"/>
              </a:rPr>
              <a:t>n</a:t>
            </a:r>
            <a:r>
              <a:rPr lang="en-US" sz="3091">
                <a:solidFill>
                  <a:srgbClr val="081269"/>
                </a:solidFill>
                <a:latin typeface="Poppins"/>
                <a:ea typeface="Poppins"/>
                <a:cs typeface="Poppins"/>
                <a:sym typeface="Poppins"/>
              </a:rPr>
              <a:t>g phục vụ đồng thời nhiều người dùng, hệ thống áp dụng mô hình lập trình bất đồng bộ(</a:t>
            </a:r>
            <a:r>
              <a:rPr lang="en-US" sz="3091" b="true">
                <a:solidFill>
                  <a:srgbClr val="081269"/>
                </a:solidFill>
                <a:latin typeface="Poppins Bold"/>
                <a:ea typeface="Poppins Bold"/>
                <a:cs typeface="Poppins Bold"/>
                <a:sym typeface="Poppins Bold"/>
              </a:rPr>
              <a:t>Asynchronous Programming</a:t>
            </a:r>
            <a:r>
              <a:rPr lang="en-US" sz="3091">
                <a:solidFill>
                  <a:srgbClr val="081269"/>
                </a:solidFill>
                <a:latin typeface="Poppins"/>
                <a:ea typeface="Poppins"/>
                <a:cs typeface="Poppins"/>
                <a:sym typeface="Poppins"/>
              </a:rPr>
              <a:t>) thông qua từ khóa</a:t>
            </a:r>
            <a:r>
              <a:rPr lang="en-US" sz="3091" b="true">
                <a:solidFill>
                  <a:srgbClr val="081269"/>
                </a:solidFill>
                <a:latin typeface="Poppins Bold"/>
                <a:ea typeface="Poppins Bold"/>
                <a:cs typeface="Poppins Bold"/>
                <a:sym typeface="Poppins Bold"/>
              </a:rPr>
              <a:t> async</a:t>
            </a:r>
            <a:r>
              <a:rPr lang="en-US" sz="3091">
                <a:solidFill>
                  <a:srgbClr val="081269"/>
                </a:solidFill>
                <a:latin typeface="Poppins"/>
                <a:ea typeface="Poppins"/>
                <a:cs typeface="Poppins"/>
                <a:sym typeface="Poppins"/>
              </a:rPr>
              <a:t> và </a:t>
            </a:r>
            <a:r>
              <a:rPr lang="en-US" sz="3091" b="true">
                <a:solidFill>
                  <a:srgbClr val="081269"/>
                </a:solidFill>
                <a:latin typeface="Poppins Bold"/>
                <a:ea typeface="Poppins Bold"/>
                <a:cs typeface="Poppins Bold"/>
                <a:sym typeface="Poppins Bold"/>
              </a:rPr>
              <a:t>await</a:t>
            </a:r>
            <a:r>
              <a:rPr lang="en-US" sz="3091">
                <a:solidFill>
                  <a:srgbClr val="081269"/>
                </a:solidFill>
                <a:latin typeface="Poppins"/>
                <a:ea typeface="Poppins"/>
                <a:cs typeface="Poppins"/>
                <a:sym typeface="Poppins"/>
              </a:rPr>
              <a:t>.</a:t>
            </a:r>
          </a:p>
        </p:txBody>
      </p:sp>
      <p:sp>
        <p:nvSpPr>
          <p:cNvPr name="TextBox 21" id="21"/>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Thynk Unlimited</a:t>
            </a:r>
          </a:p>
        </p:txBody>
      </p:sp>
      <p:sp>
        <p:nvSpPr>
          <p:cNvPr name="TextBox 22" id="22"/>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GIAO THỨC ỨNG DỤNG</a:t>
            </a:r>
          </a:p>
        </p:txBody>
      </p:sp>
      <p:sp>
        <p:nvSpPr>
          <p:cNvPr name="TextBox 23" id="23"/>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24" id="24"/>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25" id="25"/>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solidFill>
                <a:latin typeface="Poppins Bold"/>
                <a:ea typeface="Poppins Bold"/>
                <a:cs typeface="Poppins Bold"/>
                <a:sym typeface="Poppins Bold"/>
              </a:rPr>
              <a:t>HIỆN THỨC HÓA HỆ THÔNG</a:t>
            </a:r>
          </a:p>
        </p:txBody>
      </p:sp>
      <p:sp>
        <p:nvSpPr>
          <p:cNvPr name="TextBox 26" id="26"/>
          <p:cNvSpPr txBox="true"/>
          <p:nvPr/>
        </p:nvSpPr>
        <p:spPr>
          <a:xfrm rot="0">
            <a:off x="1751817" y="5217058"/>
            <a:ext cx="3864767" cy="501891"/>
          </a:xfrm>
          <a:prstGeom prst="rect">
            <a:avLst/>
          </a:prstGeom>
        </p:spPr>
        <p:txBody>
          <a:bodyPr anchor="t" rtlCol="false" tIns="0" lIns="0" bIns="0" rIns="0">
            <a:spAutoFit/>
          </a:bodyPr>
          <a:lstStyle/>
          <a:p>
            <a:pPr algn="l">
              <a:lnSpc>
                <a:spcPts val="3836"/>
              </a:lnSpc>
            </a:pPr>
            <a:r>
              <a:rPr lang="en-US" sz="2740" b="true">
                <a:solidFill>
                  <a:srgbClr val="FFFFFF"/>
                </a:solidFill>
                <a:latin typeface="Poppins Bold"/>
                <a:ea typeface="Poppins Bold"/>
                <a:cs typeface="Poppins Bold"/>
                <a:sym typeface="Poppins Bold"/>
              </a:rPr>
              <a:t>CƠ CHẾ BẤT ĐỒNG BỘ</a:t>
            </a:r>
          </a:p>
        </p:txBody>
      </p:sp>
      <p:grpSp>
        <p:nvGrpSpPr>
          <p:cNvPr name="Group 27" id="27"/>
          <p:cNvGrpSpPr/>
          <p:nvPr/>
        </p:nvGrpSpPr>
        <p:grpSpPr>
          <a:xfrm rot="0">
            <a:off x="8541786" y="5718948"/>
            <a:ext cx="9607966" cy="2387294"/>
            <a:chOff x="0" y="0"/>
            <a:chExt cx="2530493" cy="628752"/>
          </a:xfrm>
        </p:grpSpPr>
        <p:sp>
          <p:nvSpPr>
            <p:cNvPr name="Freeform 28" id="28"/>
            <p:cNvSpPr/>
            <p:nvPr/>
          </p:nvSpPr>
          <p:spPr>
            <a:xfrm flipH="false" flipV="false" rot="0">
              <a:off x="0" y="0"/>
              <a:ext cx="2530493" cy="628752"/>
            </a:xfrm>
            <a:custGeom>
              <a:avLst/>
              <a:gdLst/>
              <a:ahLst/>
              <a:cxnLst/>
              <a:rect r="r" b="b" t="t" l="l"/>
              <a:pathLst>
                <a:path h="628752" w="2530493">
                  <a:moveTo>
                    <a:pt x="53182" y="0"/>
                  </a:moveTo>
                  <a:lnTo>
                    <a:pt x="2477311" y="0"/>
                  </a:lnTo>
                  <a:cubicBezTo>
                    <a:pt x="2491416" y="0"/>
                    <a:pt x="2504943" y="5603"/>
                    <a:pt x="2514916" y="15577"/>
                  </a:cubicBezTo>
                  <a:cubicBezTo>
                    <a:pt x="2524890" y="25550"/>
                    <a:pt x="2530493" y="39077"/>
                    <a:pt x="2530493" y="53182"/>
                  </a:cubicBezTo>
                  <a:lnTo>
                    <a:pt x="2530493" y="575571"/>
                  </a:lnTo>
                  <a:cubicBezTo>
                    <a:pt x="2530493" y="589676"/>
                    <a:pt x="2524890" y="603202"/>
                    <a:pt x="2514916" y="613176"/>
                  </a:cubicBezTo>
                  <a:cubicBezTo>
                    <a:pt x="2504943" y="623149"/>
                    <a:pt x="2491416" y="628752"/>
                    <a:pt x="2477311" y="628752"/>
                  </a:cubicBezTo>
                  <a:lnTo>
                    <a:pt x="53182" y="628752"/>
                  </a:lnTo>
                  <a:cubicBezTo>
                    <a:pt x="39077" y="628752"/>
                    <a:pt x="25550" y="623149"/>
                    <a:pt x="15577" y="613176"/>
                  </a:cubicBezTo>
                  <a:cubicBezTo>
                    <a:pt x="5603" y="603202"/>
                    <a:pt x="0" y="589676"/>
                    <a:pt x="0" y="575571"/>
                  </a:cubicBezTo>
                  <a:lnTo>
                    <a:pt x="0" y="53182"/>
                  </a:lnTo>
                  <a:cubicBezTo>
                    <a:pt x="0" y="39077"/>
                    <a:pt x="5603" y="25550"/>
                    <a:pt x="15577" y="15577"/>
                  </a:cubicBezTo>
                  <a:cubicBezTo>
                    <a:pt x="25550" y="5603"/>
                    <a:pt x="39077" y="0"/>
                    <a:pt x="53182" y="0"/>
                  </a:cubicBezTo>
                  <a:close/>
                </a:path>
              </a:pathLst>
            </a:custGeom>
            <a:solidFill>
              <a:srgbClr val="000C74"/>
            </a:solidFill>
          </p:spPr>
        </p:sp>
        <p:sp>
          <p:nvSpPr>
            <p:cNvPr name="TextBox 29" id="29"/>
            <p:cNvSpPr txBox="true"/>
            <p:nvPr/>
          </p:nvSpPr>
          <p:spPr>
            <a:xfrm>
              <a:off x="0" y="-85725"/>
              <a:ext cx="2530493" cy="714477"/>
            </a:xfrm>
            <a:prstGeom prst="rect">
              <a:avLst/>
            </a:prstGeom>
          </p:spPr>
          <p:txBody>
            <a:bodyPr anchor="ctr" rtlCol="false" tIns="50800" lIns="50800" bIns="50800" rIns="50800"/>
            <a:lstStyle/>
            <a:p>
              <a:pPr algn="ctr">
                <a:lnSpc>
                  <a:spcPts val="3851"/>
                </a:lnSpc>
              </a:pPr>
              <a:r>
                <a:rPr lang="en-US" sz="2751">
                  <a:solidFill>
                    <a:srgbClr val="4EBFFF"/>
                  </a:solidFill>
                  <a:latin typeface="Poppins"/>
                  <a:ea typeface="Poppins"/>
                  <a:cs typeface="Poppins"/>
                  <a:sym typeface="Poppins"/>
                </a:rPr>
                <a:t>await</a:t>
              </a:r>
              <a:r>
                <a:rPr lang="en-US" sz="2751">
                  <a:solidFill>
                    <a:srgbClr val="FFFFFF"/>
                  </a:solidFill>
                  <a:latin typeface="Poppins"/>
                  <a:ea typeface="Poppins"/>
                  <a:cs typeface="Poppins"/>
                  <a:sym typeface="Poppins"/>
                </a:rPr>
                <a:t> _listener.</a:t>
              </a:r>
              <a:r>
                <a:rPr lang="en-US" sz="2751">
                  <a:solidFill>
                    <a:srgbClr val="BB59FF"/>
                  </a:solidFill>
                  <a:latin typeface="Poppins"/>
                  <a:ea typeface="Poppins"/>
                  <a:cs typeface="Poppins"/>
                  <a:sym typeface="Poppins"/>
                </a:rPr>
                <a:t>AcceptTcpClientAsync</a:t>
              </a:r>
              <a:r>
                <a:rPr lang="en-US" sz="2751">
                  <a:solidFill>
                    <a:srgbClr val="4EBFFF"/>
                  </a:solidFill>
                  <a:latin typeface="Poppins"/>
                  <a:ea typeface="Poppins"/>
                  <a:cs typeface="Poppins"/>
                  <a:sym typeface="Poppins"/>
                </a:rPr>
                <a:t>(</a:t>
              </a:r>
              <a:r>
                <a:rPr lang="en-US" sz="2751">
                  <a:solidFill>
                    <a:srgbClr val="FFFFFF"/>
                  </a:solidFill>
                  <a:latin typeface="Poppins"/>
                  <a:ea typeface="Poppins"/>
                  <a:cs typeface="Poppins"/>
                  <a:sym typeface="Poppins"/>
                </a:rPr>
                <a:t>_cts.Token</a:t>
              </a:r>
              <a:r>
                <a:rPr lang="en-US" sz="2751">
                  <a:solidFill>
                    <a:srgbClr val="4EBFFF"/>
                  </a:solidFill>
                  <a:latin typeface="Poppins"/>
                  <a:ea typeface="Poppins"/>
                  <a:cs typeface="Poppins"/>
                  <a:sym typeface="Poppins"/>
                </a:rPr>
                <a:t>)</a:t>
              </a:r>
              <a:r>
                <a:rPr lang="en-US" sz="2751">
                  <a:solidFill>
                    <a:srgbClr val="FFFFFF"/>
                  </a:solidFill>
                  <a:latin typeface="Poppins"/>
                  <a:ea typeface="Poppins"/>
                  <a:cs typeface="Poppins"/>
                  <a:sym typeface="Poppins"/>
                </a:rPr>
                <a:t>;</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775877" y="3207105"/>
            <a:ext cx="12102391" cy="121023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425414" y="4856641"/>
            <a:ext cx="8803317" cy="880331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144000" y="-3334529"/>
            <a:ext cx="10084731" cy="5432955"/>
            <a:chOff x="0" y="0"/>
            <a:chExt cx="2656061" cy="1430902"/>
          </a:xfrm>
        </p:grpSpPr>
        <p:sp>
          <p:nvSpPr>
            <p:cNvPr name="Freeform 9" id="9"/>
            <p:cNvSpPr/>
            <p:nvPr/>
          </p:nvSpPr>
          <p:spPr>
            <a:xfrm flipH="false" flipV="false" rot="0">
              <a:off x="0" y="0"/>
              <a:ext cx="2656061" cy="1430902"/>
            </a:xfrm>
            <a:custGeom>
              <a:avLst/>
              <a:gdLst/>
              <a:ahLst/>
              <a:cxnLst/>
              <a:rect r="r" b="b" t="t" l="l"/>
              <a:pathLst>
                <a:path h="1430902" w="2656061">
                  <a:moveTo>
                    <a:pt x="23798" y="0"/>
                  </a:moveTo>
                  <a:lnTo>
                    <a:pt x="2632263" y="0"/>
                  </a:lnTo>
                  <a:cubicBezTo>
                    <a:pt x="2638574" y="0"/>
                    <a:pt x="2644628" y="2507"/>
                    <a:pt x="2649091" y="6970"/>
                  </a:cubicBezTo>
                  <a:cubicBezTo>
                    <a:pt x="2653554" y="11433"/>
                    <a:pt x="2656061" y="17487"/>
                    <a:pt x="2656061" y="23798"/>
                  </a:cubicBezTo>
                  <a:lnTo>
                    <a:pt x="2656061" y="1407103"/>
                  </a:lnTo>
                  <a:cubicBezTo>
                    <a:pt x="2656061" y="1413415"/>
                    <a:pt x="2653554" y="1419468"/>
                    <a:pt x="2649091" y="1423931"/>
                  </a:cubicBezTo>
                  <a:cubicBezTo>
                    <a:pt x="2644628" y="1428394"/>
                    <a:pt x="2638574" y="1430902"/>
                    <a:pt x="2632263" y="1430902"/>
                  </a:cubicBezTo>
                  <a:lnTo>
                    <a:pt x="23798" y="1430902"/>
                  </a:lnTo>
                  <a:cubicBezTo>
                    <a:pt x="17487" y="1430902"/>
                    <a:pt x="11433" y="1428394"/>
                    <a:pt x="6970" y="1423931"/>
                  </a:cubicBezTo>
                  <a:cubicBezTo>
                    <a:pt x="2507" y="1419468"/>
                    <a:pt x="0" y="1413415"/>
                    <a:pt x="0" y="1407103"/>
                  </a:cubicBezTo>
                  <a:lnTo>
                    <a:pt x="0" y="23798"/>
                  </a:lnTo>
                  <a:cubicBezTo>
                    <a:pt x="0" y="17487"/>
                    <a:pt x="2507" y="11433"/>
                    <a:pt x="6970" y="6970"/>
                  </a:cubicBezTo>
                  <a:cubicBezTo>
                    <a:pt x="11433" y="2507"/>
                    <a:pt x="17487" y="0"/>
                    <a:pt x="23798" y="0"/>
                  </a:cubicBezTo>
                  <a:close/>
                </a:path>
              </a:pathLst>
            </a:custGeom>
            <a:solidFill>
              <a:srgbClr val="000C74"/>
            </a:solidFill>
          </p:spPr>
        </p:sp>
        <p:sp>
          <p:nvSpPr>
            <p:cNvPr name="TextBox 10" id="10"/>
            <p:cNvSpPr txBox="true"/>
            <p:nvPr/>
          </p:nvSpPr>
          <p:spPr>
            <a:xfrm>
              <a:off x="0" y="-38100"/>
              <a:ext cx="2656061" cy="146900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440834" y="679099"/>
            <a:ext cx="4385302" cy="775403"/>
            <a:chOff x="0" y="0"/>
            <a:chExt cx="1200079" cy="212196"/>
          </a:xfrm>
        </p:grpSpPr>
        <p:sp>
          <p:nvSpPr>
            <p:cNvPr name="Freeform 12" id="12"/>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3" id="13"/>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4" id="14"/>
          <p:cNvSpPr/>
          <p:nvPr/>
        </p:nvSpPr>
        <p:spPr>
          <a:xfrm flipH="false" flipV="false" rot="0">
            <a:off x="14980552" y="2204752"/>
            <a:ext cx="2278748" cy="2278748"/>
          </a:xfrm>
          <a:custGeom>
            <a:avLst/>
            <a:gdLst/>
            <a:ahLst/>
            <a:cxnLst/>
            <a:rect r="r" b="b" t="t" l="l"/>
            <a:pathLst>
              <a:path h="2278748" w="2278748">
                <a:moveTo>
                  <a:pt x="0" y="0"/>
                </a:moveTo>
                <a:lnTo>
                  <a:pt x="2278748" y="0"/>
                </a:lnTo>
                <a:lnTo>
                  <a:pt x="2278748" y="2278748"/>
                </a:lnTo>
                <a:lnTo>
                  <a:pt x="0" y="22787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679811" y="5143500"/>
            <a:ext cx="7328297" cy="4850000"/>
          </a:xfrm>
          <a:custGeom>
            <a:avLst/>
            <a:gdLst/>
            <a:ahLst/>
            <a:cxnLst/>
            <a:rect r="r" b="b" t="t" l="l"/>
            <a:pathLst>
              <a:path h="4850000" w="7328297">
                <a:moveTo>
                  <a:pt x="0" y="0"/>
                </a:moveTo>
                <a:lnTo>
                  <a:pt x="7328297" y="0"/>
                </a:lnTo>
                <a:lnTo>
                  <a:pt x="7328297" y="4850000"/>
                </a:lnTo>
                <a:lnTo>
                  <a:pt x="0" y="4850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350358" y="3807054"/>
            <a:ext cx="19170744" cy="1234270"/>
          </a:xfrm>
          <a:prstGeom prst="rect">
            <a:avLst/>
          </a:prstGeom>
        </p:spPr>
        <p:txBody>
          <a:bodyPr anchor="t" rtlCol="false" tIns="0" lIns="0" bIns="0" rIns="0">
            <a:spAutoFit/>
          </a:bodyPr>
          <a:lstStyle/>
          <a:p>
            <a:pPr algn="l">
              <a:lnSpc>
                <a:spcPts val="9672"/>
              </a:lnSpc>
            </a:pPr>
            <a:r>
              <a:rPr lang="en-US" sz="6909">
                <a:solidFill>
                  <a:srgbClr val="081269"/>
                </a:solidFill>
                <a:latin typeface="Poppins"/>
                <a:ea typeface="Poppins"/>
                <a:cs typeface="Poppins"/>
                <a:sym typeface="Poppins"/>
              </a:rPr>
              <a:t>Xử lý đa luồng Async/Await</a:t>
            </a:r>
          </a:p>
        </p:txBody>
      </p:sp>
      <p:sp>
        <p:nvSpPr>
          <p:cNvPr name="TextBox 17" id="17"/>
          <p:cNvSpPr txBox="true"/>
          <p:nvPr/>
        </p:nvSpPr>
        <p:spPr>
          <a:xfrm rot="0">
            <a:off x="350358" y="1871377"/>
            <a:ext cx="12265511" cy="2126177"/>
          </a:xfrm>
          <a:prstGeom prst="rect">
            <a:avLst/>
          </a:prstGeom>
        </p:spPr>
        <p:txBody>
          <a:bodyPr anchor="t" rtlCol="false" tIns="0" lIns="0" bIns="0" rIns="0">
            <a:spAutoFit/>
          </a:bodyPr>
          <a:lstStyle/>
          <a:p>
            <a:pPr algn="l">
              <a:lnSpc>
                <a:spcPts val="16551"/>
              </a:lnSpc>
            </a:pPr>
            <a:r>
              <a:rPr lang="en-US" sz="11822" b="true">
                <a:solidFill>
                  <a:srgbClr val="081269"/>
                </a:solidFill>
                <a:latin typeface="Poppins Bold"/>
                <a:ea typeface="Poppins Bold"/>
                <a:cs typeface="Poppins Bold"/>
                <a:sym typeface="Poppins Bold"/>
              </a:rPr>
              <a:t>TCP Server</a:t>
            </a:r>
          </a:p>
        </p:txBody>
      </p:sp>
      <p:sp>
        <p:nvSpPr>
          <p:cNvPr name="Freeform 18" id="18"/>
          <p:cNvSpPr/>
          <p:nvPr/>
        </p:nvSpPr>
        <p:spPr>
          <a:xfrm flipH="false" flipV="false" rot="0">
            <a:off x="502063" y="5041324"/>
            <a:ext cx="7771772" cy="5143500"/>
          </a:xfrm>
          <a:custGeom>
            <a:avLst/>
            <a:gdLst/>
            <a:ahLst/>
            <a:cxnLst/>
            <a:rect r="r" b="b" t="t" l="l"/>
            <a:pathLst>
              <a:path h="5143500" w="7771772">
                <a:moveTo>
                  <a:pt x="0" y="0"/>
                </a:moveTo>
                <a:lnTo>
                  <a:pt x="7771772" y="0"/>
                </a:lnTo>
                <a:lnTo>
                  <a:pt x="7771772" y="5143500"/>
                </a:lnTo>
                <a:lnTo>
                  <a:pt x="0" y="5143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883880" y="6526957"/>
            <a:ext cx="6920159" cy="2731343"/>
          </a:xfrm>
          <a:prstGeom prst="rect">
            <a:avLst/>
          </a:prstGeom>
        </p:spPr>
        <p:txBody>
          <a:bodyPr anchor="t" rtlCol="false" tIns="0" lIns="0" bIns="0" rIns="0">
            <a:spAutoFit/>
          </a:bodyPr>
          <a:lstStyle/>
          <a:p>
            <a:pPr algn="just">
              <a:lnSpc>
                <a:spcPts val="4328"/>
              </a:lnSpc>
            </a:pPr>
            <a:r>
              <a:rPr lang="en-US" sz="3091">
                <a:solidFill>
                  <a:srgbClr val="081269"/>
                </a:solidFill>
                <a:latin typeface="Poppins"/>
                <a:ea typeface="Poppins"/>
                <a:cs typeface="Poppins"/>
                <a:sym typeface="Poppins"/>
              </a:rPr>
              <a:t>Mỗi kết nối Clie</a:t>
            </a:r>
            <a:r>
              <a:rPr lang="en-US" sz="3091">
                <a:solidFill>
                  <a:srgbClr val="081269"/>
                </a:solidFill>
                <a:latin typeface="Poppins"/>
                <a:ea typeface="Poppins"/>
                <a:cs typeface="Poppins"/>
                <a:sym typeface="Poppins"/>
              </a:rPr>
              <a:t>nt</a:t>
            </a:r>
            <a:r>
              <a:rPr lang="en-US" sz="3091">
                <a:solidFill>
                  <a:srgbClr val="081269"/>
                </a:solidFill>
                <a:latin typeface="Poppins"/>
                <a:ea typeface="Poppins"/>
                <a:cs typeface="Poppins"/>
                <a:sym typeface="Poppins"/>
              </a:rPr>
              <a:t> được xử lý bởi một đối tượng </a:t>
            </a:r>
            <a:r>
              <a:rPr lang="en-US" sz="3091" b="true">
                <a:solidFill>
                  <a:srgbClr val="081269"/>
                </a:solidFill>
                <a:latin typeface="Poppins Bold"/>
                <a:ea typeface="Poppins Bold"/>
                <a:cs typeface="Poppins Bold"/>
                <a:sym typeface="Poppins Bold"/>
              </a:rPr>
              <a:t>ClientHandler</a:t>
            </a:r>
            <a:r>
              <a:rPr lang="en-US" sz="3091">
                <a:solidFill>
                  <a:srgbClr val="081269"/>
                </a:solidFill>
                <a:latin typeface="Poppins"/>
                <a:ea typeface="Poppins"/>
                <a:cs typeface="Poppins"/>
                <a:sym typeface="Poppins"/>
              </a:rPr>
              <a:t> chạy trong một </a:t>
            </a:r>
            <a:r>
              <a:rPr lang="en-US" sz="3091" b="true">
                <a:solidFill>
                  <a:srgbClr val="081269"/>
                </a:solidFill>
                <a:latin typeface="Poppins Bold"/>
                <a:ea typeface="Poppins Bold"/>
                <a:cs typeface="Poppins Bold"/>
                <a:sym typeface="Poppins Bold"/>
              </a:rPr>
              <a:t>Task</a:t>
            </a:r>
            <a:r>
              <a:rPr lang="en-US" sz="3091">
                <a:solidFill>
                  <a:srgbClr val="081269"/>
                </a:solidFill>
                <a:latin typeface="Poppins"/>
                <a:ea typeface="Poppins"/>
                <a:cs typeface="Poppins"/>
                <a:sym typeface="Poppins"/>
              </a:rPr>
              <a:t> riê</a:t>
            </a:r>
            <a:r>
              <a:rPr lang="en-US" sz="3091">
                <a:solidFill>
                  <a:srgbClr val="081269"/>
                </a:solidFill>
                <a:latin typeface="Poppins"/>
                <a:ea typeface="Poppins"/>
                <a:cs typeface="Poppins"/>
                <a:sym typeface="Poppins"/>
              </a:rPr>
              <a:t>n</a:t>
            </a:r>
            <a:r>
              <a:rPr lang="en-US" sz="3091">
                <a:solidFill>
                  <a:srgbClr val="081269"/>
                </a:solidFill>
                <a:latin typeface="Poppins"/>
                <a:ea typeface="Poppins"/>
                <a:cs typeface="Poppins"/>
                <a:sym typeface="Poppins"/>
              </a:rPr>
              <a:t>g biệt, </a:t>
            </a:r>
            <a:r>
              <a:rPr lang="en-US" sz="3091">
                <a:solidFill>
                  <a:srgbClr val="081269"/>
                </a:solidFill>
                <a:latin typeface="Poppins"/>
                <a:ea typeface="Poppins"/>
                <a:cs typeface="Poppins"/>
                <a:sym typeface="Poppins"/>
              </a:rPr>
              <a:t>cho</a:t>
            </a:r>
            <a:r>
              <a:rPr lang="en-US" sz="3091">
                <a:solidFill>
                  <a:srgbClr val="081269"/>
                </a:solidFill>
                <a:latin typeface="Poppins"/>
                <a:ea typeface="Poppins"/>
                <a:cs typeface="Poppins"/>
                <a:sym typeface="Poppins"/>
              </a:rPr>
              <a:t> phép </a:t>
            </a:r>
            <a:r>
              <a:rPr lang="en-US" sz="3091">
                <a:solidFill>
                  <a:srgbClr val="081269"/>
                </a:solidFill>
                <a:latin typeface="Poppins"/>
                <a:ea typeface="Poppins"/>
                <a:cs typeface="Poppins"/>
                <a:sym typeface="Poppins"/>
              </a:rPr>
              <a:t>n</a:t>
            </a:r>
            <a:r>
              <a:rPr lang="en-US" sz="3091">
                <a:solidFill>
                  <a:srgbClr val="081269"/>
                </a:solidFill>
                <a:latin typeface="Poppins"/>
                <a:ea typeface="Poppins"/>
                <a:cs typeface="Poppins"/>
                <a:sym typeface="Poppins"/>
              </a:rPr>
              <a:t>hiề</a:t>
            </a:r>
            <a:r>
              <a:rPr lang="en-US" sz="3091">
                <a:solidFill>
                  <a:srgbClr val="081269"/>
                </a:solidFill>
                <a:latin typeface="Poppins"/>
                <a:ea typeface="Poppins"/>
                <a:cs typeface="Poppins"/>
                <a:sym typeface="Poppins"/>
              </a:rPr>
              <a:t>u ng</a:t>
            </a:r>
            <a:r>
              <a:rPr lang="en-US" sz="3091">
                <a:solidFill>
                  <a:srgbClr val="081269"/>
                </a:solidFill>
                <a:latin typeface="Poppins"/>
                <a:ea typeface="Poppins"/>
                <a:cs typeface="Poppins"/>
                <a:sym typeface="Poppins"/>
              </a:rPr>
              <a:t>ười dùng kết </a:t>
            </a:r>
            <a:r>
              <a:rPr lang="en-US" sz="3091">
                <a:solidFill>
                  <a:srgbClr val="081269"/>
                </a:solidFill>
                <a:latin typeface="Poppins"/>
                <a:ea typeface="Poppins"/>
                <a:cs typeface="Poppins"/>
                <a:sym typeface="Poppins"/>
              </a:rPr>
              <a:t>n</a:t>
            </a:r>
            <a:r>
              <a:rPr lang="en-US" sz="3091">
                <a:solidFill>
                  <a:srgbClr val="081269"/>
                </a:solidFill>
                <a:latin typeface="Poppins"/>
                <a:ea typeface="Poppins"/>
                <a:cs typeface="Poppins"/>
                <a:sym typeface="Poppins"/>
              </a:rPr>
              <a:t>ối và tr</a:t>
            </a:r>
            <a:r>
              <a:rPr lang="en-US" sz="3091">
                <a:solidFill>
                  <a:srgbClr val="081269"/>
                </a:solidFill>
                <a:latin typeface="Poppins"/>
                <a:ea typeface="Poppins"/>
                <a:cs typeface="Poppins"/>
                <a:sym typeface="Poppins"/>
              </a:rPr>
              <a:t>a</a:t>
            </a:r>
            <a:r>
              <a:rPr lang="en-US" sz="3091">
                <a:solidFill>
                  <a:srgbClr val="081269"/>
                </a:solidFill>
                <a:latin typeface="Poppins"/>
                <a:ea typeface="Poppins"/>
                <a:cs typeface="Poppins"/>
                <a:sym typeface="Poppins"/>
              </a:rPr>
              <a:t>o đổ</a:t>
            </a:r>
            <a:r>
              <a:rPr lang="en-US" sz="3091">
                <a:solidFill>
                  <a:srgbClr val="081269"/>
                </a:solidFill>
                <a:latin typeface="Poppins"/>
                <a:ea typeface="Poppins"/>
                <a:cs typeface="Poppins"/>
                <a:sym typeface="Poppins"/>
              </a:rPr>
              <a:t>i</a:t>
            </a:r>
            <a:r>
              <a:rPr lang="en-US" sz="3091">
                <a:solidFill>
                  <a:srgbClr val="081269"/>
                </a:solidFill>
                <a:latin typeface="Poppins"/>
                <a:ea typeface="Poppins"/>
                <a:cs typeface="Poppins"/>
                <a:sym typeface="Poppins"/>
              </a:rPr>
              <a:t> dữ liệu đồng </a:t>
            </a:r>
            <a:r>
              <a:rPr lang="en-US" sz="3091">
                <a:solidFill>
                  <a:srgbClr val="081269"/>
                </a:solidFill>
                <a:latin typeface="Poppins"/>
                <a:ea typeface="Poppins"/>
                <a:cs typeface="Poppins"/>
                <a:sym typeface="Poppins"/>
              </a:rPr>
              <a:t>t</a:t>
            </a:r>
            <a:r>
              <a:rPr lang="en-US" sz="3091">
                <a:solidFill>
                  <a:srgbClr val="081269"/>
                </a:solidFill>
                <a:latin typeface="Poppins"/>
                <a:ea typeface="Poppins"/>
                <a:cs typeface="Poppins"/>
                <a:sym typeface="Poppins"/>
              </a:rPr>
              <a:t>hời.</a:t>
            </a:r>
          </a:p>
        </p:txBody>
      </p:sp>
      <p:sp>
        <p:nvSpPr>
          <p:cNvPr name="TextBox 20" id="20"/>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Thynk Unlimited</a:t>
            </a:r>
          </a:p>
        </p:txBody>
      </p:sp>
      <p:sp>
        <p:nvSpPr>
          <p:cNvPr name="TextBox 21" id="21"/>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GIAO THỨC ỨNG DỤNG</a:t>
            </a:r>
          </a:p>
        </p:txBody>
      </p:sp>
      <p:sp>
        <p:nvSpPr>
          <p:cNvPr name="TextBox 22" id="22"/>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23" id="23"/>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24" id="24"/>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solidFill>
                <a:latin typeface="Poppins Bold"/>
                <a:ea typeface="Poppins Bold"/>
                <a:cs typeface="Poppins Bold"/>
                <a:sym typeface="Poppins Bold"/>
              </a:rPr>
              <a:t>HIỆN THỨC HÓA HỆ THÔNG</a:t>
            </a:r>
          </a:p>
        </p:txBody>
      </p:sp>
      <p:sp>
        <p:nvSpPr>
          <p:cNvPr name="TextBox 25" id="25"/>
          <p:cNvSpPr txBox="true"/>
          <p:nvPr/>
        </p:nvSpPr>
        <p:spPr>
          <a:xfrm rot="0">
            <a:off x="1751817" y="5217058"/>
            <a:ext cx="3864767" cy="501891"/>
          </a:xfrm>
          <a:prstGeom prst="rect">
            <a:avLst/>
          </a:prstGeom>
        </p:spPr>
        <p:txBody>
          <a:bodyPr anchor="t" rtlCol="false" tIns="0" lIns="0" bIns="0" rIns="0">
            <a:spAutoFit/>
          </a:bodyPr>
          <a:lstStyle/>
          <a:p>
            <a:pPr algn="l">
              <a:lnSpc>
                <a:spcPts val="3836"/>
              </a:lnSpc>
            </a:pPr>
            <a:r>
              <a:rPr lang="en-US" sz="2740" b="true">
                <a:solidFill>
                  <a:srgbClr val="FFFFFF"/>
                </a:solidFill>
                <a:latin typeface="Poppins Bold"/>
                <a:ea typeface="Poppins Bold"/>
                <a:cs typeface="Poppins Bold"/>
                <a:sym typeface="Poppins Bold"/>
              </a:rPr>
              <a:t>QUẢN LÝ ĐA LUỒNG</a:t>
            </a:r>
          </a:p>
        </p:txBody>
      </p:sp>
      <p:grpSp>
        <p:nvGrpSpPr>
          <p:cNvPr name="Group 26" id="26"/>
          <p:cNvGrpSpPr/>
          <p:nvPr/>
        </p:nvGrpSpPr>
        <p:grpSpPr>
          <a:xfrm rot="0">
            <a:off x="8541786" y="5079586"/>
            <a:ext cx="9607966" cy="2138493"/>
            <a:chOff x="0" y="0"/>
            <a:chExt cx="2530493" cy="563224"/>
          </a:xfrm>
        </p:grpSpPr>
        <p:sp>
          <p:nvSpPr>
            <p:cNvPr name="Freeform 27" id="27"/>
            <p:cNvSpPr/>
            <p:nvPr/>
          </p:nvSpPr>
          <p:spPr>
            <a:xfrm flipH="false" flipV="false" rot="0">
              <a:off x="0" y="0"/>
              <a:ext cx="2530493" cy="563224"/>
            </a:xfrm>
            <a:custGeom>
              <a:avLst/>
              <a:gdLst/>
              <a:ahLst/>
              <a:cxnLst/>
              <a:rect r="r" b="b" t="t" l="l"/>
              <a:pathLst>
                <a:path h="563224" w="2530493">
                  <a:moveTo>
                    <a:pt x="53182" y="0"/>
                  </a:moveTo>
                  <a:lnTo>
                    <a:pt x="2477311" y="0"/>
                  </a:lnTo>
                  <a:cubicBezTo>
                    <a:pt x="2491416" y="0"/>
                    <a:pt x="2504943" y="5603"/>
                    <a:pt x="2514916" y="15577"/>
                  </a:cubicBezTo>
                  <a:cubicBezTo>
                    <a:pt x="2524890" y="25550"/>
                    <a:pt x="2530493" y="39077"/>
                    <a:pt x="2530493" y="53182"/>
                  </a:cubicBezTo>
                  <a:lnTo>
                    <a:pt x="2530493" y="510043"/>
                  </a:lnTo>
                  <a:cubicBezTo>
                    <a:pt x="2530493" y="524147"/>
                    <a:pt x="2524890" y="537674"/>
                    <a:pt x="2514916" y="547648"/>
                  </a:cubicBezTo>
                  <a:cubicBezTo>
                    <a:pt x="2504943" y="557621"/>
                    <a:pt x="2491416" y="563224"/>
                    <a:pt x="2477311" y="563224"/>
                  </a:cubicBezTo>
                  <a:lnTo>
                    <a:pt x="53182" y="563224"/>
                  </a:lnTo>
                  <a:cubicBezTo>
                    <a:pt x="39077" y="563224"/>
                    <a:pt x="25550" y="557621"/>
                    <a:pt x="15577" y="547648"/>
                  </a:cubicBezTo>
                  <a:cubicBezTo>
                    <a:pt x="5603" y="537674"/>
                    <a:pt x="0" y="524147"/>
                    <a:pt x="0" y="510043"/>
                  </a:cubicBezTo>
                  <a:lnTo>
                    <a:pt x="0" y="53182"/>
                  </a:lnTo>
                  <a:cubicBezTo>
                    <a:pt x="0" y="39077"/>
                    <a:pt x="5603" y="25550"/>
                    <a:pt x="15577" y="15577"/>
                  </a:cubicBezTo>
                  <a:cubicBezTo>
                    <a:pt x="25550" y="5603"/>
                    <a:pt x="39077" y="0"/>
                    <a:pt x="53182" y="0"/>
                  </a:cubicBezTo>
                  <a:close/>
                </a:path>
              </a:pathLst>
            </a:custGeom>
            <a:solidFill>
              <a:srgbClr val="000C74"/>
            </a:solidFill>
          </p:spPr>
        </p:sp>
        <p:sp>
          <p:nvSpPr>
            <p:cNvPr name="TextBox 28" id="28"/>
            <p:cNvSpPr txBox="true"/>
            <p:nvPr/>
          </p:nvSpPr>
          <p:spPr>
            <a:xfrm>
              <a:off x="0" y="-85725"/>
              <a:ext cx="2530493" cy="648949"/>
            </a:xfrm>
            <a:prstGeom prst="rect">
              <a:avLst/>
            </a:prstGeom>
          </p:spPr>
          <p:txBody>
            <a:bodyPr anchor="ctr" rtlCol="false" tIns="50800" lIns="50800" bIns="50800" rIns="50800"/>
            <a:lstStyle/>
            <a:p>
              <a:pPr algn="ctr">
                <a:lnSpc>
                  <a:spcPts val="3851"/>
                </a:lnSpc>
              </a:pPr>
              <a:r>
                <a:rPr lang="en-US" sz="2751">
                  <a:solidFill>
                    <a:srgbClr val="0DFF00"/>
                  </a:solidFill>
                  <a:latin typeface="Poppins"/>
                  <a:ea typeface="Poppins"/>
                  <a:cs typeface="Poppins"/>
                  <a:sym typeface="Poppins"/>
                </a:rPr>
                <a:t>var</a:t>
              </a:r>
              <a:r>
                <a:rPr lang="en-US" sz="2751">
                  <a:solidFill>
                    <a:srgbClr val="4EBFFF"/>
                  </a:solidFill>
                  <a:latin typeface="Poppins"/>
                  <a:ea typeface="Poppins"/>
                  <a:cs typeface="Poppins"/>
                  <a:sym typeface="Poppins"/>
                </a:rPr>
                <a:t> </a:t>
              </a:r>
              <a:r>
                <a:rPr lang="en-US" sz="2751">
                  <a:solidFill>
                    <a:srgbClr val="AFF1FF"/>
                  </a:solidFill>
                  <a:latin typeface="Poppins"/>
                  <a:ea typeface="Poppins"/>
                  <a:cs typeface="Poppins"/>
                  <a:sym typeface="Poppins"/>
                </a:rPr>
                <a:t>handler </a:t>
              </a:r>
              <a:r>
                <a:rPr lang="en-US" sz="2751">
                  <a:solidFill>
                    <a:srgbClr val="4EBFFF"/>
                  </a:solidFill>
                  <a:latin typeface="Poppins"/>
                  <a:ea typeface="Poppins"/>
                  <a:cs typeface="Poppins"/>
                  <a:sym typeface="Poppins"/>
                </a:rPr>
                <a:t>= new </a:t>
              </a:r>
              <a:r>
                <a:rPr lang="en-US" sz="2751">
                  <a:solidFill>
                    <a:srgbClr val="0DFF00"/>
                  </a:solidFill>
                  <a:latin typeface="Poppins"/>
                  <a:ea typeface="Poppins"/>
                  <a:cs typeface="Poppins"/>
                  <a:sym typeface="Poppins"/>
                </a:rPr>
                <a:t>ClientHandler</a:t>
              </a:r>
              <a:r>
                <a:rPr lang="en-US" sz="2751">
                  <a:solidFill>
                    <a:srgbClr val="FFFFFF"/>
                  </a:solidFill>
                  <a:latin typeface="Poppins"/>
                  <a:ea typeface="Poppins"/>
                  <a:cs typeface="Poppins"/>
                  <a:sym typeface="Poppins"/>
                </a:rPr>
                <a:t>(tcpClient</a:t>
              </a:r>
              <a:r>
                <a:rPr lang="en-US" sz="2751">
                  <a:solidFill>
                    <a:srgbClr val="4EBFFF"/>
                  </a:solidFill>
                  <a:latin typeface="Poppins"/>
                  <a:ea typeface="Poppins"/>
                  <a:cs typeface="Poppins"/>
                  <a:sym typeface="Poppins"/>
                </a:rPr>
                <a:t>, this</a:t>
              </a:r>
              <a:r>
                <a:rPr lang="en-US" sz="2751">
                  <a:solidFill>
                    <a:srgbClr val="FFFFFF"/>
                  </a:solidFill>
                  <a:latin typeface="Poppins"/>
                  <a:ea typeface="Poppins"/>
                  <a:cs typeface="Poppins"/>
                  <a:sym typeface="Poppins"/>
                </a:rPr>
                <a:t>);</a:t>
              </a:r>
            </a:p>
          </p:txBody>
        </p:sp>
      </p:grpSp>
      <p:grpSp>
        <p:nvGrpSpPr>
          <p:cNvPr name="Group 29" id="29"/>
          <p:cNvGrpSpPr/>
          <p:nvPr/>
        </p:nvGrpSpPr>
        <p:grpSpPr>
          <a:xfrm rot="0">
            <a:off x="8541786" y="7613074"/>
            <a:ext cx="9607966" cy="2158242"/>
            <a:chOff x="0" y="0"/>
            <a:chExt cx="2530493" cy="568426"/>
          </a:xfrm>
        </p:grpSpPr>
        <p:sp>
          <p:nvSpPr>
            <p:cNvPr name="Freeform 30" id="30"/>
            <p:cNvSpPr/>
            <p:nvPr/>
          </p:nvSpPr>
          <p:spPr>
            <a:xfrm flipH="false" flipV="false" rot="0">
              <a:off x="0" y="0"/>
              <a:ext cx="2530493" cy="568426"/>
            </a:xfrm>
            <a:custGeom>
              <a:avLst/>
              <a:gdLst/>
              <a:ahLst/>
              <a:cxnLst/>
              <a:rect r="r" b="b" t="t" l="l"/>
              <a:pathLst>
                <a:path h="568426" w="2530493">
                  <a:moveTo>
                    <a:pt x="53182" y="0"/>
                  </a:moveTo>
                  <a:lnTo>
                    <a:pt x="2477311" y="0"/>
                  </a:lnTo>
                  <a:cubicBezTo>
                    <a:pt x="2491416" y="0"/>
                    <a:pt x="2504943" y="5603"/>
                    <a:pt x="2514916" y="15577"/>
                  </a:cubicBezTo>
                  <a:cubicBezTo>
                    <a:pt x="2524890" y="25550"/>
                    <a:pt x="2530493" y="39077"/>
                    <a:pt x="2530493" y="53182"/>
                  </a:cubicBezTo>
                  <a:lnTo>
                    <a:pt x="2530493" y="515244"/>
                  </a:lnTo>
                  <a:cubicBezTo>
                    <a:pt x="2530493" y="529349"/>
                    <a:pt x="2524890" y="542876"/>
                    <a:pt x="2514916" y="552849"/>
                  </a:cubicBezTo>
                  <a:cubicBezTo>
                    <a:pt x="2504943" y="562823"/>
                    <a:pt x="2491416" y="568426"/>
                    <a:pt x="2477311" y="568426"/>
                  </a:cubicBezTo>
                  <a:lnTo>
                    <a:pt x="53182" y="568426"/>
                  </a:lnTo>
                  <a:cubicBezTo>
                    <a:pt x="39077" y="568426"/>
                    <a:pt x="25550" y="562823"/>
                    <a:pt x="15577" y="552849"/>
                  </a:cubicBezTo>
                  <a:cubicBezTo>
                    <a:pt x="5603" y="542876"/>
                    <a:pt x="0" y="529349"/>
                    <a:pt x="0" y="515244"/>
                  </a:cubicBezTo>
                  <a:lnTo>
                    <a:pt x="0" y="53182"/>
                  </a:lnTo>
                  <a:cubicBezTo>
                    <a:pt x="0" y="39077"/>
                    <a:pt x="5603" y="25550"/>
                    <a:pt x="15577" y="15577"/>
                  </a:cubicBezTo>
                  <a:cubicBezTo>
                    <a:pt x="25550" y="5603"/>
                    <a:pt x="39077" y="0"/>
                    <a:pt x="53182" y="0"/>
                  </a:cubicBezTo>
                  <a:close/>
                </a:path>
              </a:pathLst>
            </a:custGeom>
            <a:solidFill>
              <a:srgbClr val="000C74"/>
            </a:solidFill>
          </p:spPr>
        </p:sp>
        <p:sp>
          <p:nvSpPr>
            <p:cNvPr name="TextBox 31" id="31"/>
            <p:cNvSpPr txBox="true"/>
            <p:nvPr/>
          </p:nvSpPr>
          <p:spPr>
            <a:xfrm>
              <a:off x="0" y="-85725"/>
              <a:ext cx="2530493" cy="654151"/>
            </a:xfrm>
            <a:prstGeom prst="rect">
              <a:avLst/>
            </a:prstGeom>
          </p:spPr>
          <p:txBody>
            <a:bodyPr anchor="ctr" rtlCol="false" tIns="50800" lIns="50800" bIns="50800" rIns="50800"/>
            <a:lstStyle/>
            <a:p>
              <a:pPr algn="ctr">
                <a:lnSpc>
                  <a:spcPts val="3851"/>
                </a:lnSpc>
              </a:pPr>
              <a:r>
                <a:rPr lang="en-US" sz="2751">
                  <a:solidFill>
                    <a:srgbClr val="0DFF00"/>
                  </a:solidFill>
                  <a:latin typeface="Poppins"/>
                  <a:ea typeface="Poppins"/>
                  <a:cs typeface="Poppins"/>
                  <a:sym typeface="Poppins"/>
                </a:rPr>
                <a:t>_ </a:t>
              </a:r>
              <a:r>
                <a:rPr lang="en-US" sz="2751">
                  <a:solidFill>
                    <a:srgbClr val="FFFFFF"/>
                  </a:solidFill>
                  <a:latin typeface="Poppins"/>
                  <a:ea typeface="Poppins"/>
                  <a:cs typeface="Poppins"/>
                  <a:sym typeface="Poppins"/>
                </a:rPr>
                <a:t>= </a:t>
              </a:r>
              <a:r>
                <a:rPr lang="en-US" sz="2751">
                  <a:solidFill>
                    <a:srgbClr val="0DFF00"/>
                  </a:solidFill>
                  <a:latin typeface="Poppins"/>
                  <a:ea typeface="Poppins"/>
                  <a:cs typeface="Poppins"/>
                  <a:sym typeface="Poppins"/>
                </a:rPr>
                <a:t>Task.Run</a:t>
              </a:r>
              <a:r>
                <a:rPr lang="en-US" sz="2751">
                  <a:solidFill>
                    <a:srgbClr val="BB59FF"/>
                  </a:solidFill>
                  <a:latin typeface="Poppins"/>
                  <a:ea typeface="Poppins"/>
                  <a:cs typeface="Poppins"/>
                  <a:sym typeface="Poppins"/>
                </a:rPr>
                <a:t>(</a:t>
              </a:r>
              <a:r>
                <a:rPr lang="en-US" sz="2751">
                  <a:solidFill>
                    <a:srgbClr val="4EBFFF"/>
                  </a:solidFill>
                  <a:latin typeface="Poppins"/>
                  <a:ea typeface="Poppins"/>
                  <a:cs typeface="Poppins"/>
                  <a:sym typeface="Poppins"/>
                </a:rPr>
                <a:t>() </a:t>
              </a:r>
              <a:r>
                <a:rPr lang="en-US" sz="2751">
                  <a:solidFill>
                    <a:srgbClr val="FFFFFF"/>
                  </a:solidFill>
                  <a:latin typeface="Poppins"/>
                  <a:ea typeface="Poppins"/>
                  <a:cs typeface="Poppins"/>
                  <a:sym typeface="Poppins"/>
                </a:rPr>
                <a:t>=&gt; handler</a:t>
              </a:r>
              <a:r>
                <a:rPr lang="en-US" sz="2751">
                  <a:solidFill>
                    <a:srgbClr val="F98AFF"/>
                  </a:solidFill>
                  <a:latin typeface="Poppins"/>
                  <a:ea typeface="Poppins"/>
                  <a:cs typeface="Poppins"/>
                  <a:sym typeface="Poppins"/>
                </a:rPr>
                <a:t>.HandleAsync</a:t>
              </a:r>
              <a:r>
                <a:rPr lang="en-US" sz="2751">
                  <a:solidFill>
                    <a:srgbClr val="4EBFFF"/>
                  </a:solidFill>
                  <a:latin typeface="Poppins"/>
                  <a:ea typeface="Poppins"/>
                  <a:cs typeface="Poppins"/>
                  <a:sym typeface="Poppins"/>
                </a:rPr>
                <a:t>(</a:t>
              </a:r>
              <a:r>
                <a:rPr lang="en-US" sz="2751">
                  <a:solidFill>
                    <a:srgbClr val="FFFFFF"/>
                  </a:solidFill>
                  <a:latin typeface="Poppins"/>
                  <a:ea typeface="Poppins"/>
                  <a:cs typeface="Poppins"/>
                  <a:sym typeface="Poppins"/>
                </a:rPr>
                <a:t>_cts.Token</a:t>
              </a:r>
              <a:r>
                <a:rPr lang="en-US" sz="2751">
                  <a:solidFill>
                    <a:srgbClr val="4EBFFF"/>
                  </a:solidFill>
                  <a:latin typeface="Poppins"/>
                  <a:ea typeface="Poppins"/>
                  <a:cs typeface="Poppins"/>
                  <a:sym typeface="Poppins"/>
                </a:rPr>
                <a:t>)</a:t>
              </a:r>
              <a:r>
                <a:rPr lang="en-US" sz="2751">
                  <a:solidFill>
                    <a:srgbClr val="BB59FF"/>
                  </a:solidFill>
                  <a:latin typeface="Poppins"/>
                  <a:ea typeface="Poppins"/>
                  <a:cs typeface="Poppins"/>
                  <a:sym typeface="Poppins"/>
                </a:rPr>
                <a:t>)</a:t>
              </a:r>
              <a:r>
                <a:rPr lang="en-US" sz="2751">
                  <a:solidFill>
                    <a:srgbClr val="FFFFFF"/>
                  </a:solidFill>
                  <a:latin typeface="Poppins"/>
                  <a:ea typeface="Poppins"/>
                  <a:cs typeface="Poppins"/>
                  <a:sym typeface="Poppins"/>
                </a:rPr>
                <a:t>;</a:t>
              </a:r>
            </a:p>
            <a:p>
              <a:pPr algn="ctr">
                <a:lnSpc>
                  <a:spcPts val="3851"/>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8775877" y="3207105"/>
            <a:ext cx="12102391" cy="121023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425414" y="4856641"/>
            <a:ext cx="8803317" cy="880331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9144000" y="-3334529"/>
            <a:ext cx="10084731" cy="5432955"/>
            <a:chOff x="0" y="0"/>
            <a:chExt cx="2656061" cy="1430902"/>
          </a:xfrm>
        </p:grpSpPr>
        <p:sp>
          <p:nvSpPr>
            <p:cNvPr name="Freeform 10" id="10"/>
            <p:cNvSpPr/>
            <p:nvPr/>
          </p:nvSpPr>
          <p:spPr>
            <a:xfrm flipH="false" flipV="false" rot="0">
              <a:off x="0" y="0"/>
              <a:ext cx="2656061" cy="1430902"/>
            </a:xfrm>
            <a:custGeom>
              <a:avLst/>
              <a:gdLst/>
              <a:ahLst/>
              <a:cxnLst/>
              <a:rect r="r" b="b" t="t" l="l"/>
              <a:pathLst>
                <a:path h="1430902" w="2656061">
                  <a:moveTo>
                    <a:pt x="23798" y="0"/>
                  </a:moveTo>
                  <a:lnTo>
                    <a:pt x="2632263" y="0"/>
                  </a:lnTo>
                  <a:cubicBezTo>
                    <a:pt x="2638574" y="0"/>
                    <a:pt x="2644628" y="2507"/>
                    <a:pt x="2649091" y="6970"/>
                  </a:cubicBezTo>
                  <a:cubicBezTo>
                    <a:pt x="2653554" y="11433"/>
                    <a:pt x="2656061" y="17487"/>
                    <a:pt x="2656061" y="23798"/>
                  </a:cubicBezTo>
                  <a:lnTo>
                    <a:pt x="2656061" y="1407103"/>
                  </a:lnTo>
                  <a:cubicBezTo>
                    <a:pt x="2656061" y="1413415"/>
                    <a:pt x="2653554" y="1419468"/>
                    <a:pt x="2649091" y="1423931"/>
                  </a:cubicBezTo>
                  <a:cubicBezTo>
                    <a:pt x="2644628" y="1428394"/>
                    <a:pt x="2638574" y="1430902"/>
                    <a:pt x="2632263" y="1430902"/>
                  </a:cubicBezTo>
                  <a:lnTo>
                    <a:pt x="23798" y="1430902"/>
                  </a:lnTo>
                  <a:cubicBezTo>
                    <a:pt x="17487" y="1430902"/>
                    <a:pt x="11433" y="1428394"/>
                    <a:pt x="6970" y="1423931"/>
                  </a:cubicBezTo>
                  <a:cubicBezTo>
                    <a:pt x="2507" y="1419468"/>
                    <a:pt x="0" y="1413415"/>
                    <a:pt x="0" y="1407103"/>
                  </a:cubicBezTo>
                  <a:lnTo>
                    <a:pt x="0" y="23798"/>
                  </a:lnTo>
                  <a:cubicBezTo>
                    <a:pt x="0" y="17487"/>
                    <a:pt x="2507" y="11433"/>
                    <a:pt x="6970" y="6970"/>
                  </a:cubicBezTo>
                  <a:cubicBezTo>
                    <a:pt x="11433" y="2507"/>
                    <a:pt x="17487" y="0"/>
                    <a:pt x="23798" y="0"/>
                  </a:cubicBezTo>
                  <a:close/>
                </a:path>
              </a:pathLst>
            </a:custGeom>
            <a:solidFill>
              <a:srgbClr val="000C74"/>
            </a:solidFill>
          </p:spPr>
        </p:sp>
        <p:sp>
          <p:nvSpPr>
            <p:cNvPr name="TextBox 11" id="11"/>
            <p:cNvSpPr txBox="true"/>
            <p:nvPr/>
          </p:nvSpPr>
          <p:spPr>
            <a:xfrm>
              <a:off x="0" y="-38100"/>
              <a:ext cx="2656061" cy="146900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40834" y="679099"/>
            <a:ext cx="4385302" cy="775403"/>
            <a:chOff x="0" y="0"/>
            <a:chExt cx="1200079" cy="212196"/>
          </a:xfrm>
        </p:grpSpPr>
        <p:sp>
          <p:nvSpPr>
            <p:cNvPr name="Freeform 13" id="13"/>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4" id="14"/>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5" id="15"/>
          <p:cNvSpPr/>
          <p:nvPr/>
        </p:nvSpPr>
        <p:spPr>
          <a:xfrm flipH="false" flipV="false" rot="0">
            <a:off x="14980552" y="2204752"/>
            <a:ext cx="2278748" cy="2278748"/>
          </a:xfrm>
          <a:custGeom>
            <a:avLst/>
            <a:gdLst/>
            <a:ahLst/>
            <a:cxnLst/>
            <a:rect r="r" b="b" t="t" l="l"/>
            <a:pathLst>
              <a:path h="2278748" w="2278748">
                <a:moveTo>
                  <a:pt x="0" y="0"/>
                </a:moveTo>
                <a:lnTo>
                  <a:pt x="2278748" y="0"/>
                </a:lnTo>
                <a:lnTo>
                  <a:pt x="2278748" y="2278748"/>
                </a:lnTo>
                <a:lnTo>
                  <a:pt x="0" y="22787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679811" y="5143500"/>
            <a:ext cx="7328297" cy="4850000"/>
          </a:xfrm>
          <a:custGeom>
            <a:avLst/>
            <a:gdLst/>
            <a:ahLst/>
            <a:cxnLst/>
            <a:rect r="r" b="b" t="t" l="l"/>
            <a:pathLst>
              <a:path h="4850000" w="7328297">
                <a:moveTo>
                  <a:pt x="0" y="0"/>
                </a:moveTo>
                <a:lnTo>
                  <a:pt x="7328297" y="0"/>
                </a:lnTo>
                <a:lnTo>
                  <a:pt x="7328297" y="4850000"/>
                </a:lnTo>
                <a:lnTo>
                  <a:pt x="0" y="48500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389903" y="3771115"/>
            <a:ext cx="19170744" cy="1234270"/>
          </a:xfrm>
          <a:prstGeom prst="rect">
            <a:avLst/>
          </a:prstGeom>
        </p:spPr>
        <p:txBody>
          <a:bodyPr anchor="t" rtlCol="false" tIns="0" lIns="0" bIns="0" rIns="0">
            <a:spAutoFit/>
          </a:bodyPr>
          <a:lstStyle/>
          <a:p>
            <a:pPr algn="l">
              <a:lnSpc>
                <a:spcPts val="9672"/>
              </a:lnSpc>
            </a:pPr>
            <a:r>
              <a:rPr lang="en-US" sz="6909">
                <a:solidFill>
                  <a:srgbClr val="081269"/>
                </a:solidFill>
                <a:latin typeface="Poppins"/>
                <a:ea typeface="Poppins"/>
                <a:cs typeface="Poppins"/>
                <a:sym typeface="Poppins"/>
              </a:rPr>
              <a:t>Xử lý đa luồng Async/Await</a:t>
            </a:r>
          </a:p>
        </p:txBody>
      </p:sp>
      <p:sp>
        <p:nvSpPr>
          <p:cNvPr name="TextBox 18" id="18"/>
          <p:cNvSpPr txBox="true"/>
          <p:nvPr/>
        </p:nvSpPr>
        <p:spPr>
          <a:xfrm rot="0">
            <a:off x="350358" y="1871377"/>
            <a:ext cx="12265511" cy="2126177"/>
          </a:xfrm>
          <a:prstGeom prst="rect">
            <a:avLst/>
          </a:prstGeom>
        </p:spPr>
        <p:txBody>
          <a:bodyPr anchor="t" rtlCol="false" tIns="0" lIns="0" bIns="0" rIns="0">
            <a:spAutoFit/>
          </a:bodyPr>
          <a:lstStyle/>
          <a:p>
            <a:pPr algn="l">
              <a:lnSpc>
                <a:spcPts val="16551"/>
              </a:lnSpc>
            </a:pPr>
            <a:r>
              <a:rPr lang="en-US" sz="11822" b="true">
                <a:solidFill>
                  <a:srgbClr val="081269"/>
                </a:solidFill>
                <a:latin typeface="Poppins Bold"/>
                <a:ea typeface="Poppins Bold"/>
                <a:cs typeface="Poppins Bold"/>
                <a:sym typeface="Poppins Bold"/>
              </a:rPr>
              <a:t>TCP Server</a:t>
            </a:r>
          </a:p>
        </p:txBody>
      </p:sp>
      <p:sp>
        <p:nvSpPr>
          <p:cNvPr name="Freeform 19" id="19"/>
          <p:cNvSpPr/>
          <p:nvPr/>
        </p:nvSpPr>
        <p:spPr>
          <a:xfrm flipH="false" flipV="false" rot="0">
            <a:off x="502063" y="5041324"/>
            <a:ext cx="7771772" cy="5143500"/>
          </a:xfrm>
          <a:custGeom>
            <a:avLst/>
            <a:gdLst/>
            <a:ahLst/>
            <a:cxnLst/>
            <a:rect r="r" b="b" t="t" l="l"/>
            <a:pathLst>
              <a:path h="5143500" w="7771772">
                <a:moveTo>
                  <a:pt x="0" y="0"/>
                </a:moveTo>
                <a:lnTo>
                  <a:pt x="7771772" y="0"/>
                </a:lnTo>
                <a:lnTo>
                  <a:pt x="7771772" y="5143500"/>
                </a:lnTo>
                <a:lnTo>
                  <a:pt x="0" y="51435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883880" y="6376173"/>
            <a:ext cx="6920159" cy="3274268"/>
          </a:xfrm>
          <a:prstGeom prst="rect">
            <a:avLst/>
          </a:prstGeom>
        </p:spPr>
        <p:txBody>
          <a:bodyPr anchor="t" rtlCol="false" tIns="0" lIns="0" bIns="0" rIns="0">
            <a:spAutoFit/>
          </a:bodyPr>
          <a:lstStyle/>
          <a:p>
            <a:pPr algn="just" marL="667523" indent="-333761" lvl="1">
              <a:lnSpc>
                <a:spcPts val="4328"/>
              </a:lnSpc>
              <a:buFont typeface="Arial"/>
              <a:buChar char="•"/>
            </a:pPr>
            <a:r>
              <a:rPr lang="en-US" sz="3091">
                <a:solidFill>
                  <a:srgbClr val="081269"/>
                </a:solidFill>
                <a:latin typeface="Poppins"/>
                <a:ea typeface="Poppins"/>
                <a:cs typeface="Poppins"/>
                <a:sym typeface="Poppins"/>
              </a:rPr>
              <a:t>Khô</a:t>
            </a:r>
            <a:r>
              <a:rPr lang="en-US" sz="3091">
                <a:solidFill>
                  <a:srgbClr val="081269"/>
                </a:solidFill>
                <a:latin typeface="Poppins"/>
                <a:ea typeface="Poppins"/>
                <a:cs typeface="Poppins"/>
                <a:sym typeface="Poppins"/>
              </a:rPr>
              <a:t>n</a:t>
            </a:r>
            <a:r>
              <a:rPr lang="en-US" sz="3091">
                <a:solidFill>
                  <a:srgbClr val="081269"/>
                </a:solidFill>
                <a:latin typeface="Poppins"/>
                <a:ea typeface="Poppins"/>
                <a:cs typeface="Poppins"/>
                <a:sym typeface="Poppins"/>
              </a:rPr>
              <a:t>g làm treo giao diện người dùng.</a:t>
            </a:r>
          </a:p>
          <a:p>
            <a:pPr algn="just" marL="667523" indent="-333761" lvl="1">
              <a:lnSpc>
                <a:spcPts val="4328"/>
              </a:lnSpc>
              <a:buFont typeface="Arial"/>
              <a:buChar char="•"/>
            </a:pPr>
            <a:r>
              <a:rPr lang="en-US" sz="3091">
                <a:solidFill>
                  <a:srgbClr val="081269"/>
                </a:solidFill>
                <a:latin typeface="Poppins"/>
                <a:ea typeface="Poppins"/>
                <a:cs typeface="Poppins"/>
                <a:sym typeface="Poppins"/>
              </a:rPr>
              <a:t>Tối ưu hóa tài nguyên hệ thống.</a:t>
            </a:r>
          </a:p>
          <a:p>
            <a:pPr algn="just" marL="667523" indent="-333761" lvl="1">
              <a:lnSpc>
                <a:spcPts val="4328"/>
              </a:lnSpc>
              <a:buFont typeface="Arial"/>
              <a:buChar char="•"/>
            </a:pPr>
            <a:r>
              <a:rPr lang="en-US" sz="3091">
                <a:solidFill>
                  <a:srgbClr val="081269"/>
                </a:solidFill>
                <a:latin typeface="Poppins"/>
                <a:ea typeface="Poppins"/>
                <a:cs typeface="Poppins"/>
                <a:sym typeface="Poppins"/>
              </a:rPr>
              <a:t>Hỗ trợ nhiều kết nối cùng lú</a:t>
            </a:r>
            <a:r>
              <a:rPr lang="en-US" sz="3091">
                <a:solidFill>
                  <a:srgbClr val="081269"/>
                </a:solidFill>
                <a:latin typeface="Poppins"/>
                <a:ea typeface="Poppins"/>
                <a:cs typeface="Poppins"/>
                <a:sym typeface="Poppins"/>
              </a:rPr>
              <a:t>c </a:t>
            </a:r>
            <a:r>
              <a:rPr lang="en-US" sz="3091">
                <a:solidFill>
                  <a:srgbClr val="081269"/>
                </a:solidFill>
                <a:latin typeface="Poppins"/>
                <a:ea typeface="Poppins"/>
                <a:cs typeface="Poppins"/>
                <a:sym typeface="Poppins"/>
              </a:rPr>
              <a:t>và tăng khả</a:t>
            </a:r>
            <a:r>
              <a:rPr lang="en-US" sz="3091">
                <a:solidFill>
                  <a:srgbClr val="081269"/>
                </a:solidFill>
                <a:latin typeface="Poppins"/>
                <a:ea typeface="Poppins"/>
                <a:cs typeface="Poppins"/>
                <a:sym typeface="Poppins"/>
              </a:rPr>
              <a:t> n</a:t>
            </a:r>
            <a:r>
              <a:rPr lang="en-US" sz="3091">
                <a:solidFill>
                  <a:srgbClr val="081269"/>
                </a:solidFill>
                <a:latin typeface="Poppins"/>
                <a:ea typeface="Poppins"/>
                <a:cs typeface="Poppins"/>
                <a:sym typeface="Poppins"/>
              </a:rPr>
              <a:t>ăng mở rộng.</a:t>
            </a:r>
          </a:p>
          <a:p>
            <a:pPr algn="just">
              <a:lnSpc>
                <a:spcPts val="4328"/>
              </a:lnSpc>
            </a:pPr>
          </a:p>
        </p:txBody>
      </p:sp>
      <p:sp>
        <p:nvSpPr>
          <p:cNvPr name="TextBox 21" id="21"/>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Thynk Unlimited</a:t>
            </a:r>
          </a:p>
        </p:txBody>
      </p:sp>
      <p:sp>
        <p:nvSpPr>
          <p:cNvPr name="TextBox 22" id="22"/>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GIAO THỨC ỨNG DỤNG</a:t>
            </a:r>
          </a:p>
        </p:txBody>
      </p:sp>
      <p:sp>
        <p:nvSpPr>
          <p:cNvPr name="TextBox 23" id="23"/>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24" id="24"/>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25" id="25"/>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solidFill>
                <a:latin typeface="Poppins Bold"/>
                <a:ea typeface="Poppins Bold"/>
                <a:cs typeface="Poppins Bold"/>
                <a:sym typeface="Poppins Bold"/>
              </a:rPr>
              <a:t>HIỆN THỨC HÓA HỆ THÔNG</a:t>
            </a:r>
          </a:p>
        </p:txBody>
      </p:sp>
      <p:sp>
        <p:nvSpPr>
          <p:cNvPr name="TextBox 26" id="26"/>
          <p:cNvSpPr txBox="true"/>
          <p:nvPr/>
        </p:nvSpPr>
        <p:spPr>
          <a:xfrm rot="0">
            <a:off x="1751817" y="5217058"/>
            <a:ext cx="3864767" cy="501891"/>
          </a:xfrm>
          <a:prstGeom prst="rect">
            <a:avLst/>
          </a:prstGeom>
        </p:spPr>
        <p:txBody>
          <a:bodyPr anchor="t" rtlCol="false" tIns="0" lIns="0" bIns="0" rIns="0">
            <a:spAutoFit/>
          </a:bodyPr>
          <a:lstStyle/>
          <a:p>
            <a:pPr algn="l">
              <a:lnSpc>
                <a:spcPts val="3836"/>
              </a:lnSpc>
            </a:pPr>
            <a:r>
              <a:rPr lang="en-US" sz="2740" b="true">
                <a:solidFill>
                  <a:srgbClr val="FFFFFF"/>
                </a:solidFill>
                <a:latin typeface="Poppins Bold"/>
                <a:ea typeface="Poppins Bold"/>
                <a:cs typeface="Poppins Bold"/>
                <a:sym typeface="Poppins Bold"/>
              </a:rPr>
              <a:t>ƯU ĐIỂM</a:t>
            </a:r>
          </a:p>
        </p:txBody>
      </p:sp>
      <p:sp>
        <p:nvSpPr>
          <p:cNvPr name="Freeform 27" id="27"/>
          <p:cNvSpPr/>
          <p:nvPr/>
        </p:nvSpPr>
        <p:spPr>
          <a:xfrm flipH="false" flipV="false" rot="0">
            <a:off x="9567700" y="5042936"/>
            <a:ext cx="7771772" cy="5143500"/>
          </a:xfrm>
          <a:custGeom>
            <a:avLst/>
            <a:gdLst/>
            <a:ahLst/>
            <a:cxnLst/>
            <a:rect r="r" b="b" t="t" l="l"/>
            <a:pathLst>
              <a:path h="5143500" w="7771772">
                <a:moveTo>
                  <a:pt x="0" y="0"/>
                </a:moveTo>
                <a:lnTo>
                  <a:pt x="7771772" y="0"/>
                </a:lnTo>
                <a:lnTo>
                  <a:pt x="7771772" y="5143500"/>
                </a:lnTo>
                <a:lnTo>
                  <a:pt x="0" y="51435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8" id="28"/>
          <p:cNvSpPr txBox="true"/>
          <p:nvPr/>
        </p:nvSpPr>
        <p:spPr>
          <a:xfrm rot="0">
            <a:off x="9745448" y="6587336"/>
            <a:ext cx="7174490" cy="2240618"/>
          </a:xfrm>
          <a:prstGeom prst="rect">
            <a:avLst/>
          </a:prstGeom>
        </p:spPr>
        <p:txBody>
          <a:bodyPr anchor="t" rtlCol="false" tIns="0" lIns="0" bIns="0" rIns="0">
            <a:spAutoFit/>
          </a:bodyPr>
          <a:lstStyle/>
          <a:p>
            <a:pPr algn="just">
              <a:lnSpc>
                <a:spcPts val="4456"/>
              </a:lnSpc>
            </a:pPr>
            <a:r>
              <a:rPr lang="en-US" sz="3182">
                <a:solidFill>
                  <a:srgbClr val="081269"/>
                </a:solidFill>
                <a:latin typeface="Poppins"/>
                <a:ea typeface="Poppins"/>
                <a:cs typeface="Poppins"/>
                <a:sym typeface="Poppins"/>
              </a:rPr>
              <a:t>Sử dụ</a:t>
            </a:r>
            <a:r>
              <a:rPr lang="en-US" sz="3182">
                <a:solidFill>
                  <a:srgbClr val="081269"/>
                </a:solidFill>
                <a:latin typeface="Poppins"/>
                <a:ea typeface="Poppins"/>
                <a:cs typeface="Poppins"/>
                <a:sym typeface="Poppins"/>
              </a:rPr>
              <a:t>n</a:t>
            </a:r>
            <a:r>
              <a:rPr lang="en-US" sz="3182">
                <a:solidFill>
                  <a:srgbClr val="081269"/>
                </a:solidFill>
                <a:latin typeface="Poppins"/>
                <a:ea typeface="Poppins"/>
                <a:cs typeface="Poppins"/>
                <a:sym typeface="Poppins"/>
              </a:rPr>
              <a:t>g ConcurrentDictionary để lưu trữ danh sách Client, đảm bảo tính an toàn khi nhiều luồng cùng truy cập</a:t>
            </a:r>
            <a:r>
              <a:rPr lang="en-US" sz="3182">
                <a:solidFill>
                  <a:srgbClr val="081269"/>
                </a:solidFill>
                <a:latin typeface="Poppins"/>
                <a:ea typeface="Poppins"/>
                <a:cs typeface="Poppins"/>
                <a:sym typeface="Poppins"/>
              </a:rPr>
              <a:t> dữ</a:t>
            </a:r>
            <a:r>
              <a:rPr lang="en-US" sz="3182">
                <a:solidFill>
                  <a:srgbClr val="081269"/>
                </a:solidFill>
                <a:latin typeface="Poppins"/>
                <a:ea typeface="Poppins"/>
                <a:cs typeface="Poppins"/>
                <a:sym typeface="Poppins"/>
              </a:rPr>
              <a:t> liệu.</a:t>
            </a:r>
          </a:p>
        </p:txBody>
      </p:sp>
      <p:sp>
        <p:nvSpPr>
          <p:cNvPr name="TextBox 29" id="29"/>
          <p:cNvSpPr txBox="true"/>
          <p:nvPr/>
        </p:nvSpPr>
        <p:spPr>
          <a:xfrm rot="0">
            <a:off x="10820402" y="5217058"/>
            <a:ext cx="3864767" cy="501891"/>
          </a:xfrm>
          <a:prstGeom prst="rect">
            <a:avLst/>
          </a:prstGeom>
        </p:spPr>
        <p:txBody>
          <a:bodyPr anchor="t" rtlCol="false" tIns="0" lIns="0" bIns="0" rIns="0">
            <a:spAutoFit/>
          </a:bodyPr>
          <a:lstStyle/>
          <a:p>
            <a:pPr algn="l">
              <a:lnSpc>
                <a:spcPts val="3836"/>
              </a:lnSpc>
            </a:pPr>
            <a:r>
              <a:rPr lang="en-US" sz="2740" b="true">
                <a:solidFill>
                  <a:srgbClr val="FFFFFF"/>
                </a:solidFill>
                <a:latin typeface="Poppins Bold"/>
                <a:ea typeface="Poppins Bold"/>
                <a:cs typeface="Poppins Bold"/>
                <a:sym typeface="Poppins Bold"/>
              </a:rPr>
              <a:t>AN TOÀN DỮ LIỆU</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sp>
        <p:nvSpPr>
          <p:cNvPr name="Freeform 2" id="2"/>
          <p:cNvSpPr/>
          <p:nvPr/>
        </p:nvSpPr>
        <p:spPr>
          <a:xfrm flipH="false" flipV="false" rot="0">
            <a:off x="7378912" y="-4173901"/>
            <a:ext cx="15411352" cy="15411352"/>
          </a:xfrm>
          <a:custGeom>
            <a:avLst/>
            <a:gdLst/>
            <a:ahLst/>
            <a:cxnLst/>
            <a:rect r="r" b="b" t="t" l="l"/>
            <a:pathLst>
              <a:path h="15411352" w="15411352">
                <a:moveTo>
                  <a:pt x="0" y="0"/>
                </a:moveTo>
                <a:lnTo>
                  <a:pt x="15411351" y="0"/>
                </a:lnTo>
                <a:lnTo>
                  <a:pt x="15411351" y="15411351"/>
                </a:lnTo>
                <a:lnTo>
                  <a:pt x="0" y="15411351"/>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40834" y="679099"/>
            <a:ext cx="4385302" cy="775403"/>
            <a:chOff x="0" y="0"/>
            <a:chExt cx="1200079" cy="212196"/>
          </a:xfrm>
        </p:grpSpPr>
        <p:sp>
          <p:nvSpPr>
            <p:cNvPr name="Freeform 5" id="5"/>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6" id="6"/>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pSp>
        <p:nvGrpSpPr>
          <p:cNvPr name="Group 7" id="7"/>
          <p:cNvGrpSpPr/>
          <p:nvPr/>
        </p:nvGrpSpPr>
        <p:grpSpPr>
          <a:xfrm rot="0">
            <a:off x="-4381686" y="7327310"/>
            <a:ext cx="8326153" cy="832615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4097008" y="7930621"/>
            <a:ext cx="7312348" cy="731234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C7C9FF">
                    <a:alpha val="69000"/>
                  </a:srgbClr>
                </a:gs>
              </a:gsLst>
              <a:lin ang="270000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aphicFrame>
        <p:nvGraphicFramePr>
          <p:cNvPr name="Object 13" id="13"/>
          <p:cNvGraphicFramePr/>
          <p:nvPr/>
        </p:nvGraphicFramePr>
        <p:xfrm>
          <a:off x="2446545" y="3890091"/>
          <a:ext cx="16230600" cy="6669649"/>
        </p:xfrm>
        <a:graphic>
          <a:graphicData uri="http://schemas.openxmlformats.org/presentationml/2006/ole">
            <p:oleObj imgW="19469100" imgH="99060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14" id="14"/>
          <p:cNvSpPr txBox="true"/>
          <p:nvPr/>
        </p:nvSpPr>
        <p:spPr>
          <a:xfrm rot="0">
            <a:off x="1740474" y="1452689"/>
            <a:ext cx="12933353" cy="1769732"/>
          </a:xfrm>
          <a:prstGeom prst="rect">
            <a:avLst/>
          </a:prstGeom>
        </p:spPr>
        <p:txBody>
          <a:bodyPr anchor="t" rtlCol="false" tIns="0" lIns="0" bIns="0" rIns="0">
            <a:spAutoFit/>
          </a:bodyPr>
          <a:lstStyle/>
          <a:p>
            <a:pPr algn="l">
              <a:lnSpc>
                <a:spcPts val="13788"/>
              </a:lnSpc>
            </a:pPr>
            <a:r>
              <a:rPr lang="en-US" sz="9849" b="true">
                <a:solidFill>
                  <a:srgbClr val="FFFFFF"/>
                </a:solidFill>
                <a:latin typeface="Poppins Bold"/>
                <a:ea typeface="Poppins Bold"/>
                <a:cs typeface="Poppins Bold"/>
                <a:sym typeface="Poppins Bold"/>
              </a:rPr>
              <a:t>Room Management</a:t>
            </a:r>
          </a:p>
        </p:txBody>
      </p:sp>
      <p:sp>
        <p:nvSpPr>
          <p:cNvPr name="TextBox 15" id="15"/>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16" id="16"/>
          <p:cNvSpPr txBox="true"/>
          <p:nvPr/>
        </p:nvSpPr>
        <p:spPr>
          <a:xfrm rot="0">
            <a:off x="13890575" y="682007"/>
            <a:ext cx="1589190" cy="693386"/>
          </a:xfrm>
          <a:prstGeom prst="rect">
            <a:avLst/>
          </a:prstGeom>
        </p:spPr>
        <p:txBody>
          <a:bodyPr anchor="t" rtlCol="false" tIns="0" lIns="0" bIns="0" rIns="0">
            <a:spAutoFit/>
          </a:bodyPr>
          <a:lstStyle/>
          <a:p>
            <a:pPr algn="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GIAO THỨC ỨNG DỤNG</a:t>
            </a:r>
          </a:p>
        </p:txBody>
      </p:sp>
      <p:sp>
        <p:nvSpPr>
          <p:cNvPr name="TextBox 17" id="17"/>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18" id="18"/>
          <p:cNvSpPr txBox="true"/>
          <p:nvPr/>
        </p:nvSpPr>
        <p:spPr>
          <a:xfrm rot="0">
            <a:off x="11609447" y="703973"/>
            <a:ext cx="1907082" cy="693386"/>
          </a:xfrm>
          <a:prstGeom prst="rect">
            <a:avLst/>
          </a:prstGeom>
        </p:spPr>
        <p:txBody>
          <a:bodyPr anchor="t" rtlCol="false" tIns="0" lIns="0" bIns="0" rIns="0">
            <a:spAutoFit/>
          </a:bodyPr>
          <a:lstStyle/>
          <a:p>
            <a:pPr algn="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PHÂN TÍCH THIẾT KẾ</a:t>
            </a:r>
          </a:p>
        </p:txBody>
      </p:sp>
      <p:sp>
        <p:nvSpPr>
          <p:cNvPr name="TextBox 19" id="19"/>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solidFill>
                <a:latin typeface="Poppins Bold"/>
                <a:ea typeface="Poppins Bold"/>
                <a:cs typeface="Poppins Bold"/>
                <a:sym typeface="Poppins Bold"/>
              </a:rPr>
              <a:t>HIỆN THỨC HÓA HỆ THÔNG</a:t>
            </a:r>
          </a:p>
        </p:txBody>
      </p:sp>
      <p:sp>
        <p:nvSpPr>
          <p:cNvPr name="TextBox 20" id="20"/>
          <p:cNvSpPr txBox="true"/>
          <p:nvPr/>
        </p:nvSpPr>
        <p:spPr>
          <a:xfrm rot="0">
            <a:off x="1751817" y="3155746"/>
            <a:ext cx="7114539" cy="458120"/>
          </a:xfrm>
          <a:prstGeom prst="rect">
            <a:avLst/>
          </a:prstGeom>
        </p:spPr>
        <p:txBody>
          <a:bodyPr anchor="t" rtlCol="false" tIns="0" lIns="0" bIns="0" rIns="0">
            <a:spAutoFit/>
          </a:bodyPr>
          <a:lstStyle/>
          <a:p>
            <a:pPr algn="l">
              <a:lnSpc>
                <a:spcPts val="3624"/>
              </a:lnSpc>
            </a:pPr>
            <a:r>
              <a:rPr lang="en-US" sz="2588" b="true">
                <a:solidFill>
                  <a:srgbClr val="FFFFFF"/>
                </a:solidFill>
                <a:latin typeface="Poppins Bold"/>
                <a:ea typeface="Poppins Bold"/>
                <a:cs typeface="Poppins Bold"/>
                <a:sym typeface="Poppins Bold"/>
              </a:rPr>
              <a:t>Room model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sp>
        <p:nvSpPr>
          <p:cNvPr name="Freeform 2" id="2"/>
          <p:cNvSpPr/>
          <p:nvPr/>
        </p:nvSpPr>
        <p:spPr>
          <a:xfrm flipH="false" flipV="false" rot="0">
            <a:off x="7378912" y="-4173901"/>
            <a:ext cx="15411352" cy="15411352"/>
          </a:xfrm>
          <a:custGeom>
            <a:avLst/>
            <a:gdLst/>
            <a:ahLst/>
            <a:cxnLst/>
            <a:rect r="r" b="b" t="t" l="l"/>
            <a:pathLst>
              <a:path h="15411352" w="15411352">
                <a:moveTo>
                  <a:pt x="0" y="0"/>
                </a:moveTo>
                <a:lnTo>
                  <a:pt x="15411351" y="0"/>
                </a:lnTo>
                <a:lnTo>
                  <a:pt x="15411351" y="15411351"/>
                </a:lnTo>
                <a:lnTo>
                  <a:pt x="0" y="15411351"/>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40834" y="679099"/>
            <a:ext cx="4385302" cy="775403"/>
            <a:chOff x="0" y="0"/>
            <a:chExt cx="1200079" cy="212196"/>
          </a:xfrm>
        </p:grpSpPr>
        <p:sp>
          <p:nvSpPr>
            <p:cNvPr name="Freeform 5" id="5"/>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6" id="6"/>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pSp>
        <p:nvGrpSpPr>
          <p:cNvPr name="Group 7" id="7"/>
          <p:cNvGrpSpPr/>
          <p:nvPr/>
        </p:nvGrpSpPr>
        <p:grpSpPr>
          <a:xfrm rot="0">
            <a:off x="-4381686" y="7327310"/>
            <a:ext cx="8326153" cy="832615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4097008" y="7930621"/>
            <a:ext cx="7312348" cy="731234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C7C9FF">
                    <a:alpha val="69000"/>
                  </a:srgbClr>
                </a:gs>
              </a:gsLst>
              <a:lin ang="270000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784856" y="4813733"/>
            <a:ext cx="7650367" cy="1343663"/>
            <a:chOff x="0" y="0"/>
            <a:chExt cx="2014911" cy="353886"/>
          </a:xfrm>
        </p:grpSpPr>
        <p:sp>
          <p:nvSpPr>
            <p:cNvPr name="Freeform 14" id="14"/>
            <p:cNvSpPr/>
            <p:nvPr/>
          </p:nvSpPr>
          <p:spPr>
            <a:xfrm flipH="false" flipV="false" rot="0">
              <a:off x="0" y="0"/>
              <a:ext cx="2014912" cy="353886"/>
            </a:xfrm>
            <a:custGeom>
              <a:avLst/>
              <a:gdLst/>
              <a:ahLst/>
              <a:cxnLst/>
              <a:rect r="r" b="b" t="t" l="l"/>
              <a:pathLst>
                <a:path h="353886" w="2014912">
                  <a:moveTo>
                    <a:pt x="31371" y="0"/>
                  </a:moveTo>
                  <a:lnTo>
                    <a:pt x="1983541" y="0"/>
                  </a:lnTo>
                  <a:cubicBezTo>
                    <a:pt x="2000866" y="0"/>
                    <a:pt x="2014912" y="14045"/>
                    <a:pt x="2014912" y="31371"/>
                  </a:cubicBezTo>
                  <a:lnTo>
                    <a:pt x="2014912" y="322515"/>
                  </a:lnTo>
                  <a:cubicBezTo>
                    <a:pt x="2014912" y="330836"/>
                    <a:pt x="2011606" y="338815"/>
                    <a:pt x="2005723" y="344698"/>
                  </a:cubicBezTo>
                  <a:cubicBezTo>
                    <a:pt x="1999840" y="350581"/>
                    <a:pt x="1991861" y="353886"/>
                    <a:pt x="1983541" y="353886"/>
                  </a:cubicBezTo>
                  <a:lnTo>
                    <a:pt x="31371" y="353886"/>
                  </a:lnTo>
                  <a:cubicBezTo>
                    <a:pt x="14045" y="353886"/>
                    <a:pt x="0" y="339841"/>
                    <a:pt x="0" y="322515"/>
                  </a:cubicBezTo>
                  <a:lnTo>
                    <a:pt x="0" y="31371"/>
                  </a:lnTo>
                  <a:cubicBezTo>
                    <a:pt x="0" y="14045"/>
                    <a:pt x="14045" y="0"/>
                    <a:pt x="31371" y="0"/>
                  </a:cubicBezTo>
                  <a:close/>
                </a:path>
              </a:pathLst>
            </a:custGeom>
            <a:solidFill>
              <a:srgbClr val="ACB0F2"/>
            </a:solidFill>
          </p:spPr>
        </p:sp>
        <p:sp>
          <p:nvSpPr>
            <p:cNvPr name="TextBox 15" id="15"/>
            <p:cNvSpPr txBox="true"/>
            <p:nvPr/>
          </p:nvSpPr>
          <p:spPr>
            <a:xfrm>
              <a:off x="0" y="-57150"/>
              <a:ext cx="2014911" cy="411036"/>
            </a:xfrm>
            <a:prstGeom prst="rect">
              <a:avLst/>
            </a:prstGeom>
          </p:spPr>
          <p:txBody>
            <a:bodyPr anchor="ctr" rtlCol="false" tIns="50800" lIns="50800" bIns="50800" rIns="50800"/>
            <a:lstStyle/>
            <a:p>
              <a:pPr algn="ctr">
                <a:lnSpc>
                  <a:spcPts val="2731"/>
                </a:lnSpc>
              </a:pPr>
            </a:p>
          </p:txBody>
        </p:sp>
      </p:grpSp>
      <p:grpSp>
        <p:nvGrpSpPr>
          <p:cNvPr name="Group 16" id="16"/>
          <p:cNvGrpSpPr/>
          <p:nvPr/>
        </p:nvGrpSpPr>
        <p:grpSpPr>
          <a:xfrm rot="0">
            <a:off x="1784856" y="6433621"/>
            <a:ext cx="7650367" cy="1343663"/>
            <a:chOff x="0" y="0"/>
            <a:chExt cx="2014911" cy="353886"/>
          </a:xfrm>
        </p:grpSpPr>
        <p:sp>
          <p:nvSpPr>
            <p:cNvPr name="Freeform 17" id="17"/>
            <p:cNvSpPr/>
            <p:nvPr/>
          </p:nvSpPr>
          <p:spPr>
            <a:xfrm flipH="false" flipV="false" rot="0">
              <a:off x="0" y="0"/>
              <a:ext cx="2014912" cy="353886"/>
            </a:xfrm>
            <a:custGeom>
              <a:avLst/>
              <a:gdLst/>
              <a:ahLst/>
              <a:cxnLst/>
              <a:rect r="r" b="b" t="t" l="l"/>
              <a:pathLst>
                <a:path h="353886" w="2014912">
                  <a:moveTo>
                    <a:pt x="31371" y="0"/>
                  </a:moveTo>
                  <a:lnTo>
                    <a:pt x="1983541" y="0"/>
                  </a:lnTo>
                  <a:cubicBezTo>
                    <a:pt x="2000866" y="0"/>
                    <a:pt x="2014912" y="14045"/>
                    <a:pt x="2014912" y="31371"/>
                  </a:cubicBezTo>
                  <a:lnTo>
                    <a:pt x="2014912" y="322515"/>
                  </a:lnTo>
                  <a:cubicBezTo>
                    <a:pt x="2014912" y="330836"/>
                    <a:pt x="2011606" y="338815"/>
                    <a:pt x="2005723" y="344698"/>
                  </a:cubicBezTo>
                  <a:cubicBezTo>
                    <a:pt x="1999840" y="350581"/>
                    <a:pt x="1991861" y="353886"/>
                    <a:pt x="1983541" y="353886"/>
                  </a:cubicBezTo>
                  <a:lnTo>
                    <a:pt x="31371" y="353886"/>
                  </a:lnTo>
                  <a:cubicBezTo>
                    <a:pt x="14045" y="353886"/>
                    <a:pt x="0" y="339841"/>
                    <a:pt x="0" y="322515"/>
                  </a:cubicBezTo>
                  <a:lnTo>
                    <a:pt x="0" y="31371"/>
                  </a:lnTo>
                  <a:cubicBezTo>
                    <a:pt x="0" y="14045"/>
                    <a:pt x="14045" y="0"/>
                    <a:pt x="31371" y="0"/>
                  </a:cubicBezTo>
                  <a:close/>
                </a:path>
              </a:pathLst>
            </a:custGeom>
            <a:solidFill>
              <a:srgbClr val="ACB0F2"/>
            </a:solidFill>
          </p:spPr>
        </p:sp>
        <p:sp>
          <p:nvSpPr>
            <p:cNvPr name="TextBox 18" id="18"/>
            <p:cNvSpPr txBox="true"/>
            <p:nvPr/>
          </p:nvSpPr>
          <p:spPr>
            <a:xfrm>
              <a:off x="0" y="-57150"/>
              <a:ext cx="2014911" cy="411036"/>
            </a:xfrm>
            <a:prstGeom prst="rect">
              <a:avLst/>
            </a:prstGeom>
          </p:spPr>
          <p:txBody>
            <a:bodyPr anchor="ctr" rtlCol="false" tIns="50800" lIns="50800" bIns="50800" rIns="50800"/>
            <a:lstStyle/>
            <a:p>
              <a:pPr algn="ctr">
                <a:lnSpc>
                  <a:spcPts val="2731"/>
                </a:lnSpc>
              </a:pPr>
            </a:p>
          </p:txBody>
        </p:sp>
      </p:grpSp>
      <p:grpSp>
        <p:nvGrpSpPr>
          <p:cNvPr name="Group 19" id="19"/>
          <p:cNvGrpSpPr/>
          <p:nvPr/>
        </p:nvGrpSpPr>
        <p:grpSpPr>
          <a:xfrm rot="0">
            <a:off x="1784856" y="8083537"/>
            <a:ext cx="7650367" cy="1343663"/>
            <a:chOff x="0" y="0"/>
            <a:chExt cx="2014911" cy="353886"/>
          </a:xfrm>
        </p:grpSpPr>
        <p:sp>
          <p:nvSpPr>
            <p:cNvPr name="Freeform 20" id="20"/>
            <p:cNvSpPr/>
            <p:nvPr/>
          </p:nvSpPr>
          <p:spPr>
            <a:xfrm flipH="false" flipV="false" rot="0">
              <a:off x="0" y="0"/>
              <a:ext cx="2014912" cy="353886"/>
            </a:xfrm>
            <a:custGeom>
              <a:avLst/>
              <a:gdLst/>
              <a:ahLst/>
              <a:cxnLst/>
              <a:rect r="r" b="b" t="t" l="l"/>
              <a:pathLst>
                <a:path h="353886" w="2014912">
                  <a:moveTo>
                    <a:pt x="31371" y="0"/>
                  </a:moveTo>
                  <a:lnTo>
                    <a:pt x="1983541" y="0"/>
                  </a:lnTo>
                  <a:cubicBezTo>
                    <a:pt x="2000866" y="0"/>
                    <a:pt x="2014912" y="14045"/>
                    <a:pt x="2014912" y="31371"/>
                  </a:cubicBezTo>
                  <a:lnTo>
                    <a:pt x="2014912" y="322515"/>
                  </a:lnTo>
                  <a:cubicBezTo>
                    <a:pt x="2014912" y="330836"/>
                    <a:pt x="2011606" y="338815"/>
                    <a:pt x="2005723" y="344698"/>
                  </a:cubicBezTo>
                  <a:cubicBezTo>
                    <a:pt x="1999840" y="350581"/>
                    <a:pt x="1991861" y="353886"/>
                    <a:pt x="1983541" y="353886"/>
                  </a:cubicBezTo>
                  <a:lnTo>
                    <a:pt x="31371" y="353886"/>
                  </a:lnTo>
                  <a:cubicBezTo>
                    <a:pt x="14045" y="353886"/>
                    <a:pt x="0" y="339841"/>
                    <a:pt x="0" y="322515"/>
                  </a:cubicBezTo>
                  <a:lnTo>
                    <a:pt x="0" y="31371"/>
                  </a:lnTo>
                  <a:cubicBezTo>
                    <a:pt x="0" y="14045"/>
                    <a:pt x="14045" y="0"/>
                    <a:pt x="31371" y="0"/>
                  </a:cubicBezTo>
                  <a:close/>
                </a:path>
              </a:pathLst>
            </a:custGeom>
            <a:solidFill>
              <a:srgbClr val="ACB0F2"/>
            </a:solidFill>
          </p:spPr>
        </p:sp>
        <p:sp>
          <p:nvSpPr>
            <p:cNvPr name="TextBox 21" id="21"/>
            <p:cNvSpPr txBox="true"/>
            <p:nvPr/>
          </p:nvSpPr>
          <p:spPr>
            <a:xfrm>
              <a:off x="0" y="-57150"/>
              <a:ext cx="2014911" cy="411036"/>
            </a:xfrm>
            <a:prstGeom prst="rect">
              <a:avLst/>
            </a:prstGeom>
          </p:spPr>
          <p:txBody>
            <a:bodyPr anchor="ctr" rtlCol="false" tIns="50800" lIns="50800" bIns="50800" rIns="50800"/>
            <a:lstStyle/>
            <a:p>
              <a:pPr algn="ctr">
                <a:lnSpc>
                  <a:spcPts val="2731"/>
                </a:lnSpc>
              </a:pPr>
            </a:p>
          </p:txBody>
        </p:sp>
      </p:grpSp>
      <p:grpSp>
        <p:nvGrpSpPr>
          <p:cNvPr name="Group 22" id="22"/>
          <p:cNvGrpSpPr/>
          <p:nvPr/>
        </p:nvGrpSpPr>
        <p:grpSpPr>
          <a:xfrm rot="0">
            <a:off x="9975275" y="4813733"/>
            <a:ext cx="7650367" cy="1343663"/>
            <a:chOff x="0" y="0"/>
            <a:chExt cx="2014911" cy="353886"/>
          </a:xfrm>
        </p:grpSpPr>
        <p:sp>
          <p:nvSpPr>
            <p:cNvPr name="Freeform 23" id="23"/>
            <p:cNvSpPr/>
            <p:nvPr/>
          </p:nvSpPr>
          <p:spPr>
            <a:xfrm flipH="false" flipV="false" rot="0">
              <a:off x="0" y="0"/>
              <a:ext cx="2014912" cy="353886"/>
            </a:xfrm>
            <a:custGeom>
              <a:avLst/>
              <a:gdLst/>
              <a:ahLst/>
              <a:cxnLst/>
              <a:rect r="r" b="b" t="t" l="l"/>
              <a:pathLst>
                <a:path h="353886" w="2014912">
                  <a:moveTo>
                    <a:pt x="31371" y="0"/>
                  </a:moveTo>
                  <a:lnTo>
                    <a:pt x="1983541" y="0"/>
                  </a:lnTo>
                  <a:cubicBezTo>
                    <a:pt x="2000866" y="0"/>
                    <a:pt x="2014912" y="14045"/>
                    <a:pt x="2014912" y="31371"/>
                  </a:cubicBezTo>
                  <a:lnTo>
                    <a:pt x="2014912" y="322515"/>
                  </a:lnTo>
                  <a:cubicBezTo>
                    <a:pt x="2014912" y="330836"/>
                    <a:pt x="2011606" y="338815"/>
                    <a:pt x="2005723" y="344698"/>
                  </a:cubicBezTo>
                  <a:cubicBezTo>
                    <a:pt x="1999840" y="350581"/>
                    <a:pt x="1991861" y="353886"/>
                    <a:pt x="1983541" y="353886"/>
                  </a:cubicBezTo>
                  <a:lnTo>
                    <a:pt x="31371" y="353886"/>
                  </a:lnTo>
                  <a:cubicBezTo>
                    <a:pt x="14045" y="353886"/>
                    <a:pt x="0" y="339841"/>
                    <a:pt x="0" y="322515"/>
                  </a:cubicBezTo>
                  <a:lnTo>
                    <a:pt x="0" y="31371"/>
                  </a:lnTo>
                  <a:cubicBezTo>
                    <a:pt x="0" y="14045"/>
                    <a:pt x="14045" y="0"/>
                    <a:pt x="31371" y="0"/>
                  </a:cubicBezTo>
                  <a:close/>
                </a:path>
              </a:pathLst>
            </a:custGeom>
            <a:solidFill>
              <a:srgbClr val="ACB0F2"/>
            </a:solidFill>
          </p:spPr>
        </p:sp>
        <p:sp>
          <p:nvSpPr>
            <p:cNvPr name="TextBox 24" id="24"/>
            <p:cNvSpPr txBox="true"/>
            <p:nvPr/>
          </p:nvSpPr>
          <p:spPr>
            <a:xfrm>
              <a:off x="0" y="-57150"/>
              <a:ext cx="2014911" cy="411036"/>
            </a:xfrm>
            <a:prstGeom prst="rect">
              <a:avLst/>
            </a:prstGeom>
          </p:spPr>
          <p:txBody>
            <a:bodyPr anchor="ctr" rtlCol="false" tIns="50800" lIns="50800" bIns="50800" rIns="50800"/>
            <a:lstStyle/>
            <a:p>
              <a:pPr algn="ctr">
                <a:lnSpc>
                  <a:spcPts val="2731"/>
                </a:lnSpc>
              </a:pPr>
            </a:p>
          </p:txBody>
        </p:sp>
      </p:grpSp>
      <p:grpSp>
        <p:nvGrpSpPr>
          <p:cNvPr name="Group 25" id="25"/>
          <p:cNvGrpSpPr/>
          <p:nvPr/>
        </p:nvGrpSpPr>
        <p:grpSpPr>
          <a:xfrm rot="0">
            <a:off x="10176394" y="4917702"/>
            <a:ext cx="1260311" cy="1135725"/>
            <a:chOff x="0" y="0"/>
            <a:chExt cx="331934" cy="299121"/>
          </a:xfrm>
        </p:grpSpPr>
        <p:sp>
          <p:nvSpPr>
            <p:cNvPr name="Freeform 26" id="26"/>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27" id="27"/>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grpSp>
        <p:nvGrpSpPr>
          <p:cNvPr name="Group 28" id="28"/>
          <p:cNvGrpSpPr/>
          <p:nvPr/>
        </p:nvGrpSpPr>
        <p:grpSpPr>
          <a:xfrm rot="0">
            <a:off x="1955029" y="8122575"/>
            <a:ext cx="1260311" cy="1135725"/>
            <a:chOff x="0" y="0"/>
            <a:chExt cx="331934" cy="299121"/>
          </a:xfrm>
        </p:grpSpPr>
        <p:sp>
          <p:nvSpPr>
            <p:cNvPr name="Freeform 29" id="29"/>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30" id="30"/>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grpSp>
        <p:nvGrpSpPr>
          <p:cNvPr name="Group 31" id="31"/>
          <p:cNvGrpSpPr/>
          <p:nvPr/>
        </p:nvGrpSpPr>
        <p:grpSpPr>
          <a:xfrm rot="0">
            <a:off x="1955029" y="6509821"/>
            <a:ext cx="1260311" cy="1135725"/>
            <a:chOff x="0" y="0"/>
            <a:chExt cx="331934" cy="299121"/>
          </a:xfrm>
        </p:grpSpPr>
        <p:sp>
          <p:nvSpPr>
            <p:cNvPr name="Freeform 32" id="32"/>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33" id="33"/>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grpSp>
        <p:nvGrpSpPr>
          <p:cNvPr name="Group 34" id="34"/>
          <p:cNvGrpSpPr/>
          <p:nvPr/>
        </p:nvGrpSpPr>
        <p:grpSpPr>
          <a:xfrm rot="0">
            <a:off x="1955029" y="4919315"/>
            <a:ext cx="1260311" cy="1135725"/>
            <a:chOff x="0" y="0"/>
            <a:chExt cx="331934" cy="299121"/>
          </a:xfrm>
        </p:grpSpPr>
        <p:sp>
          <p:nvSpPr>
            <p:cNvPr name="Freeform 35" id="35"/>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36" id="36"/>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sp>
        <p:nvSpPr>
          <p:cNvPr name="Freeform 37" id="37"/>
          <p:cNvSpPr/>
          <p:nvPr/>
        </p:nvSpPr>
        <p:spPr>
          <a:xfrm flipH="false" flipV="false" rot="0">
            <a:off x="10314046" y="6427855"/>
            <a:ext cx="3800579" cy="4114800"/>
          </a:xfrm>
          <a:custGeom>
            <a:avLst/>
            <a:gdLst/>
            <a:ahLst/>
            <a:cxnLst/>
            <a:rect r="r" b="b" t="t" l="l"/>
            <a:pathLst>
              <a:path h="4114800" w="3800579">
                <a:moveTo>
                  <a:pt x="0" y="0"/>
                </a:moveTo>
                <a:lnTo>
                  <a:pt x="3800579" y="0"/>
                </a:lnTo>
                <a:lnTo>
                  <a:pt x="380057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8" id="38"/>
          <p:cNvGrpSpPr/>
          <p:nvPr/>
        </p:nvGrpSpPr>
        <p:grpSpPr>
          <a:xfrm rot="0">
            <a:off x="9930893" y="6433621"/>
            <a:ext cx="7650367" cy="1343663"/>
            <a:chOff x="0" y="0"/>
            <a:chExt cx="2014911" cy="353886"/>
          </a:xfrm>
        </p:grpSpPr>
        <p:sp>
          <p:nvSpPr>
            <p:cNvPr name="Freeform 39" id="39"/>
            <p:cNvSpPr/>
            <p:nvPr/>
          </p:nvSpPr>
          <p:spPr>
            <a:xfrm flipH="false" flipV="false" rot="0">
              <a:off x="0" y="0"/>
              <a:ext cx="2014912" cy="353886"/>
            </a:xfrm>
            <a:custGeom>
              <a:avLst/>
              <a:gdLst/>
              <a:ahLst/>
              <a:cxnLst/>
              <a:rect r="r" b="b" t="t" l="l"/>
              <a:pathLst>
                <a:path h="353886" w="2014912">
                  <a:moveTo>
                    <a:pt x="31371" y="0"/>
                  </a:moveTo>
                  <a:lnTo>
                    <a:pt x="1983541" y="0"/>
                  </a:lnTo>
                  <a:cubicBezTo>
                    <a:pt x="2000866" y="0"/>
                    <a:pt x="2014912" y="14045"/>
                    <a:pt x="2014912" y="31371"/>
                  </a:cubicBezTo>
                  <a:lnTo>
                    <a:pt x="2014912" y="322515"/>
                  </a:lnTo>
                  <a:cubicBezTo>
                    <a:pt x="2014912" y="330836"/>
                    <a:pt x="2011606" y="338815"/>
                    <a:pt x="2005723" y="344698"/>
                  </a:cubicBezTo>
                  <a:cubicBezTo>
                    <a:pt x="1999840" y="350581"/>
                    <a:pt x="1991861" y="353886"/>
                    <a:pt x="1983541" y="353886"/>
                  </a:cubicBezTo>
                  <a:lnTo>
                    <a:pt x="31371" y="353886"/>
                  </a:lnTo>
                  <a:cubicBezTo>
                    <a:pt x="14045" y="353886"/>
                    <a:pt x="0" y="339841"/>
                    <a:pt x="0" y="322515"/>
                  </a:cubicBezTo>
                  <a:lnTo>
                    <a:pt x="0" y="31371"/>
                  </a:lnTo>
                  <a:cubicBezTo>
                    <a:pt x="0" y="14045"/>
                    <a:pt x="14045" y="0"/>
                    <a:pt x="31371" y="0"/>
                  </a:cubicBezTo>
                  <a:close/>
                </a:path>
              </a:pathLst>
            </a:custGeom>
            <a:solidFill>
              <a:srgbClr val="ACB0F2"/>
            </a:solidFill>
          </p:spPr>
        </p:sp>
        <p:sp>
          <p:nvSpPr>
            <p:cNvPr name="TextBox 40" id="40"/>
            <p:cNvSpPr txBox="true"/>
            <p:nvPr/>
          </p:nvSpPr>
          <p:spPr>
            <a:xfrm>
              <a:off x="0" y="-57150"/>
              <a:ext cx="2014911" cy="411036"/>
            </a:xfrm>
            <a:prstGeom prst="rect">
              <a:avLst/>
            </a:prstGeom>
          </p:spPr>
          <p:txBody>
            <a:bodyPr anchor="ctr" rtlCol="false" tIns="50800" lIns="50800" bIns="50800" rIns="50800"/>
            <a:lstStyle/>
            <a:p>
              <a:pPr algn="ctr">
                <a:lnSpc>
                  <a:spcPts val="2731"/>
                </a:lnSpc>
              </a:pPr>
            </a:p>
          </p:txBody>
        </p:sp>
      </p:grpSp>
      <p:grpSp>
        <p:nvGrpSpPr>
          <p:cNvPr name="Group 41" id="41"/>
          <p:cNvGrpSpPr/>
          <p:nvPr/>
        </p:nvGrpSpPr>
        <p:grpSpPr>
          <a:xfrm rot="0">
            <a:off x="10266511" y="6537590"/>
            <a:ext cx="1260311" cy="1135725"/>
            <a:chOff x="0" y="0"/>
            <a:chExt cx="331934" cy="299121"/>
          </a:xfrm>
        </p:grpSpPr>
        <p:sp>
          <p:nvSpPr>
            <p:cNvPr name="Freeform 42" id="42"/>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43" id="43"/>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sp>
        <p:nvSpPr>
          <p:cNvPr name="Freeform 44" id="44"/>
          <p:cNvSpPr/>
          <p:nvPr/>
        </p:nvSpPr>
        <p:spPr>
          <a:xfrm flipH="false" flipV="false" rot="0">
            <a:off x="2201641" y="5094919"/>
            <a:ext cx="767086" cy="781291"/>
          </a:xfrm>
          <a:custGeom>
            <a:avLst/>
            <a:gdLst/>
            <a:ahLst/>
            <a:cxnLst/>
            <a:rect r="r" b="b" t="t" l="l"/>
            <a:pathLst>
              <a:path h="781291" w="767086">
                <a:moveTo>
                  <a:pt x="0" y="0"/>
                </a:moveTo>
                <a:lnTo>
                  <a:pt x="767086" y="0"/>
                </a:lnTo>
                <a:lnTo>
                  <a:pt x="767086" y="781291"/>
                </a:lnTo>
                <a:lnTo>
                  <a:pt x="0" y="7812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5" id="45"/>
          <p:cNvSpPr/>
          <p:nvPr/>
        </p:nvSpPr>
        <p:spPr>
          <a:xfrm flipH="false" flipV="false" rot="0">
            <a:off x="10449480" y="6687291"/>
            <a:ext cx="836324" cy="836324"/>
          </a:xfrm>
          <a:custGeom>
            <a:avLst/>
            <a:gdLst/>
            <a:ahLst/>
            <a:cxnLst/>
            <a:rect r="r" b="b" t="t" l="l"/>
            <a:pathLst>
              <a:path h="836324" w="836324">
                <a:moveTo>
                  <a:pt x="0" y="0"/>
                </a:moveTo>
                <a:lnTo>
                  <a:pt x="836324" y="0"/>
                </a:lnTo>
                <a:lnTo>
                  <a:pt x="836324" y="836324"/>
                </a:lnTo>
                <a:lnTo>
                  <a:pt x="0" y="8363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6" id="46"/>
          <p:cNvSpPr txBox="true"/>
          <p:nvPr/>
        </p:nvSpPr>
        <p:spPr>
          <a:xfrm rot="0">
            <a:off x="1740474" y="1452689"/>
            <a:ext cx="12933353" cy="1769732"/>
          </a:xfrm>
          <a:prstGeom prst="rect">
            <a:avLst/>
          </a:prstGeom>
        </p:spPr>
        <p:txBody>
          <a:bodyPr anchor="t" rtlCol="false" tIns="0" lIns="0" bIns="0" rIns="0">
            <a:spAutoFit/>
          </a:bodyPr>
          <a:lstStyle/>
          <a:p>
            <a:pPr algn="l">
              <a:lnSpc>
                <a:spcPts val="13788"/>
              </a:lnSpc>
            </a:pPr>
            <a:r>
              <a:rPr lang="en-US" sz="9849" b="true">
                <a:solidFill>
                  <a:srgbClr val="FFFFFF"/>
                </a:solidFill>
                <a:latin typeface="Poppins Bold"/>
                <a:ea typeface="Poppins Bold"/>
                <a:cs typeface="Poppins Bold"/>
                <a:sym typeface="Poppins Bold"/>
              </a:rPr>
              <a:t>Room Management</a:t>
            </a:r>
          </a:p>
        </p:txBody>
      </p:sp>
      <p:sp>
        <p:nvSpPr>
          <p:cNvPr name="TextBox 47" id="47"/>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48" id="48"/>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solidFill>
                <a:latin typeface="Poppins Bold"/>
                <a:ea typeface="Poppins Bold"/>
                <a:cs typeface="Poppins Bold"/>
                <a:sym typeface="Poppins Bold"/>
              </a:rPr>
              <a:t>GIAO THỨC ỨNG DỤNG</a:t>
            </a:r>
          </a:p>
        </p:txBody>
      </p:sp>
      <p:sp>
        <p:nvSpPr>
          <p:cNvPr name="TextBox 49" id="49"/>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50" id="50"/>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51" id="51"/>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HIỆN THỨC HÓA HỆ THÔNG</a:t>
            </a:r>
          </a:p>
        </p:txBody>
      </p:sp>
      <p:sp>
        <p:nvSpPr>
          <p:cNvPr name="TextBox 52" id="52"/>
          <p:cNvSpPr txBox="true"/>
          <p:nvPr/>
        </p:nvSpPr>
        <p:spPr>
          <a:xfrm rot="0">
            <a:off x="1751817" y="3304930"/>
            <a:ext cx="7919285" cy="987666"/>
          </a:xfrm>
          <a:prstGeom prst="rect">
            <a:avLst/>
          </a:prstGeom>
        </p:spPr>
        <p:txBody>
          <a:bodyPr anchor="t" rtlCol="false" tIns="0" lIns="0" bIns="0" rIns="0">
            <a:spAutoFit/>
          </a:bodyPr>
          <a:lstStyle/>
          <a:p>
            <a:pPr algn="l">
              <a:lnSpc>
                <a:spcPts val="3836"/>
              </a:lnSpc>
            </a:pPr>
            <a:r>
              <a:rPr lang="en-US" sz="2740" b="true">
                <a:solidFill>
                  <a:srgbClr val="FFFFFF"/>
                </a:solidFill>
                <a:latin typeface="Poppins Bold"/>
                <a:ea typeface="Poppins Bold"/>
                <a:cs typeface="Poppins Bold"/>
                <a:sym typeface="Poppins Bold"/>
              </a:rPr>
              <a:t>Hệ thống sử dụng lớp RoomManager để quản lý các phòng chat.</a:t>
            </a:r>
          </a:p>
        </p:txBody>
      </p:sp>
      <p:sp>
        <p:nvSpPr>
          <p:cNvPr name="TextBox 53" id="53"/>
          <p:cNvSpPr txBox="true"/>
          <p:nvPr/>
        </p:nvSpPr>
        <p:spPr>
          <a:xfrm rot="0">
            <a:off x="2011608" y="5704554"/>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TẠO PHÒNG MỚI</a:t>
            </a:r>
          </a:p>
        </p:txBody>
      </p:sp>
      <p:sp>
        <p:nvSpPr>
          <p:cNvPr name="TextBox 54" id="54"/>
          <p:cNvSpPr txBox="true"/>
          <p:nvPr/>
        </p:nvSpPr>
        <p:spPr>
          <a:xfrm rot="0">
            <a:off x="2011608" y="7270160"/>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KIỂM TRA SỰ TỒN T</a:t>
            </a:r>
            <a:r>
              <a:rPr lang="en-US" b="true" sz="1951">
                <a:solidFill>
                  <a:srgbClr val="FFFFFF"/>
                </a:solidFill>
                <a:latin typeface="Poppins Bold"/>
                <a:ea typeface="Poppins Bold"/>
                <a:cs typeface="Poppins Bold"/>
                <a:sym typeface="Poppins Bold"/>
              </a:rPr>
              <a:t>ẠI CỦA PHÒNG</a:t>
            </a:r>
          </a:p>
        </p:txBody>
      </p:sp>
      <p:sp>
        <p:nvSpPr>
          <p:cNvPr name="TextBox 55" id="55"/>
          <p:cNvSpPr txBox="true"/>
          <p:nvPr/>
        </p:nvSpPr>
        <p:spPr>
          <a:xfrm rot="0">
            <a:off x="2011608" y="8891709"/>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TÌM KIẾM PHÒNG</a:t>
            </a:r>
          </a:p>
        </p:txBody>
      </p:sp>
      <p:sp>
        <p:nvSpPr>
          <p:cNvPr name="TextBox 56" id="56"/>
          <p:cNvSpPr txBox="true"/>
          <p:nvPr/>
        </p:nvSpPr>
        <p:spPr>
          <a:xfrm rot="0">
            <a:off x="10176394" y="7270160"/>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XÓA PHÒNG</a:t>
            </a:r>
          </a:p>
        </p:txBody>
      </p:sp>
      <p:sp>
        <p:nvSpPr>
          <p:cNvPr name="TextBox 57" id="57"/>
          <p:cNvSpPr txBox="true"/>
          <p:nvPr/>
        </p:nvSpPr>
        <p:spPr>
          <a:xfrm rot="0">
            <a:off x="10065391" y="5702942"/>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LẤY DANH SÁCH PHÒNG</a:t>
            </a:r>
          </a:p>
        </p:txBody>
      </p:sp>
      <p:sp>
        <p:nvSpPr>
          <p:cNvPr name="TextBox 58" id="58"/>
          <p:cNvSpPr txBox="true"/>
          <p:nvPr/>
        </p:nvSpPr>
        <p:spPr>
          <a:xfrm rot="0">
            <a:off x="1955029" y="5049268"/>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CreateRoom</a:t>
            </a:r>
            <a:r>
              <a:rPr lang="en-US" b="true" sz="2551">
                <a:solidFill>
                  <a:srgbClr val="FFFFFF"/>
                </a:solidFill>
                <a:latin typeface="Poppins Bold"/>
                <a:ea typeface="Poppins Bold"/>
                <a:cs typeface="Poppins Bold"/>
                <a:sym typeface="Poppins Bold"/>
              </a:rPr>
              <a:t>(</a:t>
            </a:r>
            <a:r>
              <a:rPr lang="en-US" b="true" sz="2551">
                <a:solidFill>
                  <a:srgbClr val="0DFF00"/>
                </a:solidFill>
                <a:latin typeface="Poppins Bold"/>
                <a:ea typeface="Poppins Bold"/>
                <a:cs typeface="Poppins Bold"/>
                <a:sym typeface="Poppins Bold"/>
              </a:rPr>
              <a:t>Room</a:t>
            </a:r>
            <a:r>
              <a:rPr lang="en-US" b="true" sz="2551">
                <a:solidFill>
                  <a:srgbClr val="FFFFFF"/>
                </a:solidFill>
                <a:latin typeface="Poppins Bold"/>
                <a:ea typeface="Poppins Bold"/>
                <a:cs typeface="Poppins Bold"/>
                <a:sym typeface="Poppins Bold"/>
              </a:rPr>
              <a:t> </a:t>
            </a:r>
            <a:r>
              <a:rPr lang="en-US" b="true" sz="2551">
                <a:solidFill>
                  <a:srgbClr val="AFF1FF"/>
                </a:solidFill>
                <a:latin typeface="Poppins Bold"/>
                <a:ea typeface="Poppins Bold"/>
                <a:cs typeface="Poppins Bold"/>
                <a:sym typeface="Poppins Bold"/>
              </a:rPr>
              <a:t>room</a:t>
            </a:r>
            <a:r>
              <a:rPr lang="en-US" b="true" sz="2551">
                <a:solidFill>
                  <a:srgbClr val="FFFFFF"/>
                </a:solidFill>
                <a:latin typeface="Poppins Bold"/>
                <a:ea typeface="Poppins Bold"/>
                <a:cs typeface="Poppins Bold"/>
                <a:sym typeface="Poppins Bold"/>
              </a:rPr>
              <a:t>)</a:t>
            </a:r>
          </a:p>
        </p:txBody>
      </p:sp>
      <p:sp>
        <p:nvSpPr>
          <p:cNvPr name="TextBox 59" id="59"/>
          <p:cNvSpPr txBox="true"/>
          <p:nvPr/>
        </p:nvSpPr>
        <p:spPr>
          <a:xfrm rot="0">
            <a:off x="10176394" y="6646382"/>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Delete</a:t>
            </a:r>
            <a:r>
              <a:rPr lang="en-US" b="true" sz="2551">
                <a:solidFill>
                  <a:srgbClr val="FFDE59"/>
                </a:solidFill>
                <a:latin typeface="Poppins Bold"/>
                <a:ea typeface="Poppins Bold"/>
                <a:cs typeface="Poppins Bold"/>
                <a:sym typeface="Poppins Bold"/>
              </a:rPr>
              <a:t>Room</a:t>
            </a:r>
            <a:r>
              <a:rPr lang="en-US" b="true" sz="2551">
                <a:solidFill>
                  <a:srgbClr val="FFFFFF"/>
                </a:solidFill>
                <a:latin typeface="Poppins Bold"/>
                <a:ea typeface="Poppins Bold"/>
                <a:cs typeface="Poppins Bold"/>
                <a:sym typeface="Poppins Bold"/>
              </a:rPr>
              <a:t>(</a:t>
            </a:r>
            <a:r>
              <a:rPr lang="en-US" b="true" sz="2551">
                <a:solidFill>
                  <a:srgbClr val="276CF4"/>
                </a:solidFill>
                <a:latin typeface="Poppins Bold"/>
                <a:ea typeface="Poppins Bold"/>
                <a:cs typeface="Poppins Bold"/>
                <a:sym typeface="Poppins Bold"/>
              </a:rPr>
              <a:t>string </a:t>
            </a:r>
            <a:r>
              <a:rPr lang="en-US" b="true" sz="2551">
                <a:solidFill>
                  <a:srgbClr val="AFF1FF"/>
                </a:solidFill>
                <a:latin typeface="Poppins Bold"/>
                <a:ea typeface="Poppins Bold"/>
                <a:cs typeface="Poppins Bold"/>
                <a:sym typeface="Poppins Bold"/>
              </a:rPr>
              <a:t>room</a:t>
            </a:r>
            <a:r>
              <a:rPr lang="en-US" b="true" sz="2551">
                <a:solidFill>
                  <a:srgbClr val="FFFFFF"/>
                </a:solidFill>
                <a:latin typeface="Poppins Bold"/>
                <a:ea typeface="Poppins Bold"/>
                <a:cs typeface="Poppins Bold"/>
                <a:sym typeface="Poppins Bold"/>
              </a:rPr>
              <a:t>)</a:t>
            </a:r>
          </a:p>
        </p:txBody>
      </p:sp>
      <p:sp>
        <p:nvSpPr>
          <p:cNvPr name="TextBox 60" id="60"/>
          <p:cNvSpPr txBox="true"/>
          <p:nvPr/>
        </p:nvSpPr>
        <p:spPr>
          <a:xfrm rot="0">
            <a:off x="10266511" y="5049268"/>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GetAllRooms</a:t>
            </a:r>
            <a:r>
              <a:rPr lang="en-US" b="true" sz="2551">
                <a:solidFill>
                  <a:srgbClr val="FFFFFF"/>
                </a:solidFill>
                <a:latin typeface="Poppins Bold"/>
                <a:ea typeface="Poppins Bold"/>
                <a:cs typeface="Poppins Bold"/>
                <a:sym typeface="Poppins Bold"/>
              </a:rPr>
              <a:t>()</a:t>
            </a:r>
          </a:p>
        </p:txBody>
      </p:sp>
      <p:sp>
        <p:nvSpPr>
          <p:cNvPr name="TextBox 61" id="61"/>
          <p:cNvSpPr txBox="true"/>
          <p:nvPr/>
        </p:nvSpPr>
        <p:spPr>
          <a:xfrm rot="0">
            <a:off x="2055990" y="8224959"/>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Get</a:t>
            </a:r>
            <a:r>
              <a:rPr lang="en-US" b="true" sz="2551">
                <a:solidFill>
                  <a:srgbClr val="FFDE59"/>
                </a:solidFill>
                <a:latin typeface="Poppins Bold"/>
                <a:ea typeface="Poppins Bold"/>
                <a:cs typeface="Poppins Bold"/>
                <a:sym typeface="Poppins Bold"/>
              </a:rPr>
              <a:t>Room</a:t>
            </a:r>
            <a:r>
              <a:rPr lang="en-US" b="true" sz="2551">
                <a:solidFill>
                  <a:srgbClr val="FFFFFF"/>
                </a:solidFill>
                <a:latin typeface="Poppins Bold"/>
                <a:ea typeface="Poppins Bold"/>
                <a:cs typeface="Poppins Bold"/>
                <a:sym typeface="Poppins Bold"/>
              </a:rPr>
              <a:t>(</a:t>
            </a:r>
            <a:r>
              <a:rPr lang="en-US" b="true" sz="2551">
                <a:solidFill>
                  <a:srgbClr val="276CF4"/>
                </a:solidFill>
                <a:latin typeface="Poppins Bold"/>
                <a:ea typeface="Poppins Bold"/>
                <a:cs typeface="Poppins Bold"/>
                <a:sym typeface="Poppins Bold"/>
              </a:rPr>
              <a:t>string </a:t>
            </a:r>
            <a:r>
              <a:rPr lang="en-US" b="true" sz="2551">
                <a:solidFill>
                  <a:srgbClr val="AFF1FF"/>
                </a:solidFill>
                <a:latin typeface="Poppins Bold"/>
                <a:ea typeface="Poppins Bold"/>
                <a:cs typeface="Poppins Bold"/>
                <a:sym typeface="Poppins Bold"/>
              </a:rPr>
              <a:t>roomName</a:t>
            </a:r>
            <a:r>
              <a:rPr lang="en-US" b="true" sz="2551">
                <a:solidFill>
                  <a:srgbClr val="FFFFFF"/>
                </a:solidFill>
                <a:latin typeface="Poppins Bold"/>
                <a:ea typeface="Poppins Bold"/>
                <a:cs typeface="Poppins Bold"/>
                <a:sym typeface="Poppins Bold"/>
              </a:rPr>
              <a:t>)</a:t>
            </a:r>
          </a:p>
        </p:txBody>
      </p:sp>
      <p:sp>
        <p:nvSpPr>
          <p:cNvPr name="TextBox 62" id="62"/>
          <p:cNvSpPr txBox="true"/>
          <p:nvPr/>
        </p:nvSpPr>
        <p:spPr>
          <a:xfrm rot="0">
            <a:off x="1955029" y="6605071"/>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RoomExist</a:t>
            </a:r>
            <a:r>
              <a:rPr lang="en-US" b="true" sz="2551">
                <a:solidFill>
                  <a:srgbClr val="FFFFFF"/>
                </a:solidFill>
                <a:latin typeface="Poppins Bold"/>
                <a:ea typeface="Poppins Bold"/>
                <a:cs typeface="Poppins Bold"/>
                <a:sym typeface="Poppins Bold"/>
              </a:rPr>
              <a:t>(</a:t>
            </a:r>
            <a:r>
              <a:rPr lang="en-US" b="true" sz="2551">
                <a:solidFill>
                  <a:srgbClr val="276CF4"/>
                </a:solidFill>
                <a:latin typeface="Poppins Bold"/>
                <a:ea typeface="Poppins Bold"/>
                <a:cs typeface="Poppins Bold"/>
                <a:sym typeface="Poppins Bold"/>
              </a:rPr>
              <a:t>string</a:t>
            </a:r>
            <a:r>
              <a:rPr lang="en-US" b="true" sz="2551">
                <a:solidFill>
                  <a:srgbClr val="FFFFFF"/>
                </a:solidFill>
                <a:latin typeface="Poppins Bold"/>
                <a:ea typeface="Poppins Bold"/>
                <a:cs typeface="Poppins Bold"/>
                <a:sym typeface="Poppins Bold"/>
              </a:rPr>
              <a:t> </a:t>
            </a:r>
            <a:r>
              <a:rPr lang="en-US" b="true" sz="2551">
                <a:solidFill>
                  <a:srgbClr val="AFF1FF"/>
                </a:solidFill>
                <a:latin typeface="Poppins Bold"/>
                <a:ea typeface="Poppins Bold"/>
                <a:cs typeface="Poppins Bold"/>
                <a:sym typeface="Poppins Bold"/>
              </a:rPr>
              <a:t>roomName</a:t>
            </a:r>
            <a:r>
              <a:rPr lang="en-US" b="true" sz="2551">
                <a:solidFill>
                  <a:srgbClr val="FFFFFF"/>
                </a:solidFill>
                <a:latin typeface="Poppins Bold"/>
                <a:ea typeface="Poppins Bold"/>
                <a:cs typeface="Poppins Bold"/>
                <a:sym typeface="Poppins Bold"/>
              </a:rPr>
              <a:t>)</a:t>
            </a:r>
          </a:p>
        </p:txBody>
      </p:sp>
      <p:sp>
        <p:nvSpPr>
          <p:cNvPr name="TextBox 63" id="63"/>
          <p:cNvSpPr txBox="true"/>
          <p:nvPr/>
        </p:nvSpPr>
        <p:spPr>
          <a:xfrm rot="0">
            <a:off x="7729565" y="5130959"/>
            <a:ext cx="6070893" cy="617186"/>
          </a:xfrm>
          <a:prstGeom prst="rect">
            <a:avLst/>
          </a:prstGeom>
        </p:spPr>
        <p:txBody>
          <a:bodyPr anchor="t" rtlCol="false" tIns="0" lIns="0" bIns="0" rIns="0">
            <a:spAutoFit/>
          </a:bodyPr>
          <a:lstStyle/>
          <a:p>
            <a:pPr algn="ctr">
              <a:lnSpc>
                <a:spcPts val="4831"/>
              </a:lnSpc>
              <a:spcBef>
                <a:spcPct val="0"/>
              </a:spcBef>
            </a:pPr>
            <a:r>
              <a:rPr lang="en-US" b="true" sz="3451">
                <a:solidFill>
                  <a:srgbClr val="E0E1F5"/>
                </a:solidFill>
                <a:latin typeface="Poppins Bold"/>
                <a:ea typeface="Poppins Bold"/>
                <a:cs typeface="Poppins Bold"/>
                <a:sym typeface="Poppins Bold"/>
              </a:rPr>
              <a:t>ALL</a:t>
            </a:r>
          </a:p>
        </p:txBody>
      </p:sp>
      <p:sp>
        <p:nvSpPr>
          <p:cNvPr name="TextBox 64" id="64"/>
          <p:cNvSpPr txBox="true"/>
          <p:nvPr/>
        </p:nvSpPr>
        <p:spPr>
          <a:xfrm rot="0">
            <a:off x="-602578" y="6538814"/>
            <a:ext cx="6375525" cy="984801"/>
          </a:xfrm>
          <a:prstGeom prst="rect">
            <a:avLst/>
          </a:prstGeom>
        </p:spPr>
        <p:txBody>
          <a:bodyPr anchor="t" rtlCol="false" tIns="0" lIns="0" bIns="0" rIns="0">
            <a:spAutoFit/>
          </a:bodyPr>
          <a:lstStyle/>
          <a:p>
            <a:pPr algn="ctr">
              <a:lnSpc>
                <a:spcPts val="7573"/>
              </a:lnSpc>
              <a:spcBef>
                <a:spcPct val="0"/>
              </a:spcBef>
            </a:pPr>
            <a:r>
              <a:rPr lang="en-US" b="true" sz="5409">
                <a:solidFill>
                  <a:srgbClr val="E0E1F5"/>
                </a:solidFill>
                <a:latin typeface="Poppins Bold"/>
                <a:ea typeface="Poppins Bold"/>
                <a:cs typeface="Poppins Bold"/>
                <a:sym typeface="Poppins Bold"/>
              </a:rPr>
              <a:t>?</a:t>
            </a:r>
          </a:p>
        </p:txBody>
      </p:sp>
      <p:sp>
        <p:nvSpPr>
          <p:cNvPr name="Freeform 65" id="65"/>
          <p:cNvSpPr/>
          <p:nvPr/>
        </p:nvSpPr>
        <p:spPr>
          <a:xfrm flipH="false" flipV="false" rot="0">
            <a:off x="2132403" y="8265061"/>
            <a:ext cx="808135" cy="808135"/>
          </a:xfrm>
          <a:custGeom>
            <a:avLst/>
            <a:gdLst/>
            <a:ahLst/>
            <a:cxnLst/>
            <a:rect r="r" b="b" t="t" l="l"/>
            <a:pathLst>
              <a:path h="808135" w="808135">
                <a:moveTo>
                  <a:pt x="0" y="0"/>
                </a:moveTo>
                <a:lnTo>
                  <a:pt x="808135" y="0"/>
                </a:lnTo>
                <a:lnTo>
                  <a:pt x="808135" y="808135"/>
                </a:lnTo>
                <a:lnTo>
                  <a:pt x="0" y="80813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sp>
        <p:nvSpPr>
          <p:cNvPr name="Freeform 2" id="2"/>
          <p:cNvSpPr/>
          <p:nvPr/>
        </p:nvSpPr>
        <p:spPr>
          <a:xfrm flipH="false" flipV="false" rot="0">
            <a:off x="7378912" y="-4173901"/>
            <a:ext cx="15411352" cy="15411352"/>
          </a:xfrm>
          <a:custGeom>
            <a:avLst/>
            <a:gdLst/>
            <a:ahLst/>
            <a:cxnLst/>
            <a:rect r="r" b="b" t="t" l="l"/>
            <a:pathLst>
              <a:path h="15411352" w="15411352">
                <a:moveTo>
                  <a:pt x="0" y="0"/>
                </a:moveTo>
                <a:lnTo>
                  <a:pt x="15411351" y="0"/>
                </a:lnTo>
                <a:lnTo>
                  <a:pt x="15411351" y="15411351"/>
                </a:lnTo>
                <a:lnTo>
                  <a:pt x="0" y="15411351"/>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40834" y="679099"/>
            <a:ext cx="4385302" cy="775403"/>
            <a:chOff x="0" y="0"/>
            <a:chExt cx="1200079" cy="212196"/>
          </a:xfrm>
        </p:grpSpPr>
        <p:sp>
          <p:nvSpPr>
            <p:cNvPr name="Freeform 5" id="5"/>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6" id="6"/>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pSp>
        <p:nvGrpSpPr>
          <p:cNvPr name="Group 7" id="7"/>
          <p:cNvGrpSpPr/>
          <p:nvPr/>
        </p:nvGrpSpPr>
        <p:grpSpPr>
          <a:xfrm rot="0">
            <a:off x="-4381686" y="7327310"/>
            <a:ext cx="8326153" cy="832615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4097008" y="7930621"/>
            <a:ext cx="7312348" cy="731234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C7C9FF">
                    <a:alpha val="69000"/>
                  </a:srgbClr>
                </a:gs>
              </a:gsLst>
              <a:lin ang="270000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784856" y="4813733"/>
            <a:ext cx="8146037" cy="1343663"/>
            <a:chOff x="0" y="0"/>
            <a:chExt cx="2145458" cy="353886"/>
          </a:xfrm>
        </p:grpSpPr>
        <p:sp>
          <p:nvSpPr>
            <p:cNvPr name="Freeform 14" id="14"/>
            <p:cNvSpPr/>
            <p:nvPr/>
          </p:nvSpPr>
          <p:spPr>
            <a:xfrm flipH="false" flipV="false" rot="0">
              <a:off x="0" y="0"/>
              <a:ext cx="2145458" cy="353886"/>
            </a:xfrm>
            <a:custGeom>
              <a:avLst/>
              <a:gdLst/>
              <a:ahLst/>
              <a:cxnLst/>
              <a:rect r="r" b="b" t="t" l="l"/>
              <a:pathLst>
                <a:path h="353886" w="2145458">
                  <a:moveTo>
                    <a:pt x="29462" y="0"/>
                  </a:moveTo>
                  <a:lnTo>
                    <a:pt x="2115996" y="0"/>
                  </a:lnTo>
                  <a:cubicBezTo>
                    <a:pt x="2123810" y="0"/>
                    <a:pt x="2131304" y="3104"/>
                    <a:pt x="2136829" y="8629"/>
                  </a:cubicBezTo>
                  <a:cubicBezTo>
                    <a:pt x="2142354" y="14154"/>
                    <a:pt x="2145458" y="21648"/>
                    <a:pt x="2145458" y="29462"/>
                  </a:cubicBezTo>
                  <a:lnTo>
                    <a:pt x="2145458" y="324424"/>
                  </a:lnTo>
                  <a:cubicBezTo>
                    <a:pt x="2145458" y="332238"/>
                    <a:pt x="2142354" y="339732"/>
                    <a:pt x="2136829" y="345257"/>
                  </a:cubicBezTo>
                  <a:cubicBezTo>
                    <a:pt x="2131304" y="350782"/>
                    <a:pt x="2123810" y="353886"/>
                    <a:pt x="2115996" y="353886"/>
                  </a:cubicBezTo>
                  <a:lnTo>
                    <a:pt x="29462" y="353886"/>
                  </a:lnTo>
                  <a:cubicBezTo>
                    <a:pt x="21648" y="353886"/>
                    <a:pt x="14154" y="350782"/>
                    <a:pt x="8629" y="345257"/>
                  </a:cubicBezTo>
                  <a:cubicBezTo>
                    <a:pt x="3104" y="339732"/>
                    <a:pt x="0" y="332238"/>
                    <a:pt x="0" y="324424"/>
                  </a:cubicBezTo>
                  <a:lnTo>
                    <a:pt x="0" y="29462"/>
                  </a:lnTo>
                  <a:cubicBezTo>
                    <a:pt x="0" y="21648"/>
                    <a:pt x="3104" y="14154"/>
                    <a:pt x="8629" y="8629"/>
                  </a:cubicBezTo>
                  <a:cubicBezTo>
                    <a:pt x="14154" y="3104"/>
                    <a:pt x="21648" y="0"/>
                    <a:pt x="29462" y="0"/>
                  </a:cubicBezTo>
                  <a:close/>
                </a:path>
              </a:pathLst>
            </a:custGeom>
            <a:solidFill>
              <a:srgbClr val="ACB0F2"/>
            </a:solidFill>
          </p:spPr>
        </p:sp>
        <p:sp>
          <p:nvSpPr>
            <p:cNvPr name="TextBox 15" id="15"/>
            <p:cNvSpPr txBox="true"/>
            <p:nvPr/>
          </p:nvSpPr>
          <p:spPr>
            <a:xfrm>
              <a:off x="0" y="-57150"/>
              <a:ext cx="2145458" cy="411036"/>
            </a:xfrm>
            <a:prstGeom prst="rect">
              <a:avLst/>
            </a:prstGeom>
          </p:spPr>
          <p:txBody>
            <a:bodyPr anchor="ctr" rtlCol="false" tIns="50800" lIns="50800" bIns="50800" rIns="50800"/>
            <a:lstStyle/>
            <a:p>
              <a:pPr algn="ctr">
                <a:lnSpc>
                  <a:spcPts val="2731"/>
                </a:lnSpc>
              </a:pPr>
            </a:p>
          </p:txBody>
        </p:sp>
      </p:grpSp>
      <p:grpSp>
        <p:nvGrpSpPr>
          <p:cNvPr name="Group 16" id="16"/>
          <p:cNvGrpSpPr/>
          <p:nvPr/>
        </p:nvGrpSpPr>
        <p:grpSpPr>
          <a:xfrm rot="0">
            <a:off x="1784856" y="6957496"/>
            <a:ext cx="8146037" cy="1343663"/>
            <a:chOff x="0" y="0"/>
            <a:chExt cx="2145458" cy="353886"/>
          </a:xfrm>
        </p:grpSpPr>
        <p:sp>
          <p:nvSpPr>
            <p:cNvPr name="Freeform 17" id="17"/>
            <p:cNvSpPr/>
            <p:nvPr/>
          </p:nvSpPr>
          <p:spPr>
            <a:xfrm flipH="false" flipV="false" rot="0">
              <a:off x="0" y="0"/>
              <a:ext cx="2145458" cy="353886"/>
            </a:xfrm>
            <a:custGeom>
              <a:avLst/>
              <a:gdLst/>
              <a:ahLst/>
              <a:cxnLst/>
              <a:rect r="r" b="b" t="t" l="l"/>
              <a:pathLst>
                <a:path h="353886" w="2145458">
                  <a:moveTo>
                    <a:pt x="29462" y="0"/>
                  </a:moveTo>
                  <a:lnTo>
                    <a:pt x="2115996" y="0"/>
                  </a:lnTo>
                  <a:cubicBezTo>
                    <a:pt x="2123810" y="0"/>
                    <a:pt x="2131304" y="3104"/>
                    <a:pt x="2136829" y="8629"/>
                  </a:cubicBezTo>
                  <a:cubicBezTo>
                    <a:pt x="2142354" y="14154"/>
                    <a:pt x="2145458" y="21648"/>
                    <a:pt x="2145458" y="29462"/>
                  </a:cubicBezTo>
                  <a:lnTo>
                    <a:pt x="2145458" y="324424"/>
                  </a:lnTo>
                  <a:cubicBezTo>
                    <a:pt x="2145458" y="332238"/>
                    <a:pt x="2142354" y="339732"/>
                    <a:pt x="2136829" y="345257"/>
                  </a:cubicBezTo>
                  <a:cubicBezTo>
                    <a:pt x="2131304" y="350782"/>
                    <a:pt x="2123810" y="353886"/>
                    <a:pt x="2115996" y="353886"/>
                  </a:cubicBezTo>
                  <a:lnTo>
                    <a:pt x="29462" y="353886"/>
                  </a:lnTo>
                  <a:cubicBezTo>
                    <a:pt x="21648" y="353886"/>
                    <a:pt x="14154" y="350782"/>
                    <a:pt x="8629" y="345257"/>
                  </a:cubicBezTo>
                  <a:cubicBezTo>
                    <a:pt x="3104" y="339732"/>
                    <a:pt x="0" y="332238"/>
                    <a:pt x="0" y="324424"/>
                  </a:cubicBezTo>
                  <a:lnTo>
                    <a:pt x="0" y="29462"/>
                  </a:lnTo>
                  <a:cubicBezTo>
                    <a:pt x="0" y="21648"/>
                    <a:pt x="3104" y="14154"/>
                    <a:pt x="8629" y="8629"/>
                  </a:cubicBezTo>
                  <a:cubicBezTo>
                    <a:pt x="14154" y="3104"/>
                    <a:pt x="21648" y="0"/>
                    <a:pt x="29462" y="0"/>
                  </a:cubicBezTo>
                  <a:close/>
                </a:path>
              </a:pathLst>
            </a:custGeom>
            <a:solidFill>
              <a:srgbClr val="ACB0F2"/>
            </a:solidFill>
          </p:spPr>
        </p:sp>
        <p:sp>
          <p:nvSpPr>
            <p:cNvPr name="TextBox 18" id="18"/>
            <p:cNvSpPr txBox="true"/>
            <p:nvPr/>
          </p:nvSpPr>
          <p:spPr>
            <a:xfrm>
              <a:off x="0" y="-57150"/>
              <a:ext cx="2145458" cy="411036"/>
            </a:xfrm>
            <a:prstGeom prst="rect">
              <a:avLst/>
            </a:prstGeom>
          </p:spPr>
          <p:txBody>
            <a:bodyPr anchor="ctr" rtlCol="false" tIns="50800" lIns="50800" bIns="50800" rIns="50800"/>
            <a:lstStyle/>
            <a:p>
              <a:pPr algn="ctr">
                <a:lnSpc>
                  <a:spcPts val="2731"/>
                </a:lnSpc>
              </a:pPr>
            </a:p>
          </p:txBody>
        </p:sp>
      </p:grpSp>
      <p:grpSp>
        <p:nvGrpSpPr>
          <p:cNvPr name="Group 19" id="19"/>
          <p:cNvGrpSpPr/>
          <p:nvPr/>
        </p:nvGrpSpPr>
        <p:grpSpPr>
          <a:xfrm rot="0">
            <a:off x="1985975" y="7061465"/>
            <a:ext cx="1260311" cy="1135725"/>
            <a:chOff x="0" y="0"/>
            <a:chExt cx="331934" cy="299121"/>
          </a:xfrm>
        </p:grpSpPr>
        <p:sp>
          <p:nvSpPr>
            <p:cNvPr name="Freeform 20" id="20"/>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21" id="21"/>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grpSp>
        <p:nvGrpSpPr>
          <p:cNvPr name="Group 22" id="22"/>
          <p:cNvGrpSpPr/>
          <p:nvPr/>
        </p:nvGrpSpPr>
        <p:grpSpPr>
          <a:xfrm rot="0">
            <a:off x="1955029" y="4919315"/>
            <a:ext cx="1260311" cy="1135725"/>
            <a:chOff x="0" y="0"/>
            <a:chExt cx="331934" cy="299121"/>
          </a:xfrm>
        </p:grpSpPr>
        <p:sp>
          <p:nvSpPr>
            <p:cNvPr name="Freeform 23" id="23"/>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24" id="24"/>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sp>
        <p:nvSpPr>
          <p:cNvPr name="Freeform 25" id="25"/>
          <p:cNvSpPr/>
          <p:nvPr/>
        </p:nvSpPr>
        <p:spPr>
          <a:xfrm flipH="false" flipV="false" rot="0">
            <a:off x="2201641" y="5094919"/>
            <a:ext cx="767086" cy="781291"/>
          </a:xfrm>
          <a:custGeom>
            <a:avLst/>
            <a:gdLst/>
            <a:ahLst/>
            <a:cxnLst/>
            <a:rect r="r" b="b" t="t" l="l"/>
            <a:pathLst>
              <a:path h="781291" w="767086">
                <a:moveTo>
                  <a:pt x="0" y="0"/>
                </a:moveTo>
                <a:lnTo>
                  <a:pt x="767086" y="0"/>
                </a:lnTo>
                <a:lnTo>
                  <a:pt x="767086" y="781291"/>
                </a:lnTo>
                <a:lnTo>
                  <a:pt x="0" y="7812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11235527" y="403200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7" id="27"/>
          <p:cNvSpPr txBox="true"/>
          <p:nvPr/>
        </p:nvSpPr>
        <p:spPr>
          <a:xfrm rot="0">
            <a:off x="1740474" y="1452689"/>
            <a:ext cx="15144908" cy="1769732"/>
          </a:xfrm>
          <a:prstGeom prst="rect">
            <a:avLst/>
          </a:prstGeom>
        </p:spPr>
        <p:txBody>
          <a:bodyPr anchor="t" rtlCol="false" tIns="0" lIns="0" bIns="0" rIns="0">
            <a:spAutoFit/>
          </a:bodyPr>
          <a:lstStyle/>
          <a:p>
            <a:pPr algn="l">
              <a:lnSpc>
                <a:spcPts val="13788"/>
              </a:lnSpc>
            </a:pPr>
            <a:r>
              <a:rPr lang="en-US" sz="9849" b="true">
                <a:solidFill>
                  <a:srgbClr val="FFFFFF"/>
                </a:solidFill>
                <a:latin typeface="Poppins Bold"/>
                <a:ea typeface="Poppins Bold"/>
                <a:cs typeface="Poppins Bold"/>
                <a:sym typeface="Poppins Bold"/>
              </a:rPr>
              <a:t>MESSAGE Management</a:t>
            </a:r>
          </a:p>
        </p:txBody>
      </p:sp>
      <p:sp>
        <p:nvSpPr>
          <p:cNvPr name="TextBox 28" id="28"/>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29" id="29"/>
          <p:cNvSpPr txBox="true"/>
          <p:nvPr/>
        </p:nvSpPr>
        <p:spPr>
          <a:xfrm rot="0">
            <a:off x="13890575" y="682007"/>
            <a:ext cx="1589190"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GIAO THỨC ỨNG DỤNG</a:t>
            </a:r>
          </a:p>
        </p:txBody>
      </p:sp>
      <p:sp>
        <p:nvSpPr>
          <p:cNvPr name="TextBox 30" id="30"/>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31" id="31"/>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32" id="32"/>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solidFill>
                <a:latin typeface="Poppins Bold"/>
                <a:ea typeface="Poppins Bold"/>
                <a:cs typeface="Poppins Bold"/>
                <a:sym typeface="Poppins Bold"/>
              </a:rPr>
              <a:t>HIỆN THỨC HÓA HỆ THÔNG</a:t>
            </a:r>
          </a:p>
        </p:txBody>
      </p:sp>
      <p:sp>
        <p:nvSpPr>
          <p:cNvPr name="TextBox 33" id="33"/>
          <p:cNvSpPr txBox="true"/>
          <p:nvPr/>
        </p:nvSpPr>
        <p:spPr>
          <a:xfrm rot="0">
            <a:off x="1751817" y="3304930"/>
            <a:ext cx="7919285" cy="987666"/>
          </a:xfrm>
          <a:prstGeom prst="rect">
            <a:avLst/>
          </a:prstGeom>
        </p:spPr>
        <p:txBody>
          <a:bodyPr anchor="t" rtlCol="false" tIns="0" lIns="0" bIns="0" rIns="0">
            <a:spAutoFit/>
          </a:bodyPr>
          <a:lstStyle/>
          <a:p>
            <a:pPr algn="l">
              <a:lnSpc>
                <a:spcPts val="3836"/>
              </a:lnSpc>
            </a:pPr>
            <a:r>
              <a:rPr lang="en-US" sz="2740" b="true">
                <a:solidFill>
                  <a:srgbClr val="FFFFFF"/>
                </a:solidFill>
                <a:latin typeface="Poppins Bold"/>
                <a:ea typeface="Poppins Bold"/>
                <a:cs typeface="Poppins Bold"/>
                <a:sym typeface="Poppins Bold"/>
              </a:rPr>
              <a:t>Hệ thống sử dụng lớp RoomManager để quản lý các tin nhắn.</a:t>
            </a:r>
          </a:p>
        </p:txBody>
      </p:sp>
      <p:sp>
        <p:nvSpPr>
          <p:cNvPr name="TextBox 34" id="34"/>
          <p:cNvSpPr txBox="true"/>
          <p:nvPr/>
        </p:nvSpPr>
        <p:spPr>
          <a:xfrm rot="0">
            <a:off x="2011608" y="5704554"/>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THÊM MỘT TIN NHẮN MỚI VÀO PHÒNG</a:t>
            </a:r>
          </a:p>
        </p:txBody>
      </p:sp>
      <p:sp>
        <p:nvSpPr>
          <p:cNvPr name="TextBox 35" id="35"/>
          <p:cNvSpPr txBox="true"/>
          <p:nvPr/>
        </p:nvSpPr>
        <p:spPr>
          <a:xfrm rot="0">
            <a:off x="1874973" y="7846704"/>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LẤY DANH SÁCH TIN NHẮN 1 PHÒNG</a:t>
            </a:r>
          </a:p>
        </p:txBody>
      </p:sp>
      <p:sp>
        <p:nvSpPr>
          <p:cNvPr name="TextBox 36" id="36"/>
          <p:cNvSpPr txBox="true"/>
          <p:nvPr/>
        </p:nvSpPr>
        <p:spPr>
          <a:xfrm rot="0">
            <a:off x="2699064" y="4875865"/>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AddMessage</a:t>
            </a:r>
            <a:r>
              <a:rPr lang="en-US" b="true" sz="2551">
                <a:solidFill>
                  <a:srgbClr val="FFFFFF"/>
                </a:solidFill>
                <a:latin typeface="Poppins Bold"/>
                <a:ea typeface="Poppins Bold"/>
                <a:cs typeface="Poppins Bold"/>
                <a:sym typeface="Poppins Bold"/>
              </a:rPr>
              <a:t>(</a:t>
            </a:r>
            <a:r>
              <a:rPr lang="en-US" b="true" sz="2551">
                <a:solidFill>
                  <a:srgbClr val="0DFF00"/>
                </a:solidFill>
                <a:latin typeface="Poppins Bold"/>
                <a:ea typeface="Poppins Bold"/>
                <a:cs typeface="Poppins Bold"/>
                <a:sym typeface="Poppins Bold"/>
              </a:rPr>
              <a:t>ChatMessage </a:t>
            </a:r>
            <a:r>
              <a:rPr lang="en-US" b="true" sz="2551">
                <a:solidFill>
                  <a:srgbClr val="AFF1FF"/>
                </a:solidFill>
                <a:latin typeface="Poppins Bold"/>
                <a:ea typeface="Poppins Bold"/>
                <a:cs typeface="Poppins Bold"/>
                <a:sym typeface="Poppins Bold"/>
              </a:rPr>
              <a:t>message</a:t>
            </a:r>
            <a:r>
              <a:rPr lang="en-US" b="true" sz="2551">
                <a:solidFill>
                  <a:srgbClr val="FFFFFF"/>
                </a:solidFill>
                <a:latin typeface="Poppins Bold"/>
                <a:ea typeface="Poppins Bold"/>
                <a:cs typeface="Poppins Bold"/>
                <a:sym typeface="Poppins Bold"/>
              </a:rPr>
              <a:t>)</a:t>
            </a:r>
          </a:p>
        </p:txBody>
      </p:sp>
      <p:sp>
        <p:nvSpPr>
          <p:cNvPr name="TextBox 37" id="37"/>
          <p:cNvSpPr txBox="true"/>
          <p:nvPr/>
        </p:nvSpPr>
        <p:spPr>
          <a:xfrm rot="0">
            <a:off x="2076092" y="7193031"/>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GetAllMessages</a:t>
            </a:r>
            <a:r>
              <a:rPr lang="en-US" b="true" sz="2551">
                <a:solidFill>
                  <a:srgbClr val="FFFFFF"/>
                </a:solidFill>
                <a:latin typeface="Poppins Bold"/>
                <a:ea typeface="Poppins Bold"/>
                <a:cs typeface="Poppins Bold"/>
                <a:sym typeface="Poppins Bold"/>
              </a:rPr>
              <a:t>()</a:t>
            </a:r>
          </a:p>
        </p:txBody>
      </p:sp>
      <p:sp>
        <p:nvSpPr>
          <p:cNvPr name="TextBox 38" id="38"/>
          <p:cNvSpPr txBox="true"/>
          <p:nvPr/>
        </p:nvSpPr>
        <p:spPr>
          <a:xfrm rot="0">
            <a:off x="-419316" y="7273109"/>
            <a:ext cx="6070893" cy="617186"/>
          </a:xfrm>
          <a:prstGeom prst="rect">
            <a:avLst/>
          </a:prstGeom>
        </p:spPr>
        <p:txBody>
          <a:bodyPr anchor="t" rtlCol="false" tIns="0" lIns="0" bIns="0" rIns="0">
            <a:spAutoFit/>
          </a:bodyPr>
          <a:lstStyle/>
          <a:p>
            <a:pPr algn="ctr">
              <a:lnSpc>
                <a:spcPts val="4831"/>
              </a:lnSpc>
              <a:spcBef>
                <a:spcPct val="0"/>
              </a:spcBef>
            </a:pPr>
            <a:r>
              <a:rPr lang="en-US" b="true" sz="3451">
                <a:solidFill>
                  <a:srgbClr val="E0E1F5"/>
                </a:solidFill>
                <a:latin typeface="Poppins Bold"/>
                <a:ea typeface="Poppins Bold"/>
                <a:cs typeface="Poppins Bold"/>
                <a:sym typeface="Poppins Bold"/>
              </a:rPr>
              <a:t>ALL</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sp>
        <p:nvSpPr>
          <p:cNvPr name="Freeform 2" id="2"/>
          <p:cNvSpPr/>
          <p:nvPr/>
        </p:nvSpPr>
        <p:spPr>
          <a:xfrm flipH="false" flipV="false" rot="0">
            <a:off x="7378912" y="-4173901"/>
            <a:ext cx="15411352" cy="15411352"/>
          </a:xfrm>
          <a:custGeom>
            <a:avLst/>
            <a:gdLst/>
            <a:ahLst/>
            <a:cxnLst/>
            <a:rect r="r" b="b" t="t" l="l"/>
            <a:pathLst>
              <a:path h="15411352" w="15411352">
                <a:moveTo>
                  <a:pt x="0" y="0"/>
                </a:moveTo>
                <a:lnTo>
                  <a:pt x="15411351" y="0"/>
                </a:lnTo>
                <a:lnTo>
                  <a:pt x="15411351" y="15411351"/>
                </a:lnTo>
                <a:lnTo>
                  <a:pt x="0" y="15411351"/>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40834" y="679099"/>
            <a:ext cx="4385302" cy="775403"/>
            <a:chOff x="0" y="0"/>
            <a:chExt cx="1200079" cy="212196"/>
          </a:xfrm>
        </p:grpSpPr>
        <p:sp>
          <p:nvSpPr>
            <p:cNvPr name="Freeform 5" id="5"/>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6" id="6"/>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pSp>
        <p:nvGrpSpPr>
          <p:cNvPr name="Group 7" id="7"/>
          <p:cNvGrpSpPr/>
          <p:nvPr/>
        </p:nvGrpSpPr>
        <p:grpSpPr>
          <a:xfrm rot="0">
            <a:off x="-4381686" y="7327310"/>
            <a:ext cx="8326153" cy="832615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4097008" y="7930621"/>
            <a:ext cx="7312348" cy="731234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C7C9FF">
                    <a:alpha val="69000"/>
                  </a:srgbClr>
                </a:gs>
              </a:gsLst>
              <a:lin ang="270000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aphicFrame>
        <p:nvGraphicFramePr>
          <p:cNvPr name="Object 13" id="13"/>
          <p:cNvGraphicFramePr/>
          <p:nvPr/>
        </p:nvGraphicFramePr>
        <p:xfrm>
          <a:off x="2446545" y="3890091"/>
          <a:ext cx="16230600" cy="6669649"/>
        </p:xfrm>
        <a:graphic>
          <a:graphicData uri="http://schemas.openxmlformats.org/presentationml/2006/ole">
            <p:oleObj imgW="19469100" imgH="99060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14" id="14"/>
          <p:cNvSpPr txBox="true"/>
          <p:nvPr/>
        </p:nvSpPr>
        <p:spPr>
          <a:xfrm rot="0">
            <a:off x="1740474" y="1452689"/>
            <a:ext cx="12933353" cy="1769732"/>
          </a:xfrm>
          <a:prstGeom prst="rect">
            <a:avLst/>
          </a:prstGeom>
        </p:spPr>
        <p:txBody>
          <a:bodyPr anchor="t" rtlCol="false" tIns="0" lIns="0" bIns="0" rIns="0">
            <a:spAutoFit/>
          </a:bodyPr>
          <a:lstStyle/>
          <a:p>
            <a:pPr algn="l">
              <a:lnSpc>
                <a:spcPts val="13788"/>
              </a:lnSpc>
            </a:pPr>
            <a:r>
              <a:rPr lang="en-US" sz="9849" b="true">
                <a:solidFill>
                  <a:srgbClr val="FFFFFF"/>
                </a:solidFill>
                <a:latin typeface="Poppins Bold"/>
                <a:ea typeface="Poppins Bold"/>
                <a:cs typeface="Poppins Bold"/>
                <a:sym typeface="Poppins Bold"/>
              </a:rPr>
              <a:t>User Management</a:t>
            </a:r>
          </a:p>
        </p:txBody>
      </p:sp>
      <p:sp>
        <p:nvSpPr>
          <p:cNvPr name="TextBox 15" id="15"/>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16" id="16"/>
          <p:cNvSpPr txBox="true"/>
          <p:nvPr/>
        </p:nvSpPr>
        <p:spPr>
          <a:xfrm rot="0">
            <a:off x="13890575" y="682007"/>
            <a:ext cx="1589190" cy="693386"/>
          </a:xfrm>
          <a:prstGeom prst="rect">
            <a:avLst/>
          </a:prstGeom>
        </p:spPr>
        <p:txBody>
          <a:bodyPr anchor="t" rtlCol="false" tIns="0" lIns="0" bIns="0" rIns="0">
            <a:spAutoFit/>
          </a:bodyPr>
          <a:lstStyle/>
          <a:p>
            <a:pPr algn="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GIAO THỨC ỨNG DỤNG</a:t>
            </a:r>
          </a:p>
        </p:txBody>
      </p:sp>
      <p:sp>
        <p:nvSpPr>
          <p:cNvPr name="TextBox 17" id="17"/>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18" id="18"/>
          <p:cNvSpPr txBox="true"/>
          <p:nvPr/>
        </p:nvSpPr>
        <p:spPr>
          <a:xfrm rot="0">
            <a:off x="11609447" y="703973"/>
            <a:ext cx="1907082" cy="693386"/>
          </a:xfrm>
          <a:prstGeom prst="rect">
            <a:avLst/>
          </a:prstGeom>
        </p:spPr>
        <p:txBody>
          <a:bodyPr anchor="t" rtlCol="false" tIns="0" lIns="0" bIns="0" rIns="0">
            <a:spAutoFit/>
          </a:bodyPr>
          <a:lstStyle/>
          <a:p>
            <a:pPr algn="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PHÂN TÍCH THIẾT KẾ</a:t>
            </a:r>
          </a:p>
        </p:txBody>
      </p:sp>
      <p:sp>
        <p:nvSpPr>
          <p:cNvPr name="TextBox 19" id="19"/>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solidFill>
                <a:latin typeface="Poppins Bold"/>
                <a:ea typeface="Poppins Bold"/>
                <a:cs typeface="Poppins Bold"/>
                <a:sym typeface="Poppins Bold"/>
              </a:rPr>
              <a:t>HIỆN THỨC HÓA HỆ THÔNG</a:t>
            </a:r>
          </a:p>
        </p:txBody>
      </p:sp>
      <p:sp>
        <p:nvSpPr>
          <p:cNvPr name="TextBox 20" id="20"/>
          <p:cNvSpPr txBox="true"/>
          <p:nvPr/>
        </p:nvSpPr>
        <p:spPr>
          <a:xfrm rot="0">
            <a:off x="1751817" y="3155746"/>
            <a:ext cx="7114539" cy="458120"/>
          </a:xfrm>
          <a:prstGeom prst="rect">
            <a:avLst/>
          </a:prstGeom>
        </p:spPr>
        <p:txBody>
          <a:bodyPr anchor="t" rtlCol="false" tIns="0" lIns="0" bIns="0" rIns="0">
            <a:spAutoFit/>
          </a:bodyPr>
          <a:lstStyle/>
          <a:p>
            <a:pPr algn="l">
              <a:lnSpc>
                <a:spcPts val="3624"/>
              </a:lnSpc>
            </a:pPr>
            <a:r>
              <a:rPr lang="en-US" sz="2588" b="true">
                <a:solidFill>
                  <a:srgbClr val="FFFFFF"/>
                </a:solidFill>
                <a:latin typeface="Poppins Bold"/>
                <a:ea typeface="Poppins Bold"/>
                <a:cs typeface="Poppins Bold"/>
                <a:sym typeface="Poppins Bold"/>
              </a:rPr>
              <a:t>User model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sp>
        <p:nvSpPr>
          <p:cNvPr name="Freeform 2" id="2"/>
          <p:cNvSpPr/>
          <p:nvPr/>
        </p:nvSpPr>
        <p:spPr>
          <a:xfrm flipH="false" flipV="false" rot="0">
            <a:off x="7378912" y="-4173901"/>
            <a:ext cx="15411352" cy="15411352"/>
          </a:xfrm>
          <a:custGeom>
            <a:avLst/>
            <a:gdLst/>
            <a:ahLst/>
            <a:cxnLst/>
            <a:rect r="r" b="b" t="t" l="l"/>
            <a:pathLst>
              <a:path h="15411352" w="15411352">
                <a:moveTo>
                  <a:pt x="0" y="0"/>
                </a:moveTo>
                <a:lnTo>
                  <a:pt x="15411351" y="0"/>
                </a:lnTo>
                <a:lnTo>
                  <a:pt x="15411351" y="15411351"/>
                </a:lnTo>
                <a:lnTo>
                  <a:pt x="0" y="15411351"/>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53437" y="8252437"/>
            <a:ext cx="1005863" cy="1005863"/>
          </a:xfrm>
          <a:custGeom>
            <a:avLst/>
            <a:gdLst/>
            <a:ahLst/>
            <a:cxnLst/>
            <a:rect r="r" b="b" t="t" l="l"/>
            <a:pathLst>
              <a:path h="1005863" w="1005863">
                <a:moveTo>
                  <a:pt x="0" y="0"/>
                </a:moveTo>
                <a:lnTo>
                  <a:pt x="1005863" y="0"/>
                </a:lnTo>
                <a:lnTo>
                  <a:pt x="1005863" y="1005863"/>
                </a:lnTo>
                <a:lnTo>
                  <a:pt x="0" y="10058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40834" y="679099"/>
            <a:ext cx="4385302" cy="775403"/>
            <a:chOff x="0" y="0"/>
            <a:chExt cx="1200079" cy="212196"/>
          </a:xfrm>
        </p:grpSpPr>
        <p:sp>
          <p:nvSpPr>
            <p:cNvPr name="Freeform 5" id="5"/>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gradFill rotWithShape="true">
              <a:gsLst>
                <a:gs pos="0">
                  <a:srgbClr val="FFFFFF">
                    <a:alpha val="100000"/>
                  </a:srgbClr>
                </a:gs>
                <a:gs pos="100000">
                  <a:srgbClr val="C7C9FF">
                    <a:alpha val="69000"/>
                  </a:srgbClr>
                </a:gs>
              </a:gsLst>
              <a:lin ang="2700000"/>
            </a:gradFill>
          </p:spPr>
        </p:sp>
        <p:sp>
          <p:nvSpPr>
            <p:cNvPr name="TextBox 6" id="6"/>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pSp>
        <p:nvGrpSpPr>
          <p:cNvPr name="Group 7" id="7"/>
          <p:cNvGrpSpPr/>
          <p:nvPr/>
        </p:nvGrpSpPr>
        <p:grpSpPr>
          <a:xfrm rot="0">
            <a:off x="-4381686" y="7327310"/>
            <a:ext cx="8326153" cy="832615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4097008" y="7930621"/>
            <a:ext cx="7312348" cy="731234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C7C9FF">
                    <a:alpha val="69000"/>
                  </a:srgbClr>
                </a:gs>
              </a:gsLst>
              <a:lin ang="270000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784856" y="4813733"/>
            <a:ext cx="7650367" cy="1343663"/>
            <a:chOff x="0" y="0"/>
            <a:chExt cx="2014911" cy="353886"/>
          </a:xfrm>
        </p:grpSpPr>
        <p:sp>
          <p:nvSpPr>
            <p:cNvPr name="Freeform 14" id="14"/>
            <p:cNvSpPr/>
            <p:nvPr/>
          </p:nvSpPr>
          <p:spPr>
            <a:xfrm flipH="false" flipV="false" rot="0">
              <a:off x="0" y="0"/>
              <a:ext cx="2014912" cy="353886"/>
            </a:xfrm>
            <a:custGeom>
              <a:avLst/>
              <a:gdLst/>
              <a:ahLst/>
              <a:cxnLst/>
              <a:rect r="r" b="b" t="t" l="l"/>
              <a:pathLst>
                <a:path h="353886" w="2014912">
                  <a:moveTo>
                    <a:pt x="31371" y="0"/>
                  </a:moveTo>
                  <a:lnTo>
                    <a:pt x="1983541" y="0"/>
                  </a:lnTo>
                  <a:cubicBezTo>
                    <a:pt x="2000866" y="0"/>
                    <a:pt x="2014912" y="14045"/>
                    <a:pt x="2014912" y="31371"/>
                  </a:cubicBezTo>
                  <a:lnTo>
                    <a:pt x="2014912" y="322515"/>
                  </a:lnTo>
                  <a:cubicBezTo>
                    <a:pt x="2014912" y="330836"/>
                    <a:pt x="2011606" y="338815"/>
                    <a:pt x="2005723" y="344698"/>
                  </a:cubicBezTo>
                  <a:cubicBezTo>
                    <a:pt x="1999840" y="350581"/>
                    <a:pt x="1991861" y="353886"/>
                    <a:pt x="1983541" y="353886"/>
                  </a:cubicBezTo>
                  <a:lnTo>
                    <a:pt x="31371" y="353886"/>
                  </a:lnTo>
                  <a:cubicBezTo>
                    <a:pt x="14045" y="353886"/>
                    <a:pt x="0" y="339841"/>
                    <a:pt x="0" y="322515"/>
                  </a:cubicBezTo>
                  <a:lnTo>
                    <a:pt x="0" y="31371"/>
                  </a:lnTo>
                  <a:cubicBezTo>
                    <a:pt x="0" y="14045"/>
                    <a:pt x="14045" y="0"/>
                    <a:pt x="31371" y="0"/>
                  </a:cubicBezTo>
                  <a:close/>
                </a:path>
              </a:pathLst>
            </a:custGeom>
            <a:solidFill>
              <a:srgbClr val="ACB0F2"/>
            </a:solidFill>
          </p:spPr>
        </p:sp>
        <p:sp>
          <p:nvSpPr>
            <p:cNvPr name="TextBox 15" id="15"/>
            <p:cNvSpPr txBox="true"/>
            <p:nvPr/>
          </p:nvSpPr>
          <p:spPr>
            <a:xfrm>
              <a:off x="0" y="-57150"/>
              <a:ext cx="2014911" cy="411036"/>
            </a:xfrm>
            <a:prstGeom prst="rect">
              <a:avLst/>
            </a:prstGeom>
          </p:spPr>
          <p:txBody>
            <a:bodyPr anchor="ctr" rtlCol="false" tIns="50800" lIns="50800" bIns="50800" rIns="50800"/>
            <a:lstStyle/>
            <a:p>
              <a:pPr algn="ctr">
                <a:lnSpc>
                  <a:spcPts val="2731"/>
                </a:lnSpc>
              </a:pPr>
            </a:p>
          </p:txBody>
        </p:sp>
      </p:grpSp>
      <p:grpSp>
        <p:nvGrpSpPr>
          <p:cNvPr name="Group 16" id="16"/>
          <p:cNvGrpSpPr/>
          <p:nvPr/>
        </p:nvGrpSpPr>
        <p:grpSpPr>
          <a:xfrm rot="0">
            <a:off x="1784856" y="6433621"/>
            <a:ext cx="7650367" cy="1343663"/>
            <a:chOff x="0" y="0"/>
            <a:chExt cx="2014911" cy="353886"/>
          </a:xfrm>
        </p:grpSpPr>
        <p:sp>
          <p:nvSpPr>
            <p:cNvPr name="Freeform 17" id="17"/>
            <p:cNvSpPr/>
            <p:nvPr/>
          </p:nvSpPr>
          <p:spPr>
            <a:xfrm flipH="false" flipV="false" rot="0">
              <a:off x="0" y="0"/>
              <a:ext cx="2014912" cy="353886"/>
            </a:xfrm>
            <a:custGeom>
              <a:avLst/>
              <a:gdLst/>
              <a:ahLst/>
              <a:cxnLst/>
              <a:rect r="r" b="b" t="t" l="l"/>
              <a:pathLst>
                <a:path h="353886" w="2014912">
                  <a:moveTo>
                    <a:pt x="31371" y="0"/>
                  </a:moveTo>
                  <a:lnTo>
                    <a:pt x="1983541" y="0"/>
                  </a:lnTo>
                  <a:cubicBezTo>
                    <a:pt x="2000866" y="0"/>
                    <a:pt x="2014912" y="14045"/>
                    <a:pt x="2014912" y="31371"/>
                  </a:cubicBezTo>
                  <a:lnTo>
                    <a:pt x="2014912" y="322515"/>
                  </a:lnTo>
                  <a:cubicBezTo>
                    <a:pt x="2014912" y="330836"/>
                    <a:pt x="2011606" y="338815"/>
                    <a:pt x="2005723" y="344698"/>
                  </a:cubicBezTo>
                  <a:cubicBezTo>
                    <a:pt x="1999840" y="350581"/>
                    <a:pt x="1991861" y="353886"/>
                    <a:pt x="1983541" y="353886"/>
                  </a:cubicBezTo>
                  <a:lnTo>
                    <a:pt x="31371" y="353886"/>
                  </a:lnTo>
                  <a:cubicBezTo>
                    <a:pt x="14045" y="353886"/>
                    <a:pt x="0" y="339841"/>
                    <a:pt x="0" y="322515"/>
                  </a:cubicBezTo>
                  <a:lnTo>
                    <a:pt x="0" y="31371"/>
                  </a:lnTo>
                  <a:cubicBezTo>
                    <a:pt x="0" y="14045"/>
                    <a:pt x="14045" y="0"/>
                    <a:pt x="31371" y="0"/>
                  </a:cubicBezTo>
                  <a:close/>
                </a:path>
              </a:pathLst>
            </a:custGeom>
            <a:solidFill>
              <a:srgbClr val="ACB0F2"/>
            </a:solidFill>
          </p:spPr>
        </p:sp>
        <p:sp>
          <p:nvSpPr>
            <p:cNvPr name="TextBox 18" id="18"/>
            <p:cNvSpPr txBox="true"/>
            <p:nvPr/>
          </p:nvSpPr>
          <p:spPr>
            <a:xfrm>
              <a:off x="0" y="-57150"/>
              <a:ext cx="2014911" cy="411036"/>
            </a:xfrm>
            <a:prstGeom prst="rect">
              <a:avLst/>
            </a:prstGeom>
          </p:spPr>
          <p:txBody>
            <a:bodyPr anchor="ctr" rtlCol="false" tIns="50800" lIns="50800" bIns="50800" rIns="50800"/>
            <a:lstStyle/>
            <a:p>
              <a:pPr algn="ctr">
                <a:lnSpc>
                  <a:spcPts val="2731"/>
                </a:lnSpc>
              </a:pPr>
            </a:p>
          </p:txBody>
        </p:sp>
      </p:grpSp>
      <p:grpSp>
        <p:nvGrpSpPr>
          <p:cNvPr name="Group 19" id="19"/>
          <p:cNvGrpSpPr/>
          <p:nvPr/>
        </p:nvGrpSpPr>
        <p:grpSpPr>
          <a:xfrm rot="0">
            <a:off x="1784856" y="8083537"/>
            <a:ext cx="7650367" cy="1343663"/>
            <a:chOff x="0" y="0"/>
            <a:chExt cx="2014911" cy="353886"/>
          </a:xfrm>
        </p:grpSpPr>
        <p:sp>
          <p:nvSpPr>
            <p:cNvPr name="Freeform 20" id="20"/>
            <p:cNvSpPr/>
            <p:nvPr/>
          </p:nvSpPr>
          <p:spPr>
            <a:xfrm flipH="false" flipV="false" rot="0">
              <a:off x="0" y="0"/>
              <a:ext cx="2014912" cy="353886"/>
            </a:xfrm>
            <a:custGeom>
              <a:avLst/>
              <a:gdLst/>
              <a:ahLst/>
              <a:cxnLst/>
              <a:rect r="r" b="b" t="t" l="l"/>
              <a:pathLst>
                <a:path h="353886" w="2014912">
                  <a:moveTo>
                    <a:pt x="31371" y="0"/>
                  </a:moveTo>
                  <a:lnTo>
                    <a:pt x="1983541" y="0"/>
                  </a:lnTo>
                  <a:cubicBezTo>
                    <a:pt x="2000866" y="0"/>
                    <a:pt x="2014912" y="14045"/>
                    <a:pt x="2014912" y="31371"/>
                  </a:cubicBezTo>
                  <a:lnTo>
                    <a:pt x="2014912" y="322515"/>
                  </a:lnTo>
                  <a:cubicBezTo>
                    <a:pt x="2014912" y="330836"/>
                    <a:pt x="2011606" y="338815"/>
                    <a:pt x="2005723" y="344698"/>
                  </a:cubicBezTo>
                  <a:cubicBezTo>
                    <a:pt x="1999840" y="350581"/>
                    <a:pt x="1991861" y="353886"/>
                    <a:pt x="1983541" y="353886"/>
                  </a:cubicBezTo>
                  <a:lnTo>
                    <a:pt x="31371" y="353886"/>
                  </a:lnTo>
                  <a:cubicBezTo>
                    <a:pt x="14045" y="353886"/>
                    <a:pt x="0" y="339841"/>
                    <a:pt x="0" y="322515"/>
                  </a:cubicBezTo>
                  <a:lnTo>
                    <a:pt x="0" y="31371"/>
                  </a:lnTo>
                  <a:cubicBezTo>
                    <a:pt x="0" y="14045"/>
                    <a:pt x="14045" y="0"/>
                    <a:pt x="31371" y="0"/>
                  </a:cubicBezTo>
                  <a:close/>
                </a:path>
              </a:pathLst>
            </a:custGeom>
            <a:solidFill>
              <a:srgbClr val="ACB0F2"/>
            </a:solidFill>
          </p:spPr>
        </p:sp>
        <p:sp>
          <p:nvSpPr>
            <p:cNvPr name="TextBox 21" id="21"/>
            <p:cNvSpPr txBox="true"/>
            <p:nvPr/>
          </p:nvSpPr>
          <p:spPr>
            <a:xfrm>
              <a:off x="0" y="-57150"/>
              <a:ext cx="2014911" cy="411036"/>
            </a:xfrm>
            <a:prstGeom prst="rect">
              <a:avLst/>
            </a:prstGeom>
          </p:spPr>
          <p:txBody>
            <a:bodyPr anchor="ctr" rtlCol="false" tIns="50800" lIns="50800" bIns="50800" rIns="50800"/>
            <a:lstStyle/>
            <a:p>
              <a:pPr algn="ctr">
                <a:lnSpc>
                  <a:spcPts val="2731"/>
                </a:lnSpc>
              </a:pPr>
            </a:p>
          </p:txBody>
        </p:sp>
      </p:grpSp>
      <p:grpSp>
        <p:nvGrpSpPr>
          <p:cNvPr name="Group 22" id="22"/>
          <p:cNvGrpSpPr/>
          <p:nvPr/>
        </p:nvGrpSpPr>
        <p:grpSpPr>
          <a:xfrm rot="0">
            <a:off x="9975275" y="4813733"/>
            <a:ext cx="7650367" cy="1343663"/>
            <a:chOff x="0" y="0"/>
            <a:chExt cx="2014911" cy="353886"/>
          </a:xfrm>
        </p:grpSpPr>
        <p:sp>
          <p:nvSpPr>
            <p:cNvPr name="Freeform 23" id="23"/>
            <p:cNvSpPr/>
            <p:nvPr/>
          </p:nvSpPr>
          <p:spPr>
            <a:xfrm flipH="false" flipV="false" rot="0">
              <a:off x="0" y="0"/>
              <a:ext cx="2014912" cy="353886"/>
            </a:xfrm>
            <a:custGeom>
              <a:avLst/>
              <a:gdLst/>
              <a:ahLst/>
              <a:cxnLst/>
              <a:rect r="r" b="b" t="t" l="l"/>
              <a:pathLst>
                <a:path h="353886" w="2014912">
                  <a:moveTo>
                    <a:pt x="31371" y="0"/>
                  </a:moveTo>
                  <a:lnTo>
                    <a:pt x="1983541" y="0"/>
                  </a:lnTo>
                  <a:cubicBezTo>
                    <a:pt x="2000866" y="0"/>
                    <a:pt x="2014912" y="14045"/>
                    <a:pt x="2014912" y="31371"/>
                  </a:cubicBezTo>
                  <a:lnTo>
                    <a:pt x="2014912" y="322515"/>
                  </a:lnTo>
                  <a:cubicBezTo>
                    <a:pt x="2014912" y="330836"/>
                    <a:pt x="2011606" y="338815"/>
                    <a:pt x="2005723" y="344698"/>
                  </a:cubicBezTo>
                  <a:cubicBezTo>
                    <a:pt x="1999840" y="350581"/>
                    <a:pt x="1991861" y="353886"/>
                    <a:pt x="1983541" y="353886"/>
                  </a:cubicBezTo>
                  <a:lnTo>
                    <a:pt x="31371" y="353886"/>
                  </a:lnTo>
                  <a:cubicBezTo>
                    <a:pt x="14045" y="353886"/>
                    <a:pt x="0" y="339841"/>
                    <a:pt x="0" y="322515"/>
                  </a:cubicBezTo>
                  <a:lnTo>
                    <a:pt x="0" y="31371"/>
                  </a:lnTo>
                  <a:cubicBezTo>
                    <a:pt x="0" y="14045"/>
                    <a:pt x="14045" y="0"/>
                    <a:pt x="31371" y="0"/>
                  </a:cubicBezTo>
                  <a:close/>
                </a:path>
              </a:pathLst>
            </a:custGeom>
            <a:solidFill>
              <a:srgbClr val="ACB0F2"/>
            </a:solidFill>
          </p:spPr>
        </p:sp>
        <p:sp>
          <p:nvSpPr>
            <p:cNvPr name="TextBox 24" id="24"/>
            <p:cNvSpPr txBox="true"/>
            <p:nvPr/>
          </p:nvSpPr>
          <p:spPr>
            <a:xfrm>
              <a:off x="0" y="-57150"/>
              <a:ext cx="2014911" cy="411036"/>
            </a:xfrm>
            <a:prstGeom prst="rect">
              <a:avLst/>
            </a:prstGeom>
          </p:spPr>
          <p:txBody>
            <a:bodyPr anchor="ctr" rtlCol="false" tIns="50800" lIns="50800" bIns="50800" rIns="50800"/>
            <a:lstStyle/>
            <a:p>
              <a:pPr algn="ctr">
                <a:lnSpc>
                  <a:spcPts val="2731"/>
                </a:lnSpc>
              </a:pPr>
            </a:p>
          </p:txBody>
        </p:sp>
      </p:grpSp>
      <p:grpSp>
        <p:nvGrpSpPr>
          <p:cNvPr name="Group 25" id="25"/>
          <p:cNvGrpSpPr/>
          <p:nvPr/>
        </p:nvGrpSpPr>
        <p:grpSpPr>
          <a:xfrm rot="0">
            <a:off x="10176394" y="4917702"/>
            <a:ext cx="1260311" cy="1135725"/>
            <a:chOff x="0" y="0"/>
            <a:chExt cx="331934" cy="299121"/>
          </a:xfrm>
        </p:grpSpPr>
        <p:sp>
          <p:nvSpPr>
            <p:cNvPr name="Freeform 26" id="26"/>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27" id="27"/>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grpSp>
        <p:nvGrpSpPr>
          <p:cNvPr name="Group 28" id="28"/>
          <p:cNvGrpSpPr/>
          <p:nvPr/>
        </p:nvGrpSpPr>
        <p:grpSpPr>
          <a:xfrm rot="0">
            <a:off x="1955029" y="8122575"/>
            <a:ext cx="1260311" cy="1135725"/>
            <a:chOff x="0" y="0"/>
            <a:chExt cx="331934" cy="299121"/>
          </a:xfrm>
        </p:grpSpPr>
        <p:sp>
          <p:nvSpPr>
            <p:cNvPr name="Freeform 29" id="29"/>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30" id="30"/>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grpSp>
        <p:nvGrpSpPr>
          <p:cNvPr name="Group 31" id="31"/>
          <p:cNvGrpSpPr/>
          <p:nvPr/>
        </p:nvGrpSpPr>
        <p:grpSpPr>
          <a:xfrm rot="0">
            <a:off x="1955029" y="6509821"/>
            <a:ext cx="1260311" cy="1135725"/>
            <a:chOff x="0" y="0"/>
            <a:chExt cx="331934" cy="299121"/>
          </a:xfrm>
        </p:grpSpPr>
        <p:sp>
          <p:nvSpPr>
            <p:cNvPr name="Freeform 32" id="32"/>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33" id="33"/>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grpSp>
        <p:nvGrpSpPr>
          <p:cNvPr name="Group 34" id="34"/>
          <p:cNvGrpSpPr/>
          <p:nvPr/>
        </p:nvGrpSpPr>
        <p:grpSpPr>
          <a:xfrm rot="0">
            <a:off x="1955029" y="4919315"/>
            <a:ext cx="1260311" cy="1135725"/>
            <a:chOff x="0" y="0"/>
            <a:chExt cx="331934" cy="299121"/>
          </a:xfrm>
        </p:grpSpPr>
        <p:sp>
          <p:nvSpPr>
            <p:cNvPr name="Freeform 35" id="35"/>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36" id="36"/>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grpSp>
        <p:nvGrpSpPr>
          <p:cNvPr name="Group 37" id="37"/>
          <p:cNvGrpSpPr/>
          <p:nvPr/>
        </p:nvGrpSpPr>
        <p:grpSpPr>
          <a:xfrm rot="0">
            <a:off x="9930893" y="6433621"/>
            <a:ext cx="7650367" cy="1343663"/>
            <a:chOff x="0" y="0"/>
            <a:chExt cx="2014911" cy="353886"/>
          </a:xfrm>
        </p:grpSpPr>
        <p:sp>
          <p:nvSpPr>
            <p:cNvPr name="Freeform 38" id="38"/>
            <p:cNvSpPr/>
            <p:nvPr/>
          </p:nvSpPr>
          <p:spPr>
            <a:xfrm flipH="false" flipV="false" rot="0">
              <a:off x="0" y="0"/>
              <a:ext cx="2014912" cy="353886"/>
            </a:xfrm>
            <a:custGeom>
              <a:avLst/>
              <a:gdLst/>
              <a:ahLst/>
              <a:cxnLst/>
              <a:rect r="r" b="b" t="t" l="l"/>
              <a:pathLst>
                <a:path h="353886" w="2014912">
                  <a:moveTo>
                    <a:pt x="31371" y="0"/>
                  </a:moveTo>
                  <a:lnTo>
                    <a:pt x="1983541" y="0"/>
                  </a:lnTo>
                  <a:cubicBezTo>
                    <a:pt x="2000866" y="0"/>
                    <a:pt x="2014912" y="14045"/>
                    <a:pt x="2014912" y="31371"/>
                  </a:cubicBezTo>
                  <a:lnTo>
                    <a:pt x="2014912" y="322515"/>
                  </a:lnTo>
                  <a:cubicBezTo>
                    <a:pt x="2014912" y="330836"/>
                    <a:pt x="2011606" y="338815"/>
                    <a:pt x="2005723" y="344698"/>
                  </a:cubicBezTo>
                  <a:cubicBezTo>
                    <a:pt x="1999840" y="350581"/>
                    <a:pt x="1991861" y="353886"/>
                    <a:pt x="1983541" y="353886"/>
                  </a:cubicBezTo>
                  <a:lnTo>
                    <a:pt x="31371" y="353886"/>
                  </a:lnTo>
                  <a:cubicBezTo>
                    <a:pt x="14045" y="353886"/>
                    <a:pt x="0" y="339841"/>
                    <a:pt x="0" y="322515"/>
                  </a:cubicBezTo>
                  <a:lnTo>
                    <a:pt x="0" y="31371"/>
                  </a:lnTo>
                  <a:cubicBezTo>
                    <a:pt x="0" y="14045"/>
                    <a:pt x="14045" y="0"/>
                    <a:pt x="31371" y="0"/>
                  </a:cubicBezTo>
                  <a:close/>
                </a:path>
              </a:pathLst>
            </a:custGeom>
            <a:solidFill>
              <a:srgbClr val="ACB0F2"/>
            </a:solidFill>
          </p:spPr>
        </p:sp>
        <p:sp>
          <p:nvSpPr>
            <p:cNvPr name="TextBox 39" id="39"/>
            <p:cNvSpPr txBox="true"/>
            <p:nvPr/>
          </p:nvSpPr>
          <p:spPr>
            <a:xfrm>
              <a:off x="0" y="-57150"/>
              <a:ext cx="2014911" cy="411036"/>
            </a:xfrm>
            <a:prstGeom prst="rect">
              <a:avLst/>
            </a:prstGeom>
          </p:spPr>
          <p:txBody>
            <a:bodyPr anchor="ctr" rtlCol="false" tIns="50800" lIns="50800" bIns="50800" rIns="50800"/>
            <a:lstStyle/>
            <a:p>
              <a:pPr algn="ctr">
                <a:lnSpc>
                  <a:spcPts val="2731"/>
                </a:lnSpc>
              </a:pPr>
            </a:p>
          </p:txBody>
        </p:sp>
      </p:grpSp>
      <p:grpSp>
        <p:nvGrpSpPr>
          <p:cNvPr name="Group 40" id="40"/>
          <p:cNvGrpSpPr/>
          <p:nvPr/>
        </p:nvGrpSpPr>
        <p:grpSpPr>
          <a:xfrm rot="0">
            <a:off x="10266511" y="6537590"/>
            <a:ext cx="1260311" cy="1135725"/>
            <a:chOff x="0" y="0"/>
            <a:chExt cx="331934" cy="299121"/>
          </a:xfrm>
        </p:grpSpPr>
        <p:sp>
          <p:nvSpPr>
            <p:cNvPr name="Freeform 41" id="41"/>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42" id="42"/>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sp>
        <p:nvSpPr>
          <p:cNvPr name="Freeform 43" id="43"/>
          <p:cNvSpPr/>
          <p:nvPr/>
        </p:nvSpPr>
        <p:spPr>
          <a:xfrm flipH="false" flipV="false" rot="0">
            <a:off x="2201641" y="5094919"/>
            <a:ext cx="767086" cy="781291"/>
          </a:xfrm>
          <a:custGeom>
            <a:avLst/>
            <a:gdLst/>
            <a:ahLst/>
            <a:cxnLst/>
            <a:rect r="r" b="b" t="t" l="l"/>
            <a:pathLst>
              <a:path h="781291" w="767086">
                <a:moveTo>
                  <a:pt x="0" y="0"/>
                </a:moveTo>
                <a:lnTo>
                  <a:pt x="767086" y="0"/>
                </a:lnTo>
                <a:lnTo>
                  <a:pt x="767086" y="781291"/>
                </a:lnTo>
                <a:lnTo>
                  <a:pt x="0" y="7812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4" id="44"/>
          <p:cNvSpPr txBox="true"/>
          <p:nvPr/>
        </p:nvSpPr>
        <p:spPr>
          <a:xfrm rot="0">
            <a:off x="2011608" y="7270160"/>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XÓA USER</a:t>
            </a:r>
          </a:p>
        </p:txBody>
      </p:sp>
      <p:sp>
        <p:nvSpPr>
          <p:cNvPr name="TextBox 45" id="45"/>
          <p:cNvSpPr txBox="true"/>
          <p:nvPr/>
        </p:nvSpPr>
        <p:spPr>
          <a:xfrm rot="0">
            <a:off x="2055990" y="8224959"/>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GetUser</a:t>
            </a:r>
            <a:r>
              <a:rPr lang="en-US" b="true" sz="2551">
                <a:solidFill>
                  <a:srgbClr val="FFFFFF"/>
                </a:solidFill>
                <a:latin typeface="Poppins Bold"/>
                <a:ea typeface="Poppins Bold"/>
                <a:cs typeface="Poppins Bold"/>
                <a:sym typeface="Poppins Bold"/>
              </a:rPr>
              <a:t>(</a:t>
            </a:r>
            <a:r>
              <a:rPr lang="en-US" b="true" sz="2551">
                <a:solidFill>
                  <a:srgbClr val="276CF4"/>
                </a:solidFill>
                <a:latin typeface="Poppins Bold"/>
                <a:ea typeface="Poppins Bold"/>
                <a:cs typeface="Poppins Bold"/>
                <a:sym typeface="Poppins Bold"/>
              </a:rPr>
              <a:t>string </a:t>
            </a:r>
            <a:r>
              <a:rPr lang="en-US" b="true" sz="2551">
                <a:solidFill>
                  <a:srgbClr val="AFF1FF"/>
                </a:solidFill>
                <a:latin typeface="Poppins Bold"/>
                <a:ea typeface="Poppins Bold"/>
                <a:cs typeface="Poppins Bold"/>
                <a:sym typeface="Poppins Bold"/>
              </a:rPr>
              <a:t>userName</a:t>
            </a:r>
            <a:r>
              <a:rPr lang="en-US" b="true" sz="2551">
                <a:solidFill>
                  <a:srgbClr val="FFFFFF"/>
                </a:solidFill>
                <a:latin typeface="Poppins Bold"/>
                <a:ea typeface="Poppins Bold"/>
                <a:cs typeface="Poppins Bold"/>
                <a:sym typeface="Poppins Bold"/>
              </a:rPr>
              <a:t>)</a:t>
            </a:r>
          </a:p>
        </p:txBody>
      </p:sp>
      <p:sp>
        <p:nvSpPr>
          <p:cNvPr name="TextBox 46" id="46"/>
          <p:cNvSpPr txBox="true"/>
          <p:nvPr/>
        </p:nvSpPr>
        <p:spPr>
          <a:xfrm rot="0">
            <a:off x="1955029" y="6605071"/>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DeleteUser</a:t>
            </a:r>
            <a:r>
              <a:rPr lang="en-US" b="true" sz="2551">
                <a:solidFill>
                  <a:srgbClr val="FFFFFF"/>
                </a:solidFill>
                <a:latin typeface="Poppins Bold"/>
                <a:ea typeface="Poppins Bold"/>
                <a:cs typeface="Poppins Bold"/>
                <a:sym typeface="Poppins Bold"/>
              </a:rPr>
              <a:t>(</a:t>
            </a:r>
            <a:r>
              <a:rPr lang="en-US" b="true" sz="2551">
                <a:solidFill>
                  <a:srgbClr val="276CF4"/>
                </a:solidFill>
                <a:latin typeface="Poppins Bold"/>
                <a:ea typeface="Poppins Bold"/>
                <a:cs typeface="Poppins Bold"/>
                <a:sym typeface="Poppins Bold"/>
              </a:rPr>
              <a:t>string</a:t>
            </a:r>
            <a:r>
              <a:rPr lang="en-US" b="true" sz="2551">
                <a:solidFill>
                  <a:srgbClr val="FFFFFF"/>
                </a:solidFill>
                <a:latin typeface="Poppins Bold"/>
                <a:ea typeface="Poppins Bold"/>
                <a:cs typeface="Poppins Bold"/>
                <a:sym typeface="Poppins Bold"/>
              </a:rPr>
              <a:t> </a:t>
            </a:r>
            <a:r>
              <a:rPr lang="en-US" b="true" sz="2551">
                <a:solidFill>
                  <a:srgbClr val="AFF1FF"/>
                </a:solidFill>
                <a:latin typeface="Poppins Bold"/>
                <a:ea typeface="Poppins Bold"/>
                <a:cs typeface="Poppins Bold"/>
                <a:sym typeface="Poppins Bold"/>
              </a:rPr>
              <a:t>userName</a:t>
            </a:r>
            <a:r>
              <a:rPr lang="en-US" b="true" sz="2551">
                <a:solidFill>
                  <a:srgbClr val="FFFFFF"/>
                </a:solidFill>
                <a:latin typeface="Poppins Bold"/>
                <a:ea typeface="Poppins Bold"/>
                <a:cs typeface="Poppins Bold"/>
                <a:sym typeface="Poppins Bold"/>
              </a:rPr>
              <a:t>)</a:t>
            </a:r>
          </a:p>
        </p:txBody>
      </p:sp>
      <p:sp>
        <p:nvSpPr>
          <p:cNvPr name="Freeform 47" id="47"/>
          <p:cNvSpPr/>
          <p:nvPr/>
        </p:nvSpPr>
        <p:spPr>
          <a:xfrm flipH="false" flipV="false" rot="0">
            <a:off x="2132403" y="6625847"/>
            <a:ext cx="836324" cy="836324"/>
          </a:xfrm>
          <a:custGeom>
            <a:avLst/>
            <a:gdLst/>
            <a:ahLst/>
            <a:cxnLst/>
            <a:rect r="r" b="b" t="t" l="l"/>
            <a:pathLst>
              <a:path h="836324" w="836324">
                <a:moveTo>
                  <a:pt x="0" y="0"/>
                </a:moveTo>
                <a:lnTo>
                  <a:pt x="836324" y="0"/>
                </a:lnTo>
                <a:lnTo>
                  <a:pt x="836324" y="836324"/>
                </a:lnTo>
                <a:lnTo>
                  <a:pt x="0" y="8363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48" id="48"/>
          <p:cNvGrpSpPr/>
          <p:nvPr/>
        </p:nvGrpSpPr>
        <p:grpSpPr>
          <a:xfrm rot="0">
            <a:off x="9930893" y="7996766"/>
            <a:ext cx="8031576" cy="1695501"/>
            <a:chOff x="0" y="0"/>
            <a:chExt cx="2115312" cy="446552"/>
          </a:xfrm>
        </p:grpSpPr>
        <p:sp>
          <p:nvSpPr>
            <p:cNvPr name="Freeform 49" id="49"/>
            <p:cNvSpPr/>
            <p:nvPr/>
          </p:nvSpPr>
          <p:spPr>
            <a:xfrm flipH="false" flipV="false" rot="0">
              <a:off x="0" y="0"/>
              <a:ext cx="2115312" cy="446552"/>
            </a:xfrm>
            <a:custGeom>
              <a:avLst/>
              <a:gdLst/>
              <a:ahLst/>
              <a:cxnLst/>
              <a:rect r="r" b="b" t="t" l="l"/>
              <a:pathLst>
                <a:path h="446552" w="2115312">
                  <a:moveTo>
                    <a:pt x="29882" y="0"/>
                  </a:moveTo>
                  <a:lnTo>
                    <a:pt x="2085430" y="0"/>
                  </a:lnTo>
                  <a:cubicBezTo>
                    <a:pt x="2093355" y="0"/>
                    <a:pt x="2100956" y="3148"/>
                    <a:pt x="2106560" y="8752"/>
                  </a:cubicBezTo>
                  <a:cubicBezTo>
                    <a:pt x="2112164" y="14356"/>
                    <a:pt x="2115312" y="21957"/>
                    <a:pt x="2115312" y="29882"/>
                  </a:cubicBezTo>
                  <a:lnTo>
                    <a:pt x="2115312" y="416670"/>
                  </a:lnTo>
                  <a:cubicBezTo>
                    <a:pt x="2115312" y="433173"/>
                    <a:pt x="2101934" y="446552"/>
                    <a:pt x="2085430" y="446552"/>
                  </a:cubicBezTo>
                  <a:lnTo>
                    <a:pt x="29882" y="446552"/>
                  </a:lnTo>
                  <a:cubicBezTo>
                    <a:pt x="13379" y="446552"/>
                    <a:pt x="0" y="433173"/>
                    <a:pt x="0" y="416670"/>
                  </a:cubicBezTo>
                  <a:lnTo>
                    <a:pt x="0" y="29882"/>
                  </a:lnTo>
                  <a:cubicBezTo>
                    <a:pt x="0" y="13379"/>
                    <a:pt x="13379" y="0"/>
                    <a:pt x="29882" y="0"/>
                  </a:cubicBezTo>
                  <a:close/>
                </a:path>
              </a:pathLst>
            </a:custGeom>
            <a:solidFill>
              <a:srgbClr val="ACB0F2"/>
            </a:solidFill>
          </p:spPr>
        </p:sp>
        <p:sp>
          <p:nvSpPr>
            <p:cNvPr name="TextBox 50" id="50"/>
            <p:cNvSpPr txBox="true"/>
            <p:nvPr/>
          </p:nvSpPr>
          <p:spPr>
            <a:xfrm>
              <a:off x="0" y="-57150"/>
              <a:ext cx="2115312" cy="503702"/>
            </a:xfrm>
            <a:prstGeom prst="rect">
              <a:avLst/>
            </a:prstGeom>
          </p:spPr>
          <p:txBody>
            <a:bodyPr anchor="ctr" rtlCol="false" tIns="50800" lIns="50800" bIns="50800" rIns="50800"/>
            <a:lstStyle/>
            <a:p>
              <a:pPr algn="ctr">
                <a:lnSpc>
                  <a:spcPts val="2731"/>
                </a:lnSpc>
              </a:pPr>
            </a:p>
          </p:txBody>
        </p:sp>
      </p:grpSp>
      <p:grpSp>
        <p:nvGrpSpPr>
          <p:cNvPr name="Group 51" id="51"/>
          <p:cNvGrpSpPr/>
          <p:nvPr/>
        </p:nvGrpSpPr>
        <p:grpSpPr>
          <a:xfrm rot="0">
            <a:off x="10266511" y="8100735"/>
            <a:ext cx="1260311" cy="1135725"/>
            <a:chOff x="0" y="0"/>
            <a:chExt cx="331934" cy="299121"/>
          </a:xfrm>
        </p:grpSpPr>
        <p:sp>
          <p:nvSpPr>
            <p:cNvPr name="Freeform 52" id="52"/>
            <p:cNvSpPr/>
            <p:nvPr/>
          </p:nvSpPr>
          <p:spPr>
            <a:xfrm flipH="false" flipV="false" rot="0">
              <a:off x="0" y="0"/>
              <a:ext cx="331934" cy="299121"/>
            </a:xfrm>
            <a:custGeom>
              <a:avLst/>
              <a:gdLst/>
              <a:ahLst/>
              <a:cxnLst/>
              <a:rect r="r" b="b" t="t" l="l"/>
              <a:pathLst>
                <a:path h="299121" w="331934">
                  <a:moveTo>
                    <a:pt x="149560" y="0"/>
                  </a:moveTo>
                  <a:lnTo>
                    <a:pt x="182373" y="0"/>
                  </a:lnTo>
                  <a:cubicBezTo>
                    <a:pt x="222039" y="0"/>
                    <a:pt x="260081" y="15757"/>
                    <a:pt x="288129" y="43805"/>
                  </a:cubicBezTo>
                  <a:cubicBezTo>
                    <a:pt x="316177" y="71853"/>
                    <a:pt x="331934" y="109895"/>
                    <a:pt x="331934" y="149560"/>
                  </a:cubicBezTo>
                  <a:lnTo>
                    <a:pt x="331934" y="149560"/>
                  </a:lnTo>
                  <a:cubicBezTo>
                    <a:pt x="331934" y="232160"/>
                    <a:pt x="264973" y="299121"/>
                    <a:pt x="182373" y="299121"/>
                  </a:cubicBezTo>
                  <a:lnTo>
                    <a:pt x="149560" y="299121"/>
                  </a:lnTo>
                  <a:cubicBezTo>
                    <a:pt x="109895" y="299121"/>
                    <a:pt x="71853" y="283364"/>
                    <a:pt x="43805" y="255316"/>
                  </a:cubicBezTo>
                  <a:cubicBezTo>
                    <a:pt x="15757" y="227268"/>
                    <a:pt x="0" y="189226"/>
                    <a:pt x="0" y="149560"/>
                  </a:cubicBezTo>
                  <a:lnTo>
                    <a:pt x="0" y="149560"/>
                  </a:lnTo>
                  <a:cubicBezTo>
                    <a:pt x="0" y="109895"/>
                    <a:pt x="15757" y="71853"/>
                    <a:pt x="43805" y="43805"/>
                  </a:cubicBezTo>
                  <a:cubicBezTo>
                    <a:pt x="71853" y="15757"/>
                    <a:pt x="109895" y="0"/>
                    <a:pt x="149560" y="0"/>
                  </a:cubicBezTo>
                  <a:close/>
                </a:path>
              </a:pathLst>
            </a:custGeom>
            <a:solidFill>
              <a:srgbClr val="081269"/>
            </a:solidFill>
          </p:spPr>
        </p:sp>
        <p:sp>
          <p:nvSpPr>
            <p:cNvPr name="TextBox 53" id="53"/>
            <p:cNvSpPr txBox="true"/>
            <p:nvPr/>
          </p:nvSpPr>
          <p:spPr>
            <a:xfrm>
              <a:off x="0" y="-57150"/>
              <a:ext cx="331934" cy="356271"/>
            </a:xfrm>
            <a:prstGeom prst="rect">
              <a:avLst/>
            </a:prstGeom>
          </p:spPr>
          <p:txBody>
            <a:bodyPr anchor="ctr" rtlCol="false" tIns="50800" lIns="50800" bIns="50800" rIns="50800"/>
            <a:lstStyle/>
            <a:p>
              <a:pPr algn="ctr">
                <a:lnSpc>
                  <a:spcPts val="2731"/>
                </a:lnSpc>
              </a:pPr>
            </a:p>
          </p:txBody>
        </p:sp>
      </p:grpSp>
      <p:sp>
        <p:nvSpPr>
          <p:cNvPr name="Freeform 54" id="54"/>
          <p:cNvSpPr/>
          <p:nvPr/>
        </p:nvSpPr>
        <p:spPr>
          <a:xfrm flipH="false" flipV="false" rot="0">
            <a:off x="10482073" y="6742716"/>
            <a:ext cx="711870" cy="725473"/>
          </a:xfrm>
          <a:custGeom>
            <a:avLst/>
            <a:gdLst/>
            <a:ahLst/>
            <a:cxnLst/>
            <a:rect r="r" b="b" t="t" l="l"/>
            <a:pathLst>
              <a:path h="725473" w="711870">
                <a:moveTo>
                  <a:pt x="0" y="0"/>
                </a:moveTo>
                <a:lnTo>
                  <a:pt x="711870" y="0"/>
                </a:lnTo>
                <a:lnTo>
                  <a:pt x="711870" y="725473"/>
                </a:lnTo>
                <a:lnTo>
                  <a:pt x="0" y="725473"/>
                </a:lnTo>
                <a:lnTo>
                  <a:pt x="0" y="0"/>
                </a:lnTo>
                <a:close/>
              </a:path>
            </a:pathLst>
          </a:custGeom>
          <a:blipFill>
            <a:blip r:embed="rId10"/>
            <a:stretch>
              <a:fillRect l="0" t="0" r="0" b="0"/>
            </a:stretch>
          </a:blipFill>
        </p:spPr>
      </p:sp>
      <p:sp>
        <p:nvSpPr>
          <p:cNvPr name="Freeform 55" id="55"/>
          <p:cNvSpPr/>
          <p:nvPr/>
        </p:nvSpPr>
        <p:spPr>
          <a:xfrm flipH="false" flipV="false" rot="0">
            <a:off x="2132403" y="8265061"/>
            <a:ext cx="808135" cy="808135"/>
          </a:xfrm>
          <a:custGeom>
            <a:avLst/>
            <a:gdLst/>
            <a:ahLst/>
            <a:cxnLst/>
            <a:rect r="r" b="b" t="t" l="l"/>
            <a:pathLst>
              <a:path h="808135" w="808135">
                <a:moveTo>
                  <a:pt x="0" y="0"/>
                </a:moveTo>
                <a:lnTo>
                  <a:pt x="808135" y="0"/>
                </a:lnTo>
                <a:lnTo>
                  <a:pt x="808135" y="808135"/>
                </a:lnTo>
                <a:lnTo>
                  <a:pt x="0" y="8081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6" id="56"/>
          <p:cNvSpPr/>
          <p:nvPr/>
        </p:nvSpPr>
        <p:spPr>
          <a:xfrm flipH="false" flipV="false" rot="0">
            <a:off x="10473791" y="8158284"/>
            <a:ext cx="845751" cy="845751"/>
          </a:xfrm>
          <a:custGeom>
            <a:avLst/>
            <a:gdLst/>
            <a:ahLst/>
            <a:cxnLst/>
            <a:rect r="r" b="b" t="t" l="l"/>
            <a:pathLst>
              <a:path h="845751" w="845751">
                <a:moveTo>
                  <a:pt x="0" y="0"/>
                </a:moveTo>
                <a:lnTo>
                  <a:pt x="845751" y="0"/>
                </a:lnTo>
                <a:lnTo>
                  <a:pt x="845751" y="845751"/>
                </a:lnTo>
                <a:lnTo>
                  <a:pt x="0" y="84575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7" id="57"/>
          <p:cNvSpPr txBox="true"/>
          <p:nvPr/>
        </p:nvSpPr>
        <p:spPr>
          <a:xfrm rot="0">
            <a:off x="1740474" y="1452689"/>
            <a:ext cx="12933353" cy="1769732"/>
          </a:xfrm>
          <a:prstGeom prst="rect">
            <a:avLst/>
          </a:prstGeom>
        </p:spPr>
        <p:txBody>
          <a:bodyPr anchor="t" rtlCol="false" tIns="0" lIns="0" bIns="0" rIns="0">
            <a:spAutoFit/>
          </a:bodyPr>
          <a:lstStyle/>
          <a:p>
            <a:pPr algn="l">
              <a:lnSpc>
                <a:spcPts val="13788"/>
              </a:lnSpc>
            </a:pPr>
            <a:r>
              <a:rPr lang="en-US" sz="9849" b="true">
                <a:solidFill>
                  <a:srgbClr val="FFFFFF"/>
                </a:solidFill>
                <a:latin typeface="Poppins Bold"/>
                <a:ea typeface="Poppins Bold"/>
                <a:cs typeface="Poppins Bold"/>
                <a:sym typeface="Poppins Bold"/>
              </a:rPr>
              <a:t>User Management</a:t>
            </a:r>
          </a:p>
        </p:txBody>
      </p:sp>
      <p:sp>
        <p:nvSpPr>
          <p:cNvPr name="TextBox 58" id="58"/>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000C74"/>
                </a:solidFill>
                <a:latin typeface="Poppins Bold"/>
                <a:ea typeface="Poppins Bold"/>
                <a:cs typeface="Poppins Bold"/>
                <a:sym typeface="Poppins Bold"/>
              </a:rPr>
              <a:t>NHÓM 1</a:t>
            </a:r>
          </a:p>
        </p:txBody>
      </p:sp>
      <p:sp>
        <p:nvSpPr>
          <p:cNvPr name="TextBox 59" id="59"/>
          <p:cNvSpPr txBox="true"/>
          <p:nvPr/>
        </p:nvSpPr>
        <p:spPr>
          <a:xfrm rot="0">
            <a:off x="13890575" y="682007"/>
            <a:ext cx="1589190"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solidFill>
                <a:latin typeface="Poppins Bold"/>
                <a:ea typeface="Poppins Bold"/>
                <a:cs typeface="Poppins Bold"/>
                <a:sym typeface="Poppins Bold"/>
              </a:rPr>
              <a:t>GIAO THỨC ỨNG DỤNG</a:t>
            </a:r>
          </a:p>
        </p:txBody>
      </p:sp>
      <p:sp>
        <p:nvSpPr>
          <p:cNvPr name="TextBox 60" id="60"/>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TỔNG QUAN</a:t>
            </a:r>
          </a:p>
        </p:txBody>
      </p:sp>
      <p:sp>
        <p:nvSpPr>
          <p:cNvPr name="TextBox 61" id="61"/>
          <p:cNvSpPr txBox="true"/>
          <p:nvPr/>
        </p:nvSpPr>
        <p:spPr>
          <a:xfrm rot="0">
            <a:off x="11609447" y="703973"/>
            <a:ext cx="1907082" cy="693385"/>
          </a:xfrm>
          <a:prstGeom prst="rect">
            <a:avLst/>
          </a:prstGeom>
        </p:spPr>
        <p:txBody>
          <a:bodyPr anchor="t" rtlCol="false" tIns="0" lIns="0" bIns="0" rIns="0">
            <a:spAutoFit/>
          </a:bodyPr>
          <a:lstStyle/>
          <a:p>
            <a:pPr algn="ctr" marL="0" indent="0" lvl="0">
              <a:lnSpc>
                <a:spcPts val="2731"/>
              </a:lnSpc>
              <a:spcBef>
                <a:spcPct val="0"/>
              </a:spcBef>
            </a:pPr>
            <a:r>
              <a:rPr lang="en-US" b="true" sz="1951">
                <a:solidFill>
                  <a:srgbClr val="FFFFFF">
                    <a:alpha val="49804"/>
                  </a:srgbClr>
                </a:solidFill>
                <a:latin typeface="Poppins Bold"/>
                <a:ea typeface="Poppins Bold"/>
                <a:cs typeface="Poppins Bold"/>
                <a:sym typeface="Poppins Bold"/>
              </a:rPr>
              <a:t>PHÂN TÍCH THIẾT KẾ</a:t>
            </a:r>
          </a:p>
        </p:txBody>
      </p:sp>
      <p:sp>
        <p:nvSpPr>
          <p:cNvPr name="TextBox 62" id="62"/>
          <p:cNvSpPr txBox="true"/>
          <p:nvPr/>
        </p:nvSpPr>
        <p:spPr>
          <a:xfrm rot="0">
            <a:off x="15737494" y="703973"/>
            <a:ext cx="2224975" cy="693385"/>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FFFFFF">
                    <a:alpha val="49804"/>
                  </a:srgbClr>
                </a:solidFill>
                <a:latin typeface="Poppins Bold"/>
                <a:ea typeface="Poppins Bold"/>
                <a:cs typeface="Poppins Bold"/>
                <a:sym typeface="Poppins Bold"/>
              </a:rPr>
              <a:t>HIỆN THỨC HÓA HỆ THÔNG</a:t>
            </a:r>
          </a:p>
        </p:txBody>
      </p:sp>
      <p:sp>
        <p:nvSpPr>
          <p:cNvPr name="TextBox 63" id="63"/>
          <p:cNvSpPr txBox="true"/>
          <p:nvPr/>
        </p:nvSpPr>
        <p:spPr>
          <a:xfrm rot="0">
            <a:off x="1751817" y="3304930"/>
            <a:ext cx="7919285" cy="987666"/>
          </a:xfrm>
          <a:prstGeom prst="rect">
            <a:avLst/>
          </a:prstGeom>
        </p:spPr>
        <p:txBody>
          <a:bodyPr anchor="t" rtlCol="false" tIns="0" lIns="0" bIns="0" rIns="0">
            <a:spAutoFit/>
          </a:bodyPr>
          <a:lstStyle/>
          <a:p>
            <a:pPr algn="l">
              <a:lnSpc>
                <a:spcPts val="3836"/>
              </a:lnSpc>
            </a:pPr>
            <a:r>
              <a:rPr lang="en-US" sz="2740" b="true">
                <a:solidFill>
                  <a:srgbClr val="FFFFFF"/>
                </a:solidFill>
                <a:latin typeface="Poppins Bold"/>
                <a:ea typeface="Poppins Bold"/>
                <a:cs typeface="Poppins Bold"/>
                <a:sym typeface="Poppins Bold"/>
              </a:rPr>
              <a:t>Hệ thống sử dụng lớp UserManager để quản lý các User.</a:t>
            </a:r>
          </a:p>
        </p:txBody>
      </p:sp>
      <p:sp>
        <p:nvSpPr>
          <p:cNvPr name="TextBox 64" id="64"/>
          <p:cNvSpPr txBox="true"/>
          <p:nvPr/>
        </p:nvSpPr>
        <p:spPr>
          <a:xfrm rot="0">
            <a:off x="2011608" y="5704554"/>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THÊM USER VÀO PHÒNG</a:t>
            </a:r>
          </a:p>
        </p:txBody>
      </p:sp>
      <p:sp>
        <p:nvSpPr>
          <p:cNvPr name="TextBox 65" id="65"/>
          <p:cNvSpPr txBox="true"/>
          <p:nvPr/>
        </p:nvSpPr>
        <p:spPr>
          <a:xfrm rot="0">
            <a:off x="2011608" y="8891709"/>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TÌM USER</a:t>
            </a:r>
          </a:p>
        </p:txBody>
      </p:sp>
      <p:sp>
        <p:nvSpPr>
          <p:cNvPr name="TextBox 66" id="66"/>
          <p:cNvSpPr txBox="true"/>
          <p:nvPr/>
        </p:nvSpPr>
        <p:spPr>
          <a:xfrm rot="0">
            <a:off x="10482073" y="7258353"/>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LẤY DANH SÁCH NGƯỜI TRONG PHÒNG</a:t>
            </a:r>
          </a:p>
        </p:txBody>
      </p:sp>
      <p:sp>
        <p:nvSpPr>
          <p:cNvPr name="TextBox 67" id="67"/>
          <p:cNvSpPr txBox="true"/>
          <p:nvPr/>
        </p:nvSpPr>
        <p:spPr>
          <a:xfrm rot="0">
            <a:off x="10065391" y="5702942"/>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LẤY DANH SÁCH USER</a:t>
            </a:r>
          </a:p>
        </p:txBody>
      </p:sp>
      <p:sp>
        <p:nvSpPr>
          <p:cNvPr name="TextBox 68" id="68"/>
          <p:cNvSpPr txBox="true"/>
          <p:nvPr/>
        </p:nvSpPr>
        <p:spPr>
          <a:xfrm rot="0">
            <a:off x="1955029" y="5049268"/>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AddUser</a:t>
            </a:r>
            <a:r>
              <a:rPr lang="en-US" b="true" sz="2551">
                <a:solidFill>
                  <a:srgbClr val="FFFFFF"/>
                </a:solidFill>
                <a:latin typeface="Poppins Bold"/>
                <a:ea typeface="Poppins Bold"/>
                <a:cs typeface="Poppins Bold"/>
                <a:sym typeface="Poppins Bold"/>
              </a:rPr>
              <a:t>(</a:t>
            </a:r>
            <a:r>
              <a:rPr lang="en-US" b="true" sz="2551">
                <a:solidFill>
                  <a:srgbClr val="0DFF00"/>
                </a:solidFill>
                <a:latin typeface="Poppins Bold"/>
                <a:ea typeface="Poppins Bold"/>
                <a:cs typeface="Poppins Bold"/>
                <a:sym typeface="Poppins Bold"/>
              </a:rPr>
              <a:t>User </a:t>
            </a:r>
            <a:r>
              <a:rPr lang="en-US" b="true" sz="2551">
                <a:solidFill>
                  <a:srgbClr val="AFF1FF"/>
                </a:solidFill>
                <a:latin typeface="Poppins Bold"/>
                <a:ea typeface="Poppins Bold"/>
                <a:cs typeface="Poppins Bold"/>
                <a:sym typeface="Poppins Bold"/>
              </a:rPr>
              <a:t>user</a:t>
            </a:r>
            <a:r>
              <a:rPr lang="en-US" b="true" sz="2551">
                <a:solidFill>
                  <a:srgbClr val="FFFFFF"/>
                </a:solidFill>
                <a:latin typeface="Poppins Bold"/>
                <a:ea typeface="Poppins Bold"/>
                <a:cs typeface="Poppins Bold"/>
                <a:sym typeface="Poppins Bold"/>
              </a:rPr>
              <a:t>)</a:t>
            </a:r>
          </a:p>
        </p:txBody>
      </p:sp>
      <p:sp>
        <p:nvSpPr>
          <p:cNvPr name="TextBox 69" id="69"/>
          <p:cNvSpPr txBox="true"/>
          <p:nvPr/>
        </p:nvSpPr>
        <p:spPr>
          <a:xfrm rot="0">
            <a:off x="10714185" y="6646382"/>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GetUserInRoom</a:t>
            </a:r>
            <a:r>
              <a:rPr lang="en-US" b="true" sz="2551">
                <a:solidFill>
                  <a:srgbClr val="FFFFFF"/>
                </a:solidFill>
                <a:latin typeface="Poppins Bold"/>
                <a:ea typeface="Poppins Bold"/>
                <a:cs typeface="Poppins Bold"/>
                <a:sym typeface="Poppins Bold"/>
              </a:rPr>
              <a:t>(</a:t>
            </a:r>
            <a:r>
              <a:rPr lang="en-US" b="true" sz="2551">
                <a:solidFill>
                  <a:srgbClr val="276CF4"/>
                </a:solidFill>
                <a:latin typeface="Poppins Bold"/>
                <a:ea typeface="Poppins Bold"/>
                <a:cs typeface="Poppins Bold"/>
                <a:sym typeface="Poppins Bold"/>
              </a:rPr>
              <a:t>string </a:t>
            </a:r>
            <a:r>
              <a:rPr lang="en-US" b="true" sz="2551">
                <a:solidFill>
                  <a:srgbClr val="AFF1FF"/>
                </a:solidFill>
                <a:latin typeface="Poppins Bold"/>
                <a:ea typeface="Poppins Bold"/>
                <a:cs typeface="Poppins Bold"/>
                <a:sym typeface="Poppins Bold"/>
              </a:rPr>
              <a:t>roomName</a:t>
            </a:r>
            <a:r>
              <a:rPr lang="en-US" b="true" sz="2551">
                <a:solidFill>
                  <a:srgbClr val="FFFFFF"/>
                </a:solidFill>
                <a:latin typeface="Poppins Bold"/>
                <a:ea typeface="Poppins Bold"/>
                <a:cs typeface="Poppins Bold"/>
                <a:sym typeface="Poppins Bold"/>
              </a:rPr>
              <a:t>)</a:t>
            </a:r>
          </a:p>
        </p:txBody>
      </p:sp>
      <p:sp>
        <p:nvSpPr>
          <p:cNvPr name="TextBox 70" id="70"/>
          <p:cNvSpPr txBox="true"/>
          <p:nvPr/>
        </p:nvSpPr>
        <p:spPr>
          <a:xfrm rot="0">
            <a:off x="10266511" y="5049268"/>
            <a:ext cx="7919285" cy="459071"/>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GetAllUsers</a:t>
            </a:r>
            <a:r>
              <a:rPr lang="en-US" b="true" sz="2551">
                <a:solidFill>
                  <a:srgbClr val="FFFFFF"/>
                </a:solidFill>
                <a:latin typeface="Poppins Bold"/>
                <a:ea typeface="Poppins Bold"/>
                <a:cs typeface="Poppins Bold"/>
                <a:sym typeface="Poppins Bold"/>
              </a:rPr>
              <a:t>()</a:t>
            </a:r>
          </a:p>
        </p:txBody>
      </p:sp>
      <p:sp>
        <p:nvSpPr>
          <p:cNvPr name="TextBox 71" id="71"/>
          <p:cNvSpPr txBox="true"/>
          <p:nvPr/>
        </p:nvSpPr>
        <p:spPr>
          <a:xfrm rot="0">
            <a:off x="10176394" y="9076714"/>
            <a:ext cx="7650367" cy="350486"/>
          </a:xfrm>
          <a:prstGeom prst="rect">
            <a:avLst/>
          </a:prstGeom>
        </p:spPr>
        <p:txBody>
          <a:bodyPr anchor="t" rtlCol="false" tIns="0" lIns="0" bIns="0" rIns="0">
            <a:spAutoFit/>
          </a:bodyPr>
          <a:lstStyle/>
          <a:p>
            <a:pPr algn="ctr">
              <a:lnSpc>
                <a:spcPts val="2731"/>
              </a:lnSpc>
              <a:spcBef>
                <a:spcPct val="0"/>
              </a:spcBef>
            </a:pPr>
            <a:r>
              <a:rPr lang="en-US" b="true" sz="1951">
                <a:solidFill>
                  <a:srgbClr val="FFFFFF"/>
                </a:solidFill>
                <a:latin typeface="Poppins Bold"/>
                <a:ea typeface="Poppins Bold"/>
                <a:cs typeface="Poppins Bold"/>
                <a:sym typeface="Poppins Bold"/>
              </a:rPr>
              <a:t>ĐỔI PHÒNG</a:t>
            </a:r>
          </a:p>
        </p:txBody>
      </p:sp>
      <p:sp>
        <p:nvSpPr>
          <p:cNvPr name="TextBox 72" id="72"/>
          <p:cNvSpPr txBox="true"/>
          <p:nvPr/>
        </p:nvSpPr>
        <p:spPr>
          <a:xfrm rot="0">
            <a:off x="11436705" y="8186859"/>
            <a:ext cx="6525763" cy="906746"/>
          </a:xfrm>
          <a:prstGeom prst="rect">
            <a:avLst/>
          </a:prstGeom>
        </p:spPr>
        <p:txBody>
          <a:bodyPr anchor="t" rtlCol="false" tIns="0" lIns="0" bIns="0" rIns="0">
            <a:spAutoFit/>
          </a:bodyPr>
          <a:lstStyle/>
          <a:p>
            <a:pPr algn="ctr">
              <a:lnSpc>
                <a:spcPts val="3571"/>
              </a:lnSpc>
              <a:spcBef>
                <a:spcPct val="0"/>
              </a:spcBef>
            </a:pPr>
            <a:r>
              <a:rPr lang="en-US" b="true" sz="2551">
                <a:solidFill>
                  <a:srgbClr val="FFDE59"/>
                </a:solidFill>
                <a:latin typeface="Poppins Bold"/>
                <a:ea typeface="Poppins Bold"/>
                <a:cs typeface="Poppins Bold"/>
                <a:sym typeface="Poppins Bold"/>
              </a:rPr>
              <a:t>ChangeRoom</a:t>
            </a:r>
            <a:r>
              <a:rPr lang="en-US" b="true" sz="2551">
                <a:solidFill>
                  <a:srgbClr val="FFFFFF"/>
                </a:solidFill>
                <a:latin typeface="Poppins Bold"/>
                <a:ea typeface="Poppins Bold"/>
                <a:cs typeface="Poppins Bold"/>
                <a:sym typeface="Poppins Bold"/>
              </a:rPr>
              <a:t>(</a:t>
            </a:r>
            <a:r>
              <a:rPr lang="en-US" b="true" sz="2551">
                <a:solidFill>
                  <a:srgbClr val="276CF4"/>
                </a:solidFill>
                <a:latin typeface="Poppins Bold"/>
                <a:ea typeface="Poppins Bold"/>
                <a:cs typeface="Poppins Bold"/>
                <a:sym typeface="Poppins Bold"/>
              </a:rPr>
              <a:t>string </a:t>
            </a:r>
            <a:r>
              <a:rPr lang="en-US" b="true" sz="2551">
                <a:solidFill>
                  <a:srgbClr val="AFF1FF"/>
                </a:solidFill>
                <a:latin typeface="Poppins Bold"/>
                <a:ea typeface="Poppins Bold"/>
                <a:cs typeface="Poppins Bold"/>
                <a:sym typeface="Poppins Bold"/>
              </a:rPr>
              <a:t>userName</a:t>
            </a:r>
            <a:r>
              <a:rPr lang="en-US" b="true" sz="2551">
                <a:solidFill>
                  <a:srgbClr val="FFFFFF"/>
                </a:solidFill>
                <a:latin typeface="Poppins Bold"/>
                <a:ea typeface="Poppins Bold"/>
                <a:cs typeface="Poppins Bold"/>
                <a:sym typeface="Poppins Bold"/>
              </a:rPr>
              <a:t>,</a:t>
            </a:r>
            <a:r>
              <a:rPr lang="en-US" b="true" sz="2551">
                <a:solidFill>
                  <a:srgbClr val="276CF4"/>
                </a:solidFill>
                <a:latin typeface="Poppins Bold"/>
                <a:ea typeface="Poppins Bold"/>
                <a:cs typeface="Poppins Bold"/>
                <a:sym typeface="Poppins Bold"/>
              </a:rPr>
              <a:t>string </a:t>
            </a:r>
            <a:r>
              <a:rPr lang="en-US" b="true" sz="2551">
                <a:solidFill>
                  <a:srgbClr val="AFF1FF"/>
                </a:solidFill>
                <a:latin typeface="Poppins Bold"/>
                <a:ea typeface="Poppins Bold"/>
                <a:cs typeface="Poppins Bold"/>
                <a:sym typeface="Poppins Bold"/>
              </a:rPr>
              <a:t>roomName</a:t>
            </a:r>
            <a:r>
              <a:rPr lang="en-US" b="true" sz="2551">
                <a:solidFill>
                  <a:srgbClr val="FFFFFF"/>
                </a:solidFill>
                <a:latin typeface="Poppins Bold"/>
                <a:ea typeface="Poppins Bold"/>
                <a:cs typeface="Poppins Bold"/>
                <a:sym typeface="Poppins Bold"/>
              </a:rPr>
              <a:t>)</a:t>
            </a:r>
          </a:p>
        </p:txBody>
      </p:sp>
      <p:sp>
        <p:nvSpPr>
          <p:cNvPr name="TextBox 73" id="73"/>
          <p:cNvSpPr txBox="true"/>
          <p:nvPr/>
        </p:nvSpPr>
        <p:spPr>
          <a:xfrm rot="0">
            <a:off x="7729565" y="5130959"/>
            <a:ext cx="6070893" cy="617186"/>
          </a:xfrm>
          <a:prstGeom prst="rect">
            <a:avLst/>
          </a:prstGeom>
        </p:spPr>
        <p:txBody>
          <a:bodyPr anchor="t" rtlCol="false" tIns="0" lIns="0" bIns="0" rIns="0">
            <a:spAutoFit/>
          </a:bodyPr>
          <a:lstStyle/>
          <a:p>
            <a:pPr algn="ctr">
              <a:lnSpc>
                <a:spcPts val="4831"/>
              </a:lnSpc>
              <a:spcBef>
                <a:spcPct val="0"/>
              </a:spcBef>
            </a:pPr>
            <a:r>
              <a:rPr lang="en-US" b="true" sz="3451">
                <a:solidFill>
                  <a:srgbClr val="E0E1F5"/>
                </a:solidFill>
                <a:latin typeface="Poppins Bold"/>
                <a:ea typeface="Poppins Bold"/>
                <a:cs typeface="Poppins Bold"/>
                <a:sym typeface="Poppins Bold"/>
              </a:rPr>
              <a:t>ALL</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352054" y="1747935"/>
            <a:ext cx="5074305" cy="4114800"/>
          </a:xfrm>
          <a:custGeom>
            <a:avLst/>
            <a:gdLst/>
            <a:ahLst/>
            <a:cxnLst/>
            <a:rect r="r" b="b" t="t" l="l"/>
            <a:pathLst>
              <a:path h="4114800" w="5074305">
                <a:moveTo>
                  <a:pt x="0" y="0"/>
                </a:moveTo>
                <a:lnTo>
                  <a:pt x="5074305" y="0"/>
                </a:lnTo>
                <a:lnTo>
                  <a:pt x="507430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824671" y="2764444"/>
            <a:ext cx="12581166" cy="7447611"/>
            <a:chOff x="0" y="0"/>
            <a:chExt cx="3313558" cy="1961511"/>
          </a:xfrm>
        </p:grpSpPr>
        <p:sp>
          <p:nvSpPr>
            <p:cNvPr name="Freeform 4" id="4"/>
            <p:cNvSpPr/>
            <p:nvPr/>
          </p:nvSpPr>
          <p:spPr>
            <a:xfrm flipH="false" flipV="false" rot="0">
              <a:off x="0" y="0"/>
              <a:ext cx="3313558" cy="1961511"/>
            </a:xfrm>
            <a:custGeom>
              <a:avLst/>
              <a:gdLst/>
              <a:ahLst/>
              <a:cxnLst/>
              <a:rect r="r" b="b" t="t" l="l"/>
              <a:pathLst>
                <a:path h="1961511" w="3313558">
                  <a:moveTo>
                    <a:pt x="20922" y="0"/>
                  </a:moveTo>
                  <a:lnTo>
                    <a:pt x="3292636" y="0"/>
                  </a:lnTo>
                  <a:cubicBezTo>
                    <a:pt x="3304191" y="0"/>
                    <a:pt x="3313558" y="9367"/>
                    <a:pt x="3313558" y="20922"/>
                  </a:cubicBezTo>
                  <a:lnTo>
                    <a:pt x="3313558" y="1940589"/>
                  </a:lnTo>
                  <a:cubicBezTo>
                    <a:pt x="3313558" y="1946138"/>
                    <a:pt x="3311354" y="1951459"/>
                    <a:pt x="3307430" y="1955383"/>
                  </a:cubicBezTo>
                  <a:cubicBezTo>
                    <a:pt x="3303506" y="1959307"/>
                    <a:pt x="3298185" y="1961511"/>
                    <a:pt x="3292636" y="1961511"/>
                  </a:cubicBezTo>
                  <a:lnTo>
                    <a:pt x="20922" y="1961511"/>
                  </a:lnTo>
                  <a:cubicBezTo>
                    <a:pt x="15373" y="1961511"/>
                    <a:pt x="10052" y="1959307"/>
                    <a:pt x="6128" y="1955383"/>
                  </a:cubicBezTo>
                  <a:cubicBezTo>
                    <a:pt x="2204" y="1951459"/>
                    <a:pt x="0" y="1946138"/>
                    <a:pt x="0" y="1940589"/>
                  </a:cubicBezTo>
                  <a:lnTo>
                    <a:pt x="0" y="20922"/>
                  </a:lnTo>
                  <a:cubicBezTo>
                    <a:pt x="0" y="15373"/>
                    <a:pt x="2204" y="10052"/>
                    <a:pt x="6128" y="6128"/>
                  </a:cubicBezTo>
                  <a:cubicBezTo>
                    <a:pt x="10052" y="2204"/>
                    <a:pt x="15373" y="0"/>
                    <a:pt x="20922" y="0"/>
                  </a:cubicBezTo>
                  <a:close/>
                </a:path>
              </a:pathLst>
            </a:custGeom>
            <a:solidFill>
              <a:srgbClr val="000C74"/>
            </a:solidFill>
          </p:spPr>
        </p:sp>
        <p:sp>
          <p:nvSpPr>
            <p:cNvPr name="TextBox 5" id="5"/>
            <p:cNvSpPr txBox="true"/>
            <p:nvPr/>
          </p:nvSpPr>
          <p:spPr>
            <a:xfrm>
              <a:off x="0" y="-57150"/>
              <a:ext cx="3313558" cy="2018661"/>
            </a:xfrm>
            <a:prstGeom prst="rect">
              <a:avLst/>
            </a:prstGeom>
          </p:spPr>
          <p:txBody>
            <a:bodyPr anchor="ctr" rtlCol="false" tIns="50800" lIns="50800" bIns="50800" rIns="50800"/>
            <a:lstStyle/>
            <a:p>
              <a:pPr algn="ctr">
                <a:lnSpc>
                  <a:spcPts val="2731"/>
                </a:lnSpc>
              </a:pPr>
            </a:p>
          </p:txBody>
        </p:sp>
      </p:grpSp>
      <p:grpSp>
        <p:nvGrpSpPr>
          <p:cNvPr name="Group 6" id="6"/>
          <p:cNvGrpSpPr/>
          <p:nvPr/>
        </p:nvGrpSpPr>
        <p:grpSpPr>
          <a:xfrm rot="0">
            <a:off x="-2958391" y="-4053734"/>
            <a:ext cx="12102391" cy="1210239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308854" y="-2404197"/>
            <a:ext cx="8803317" cy="880331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440834" y="679099"/>
            <a:ext cx="4385302" cy="775403"/>
            <a:chOff x="0" y="0"/>
            <a:chExt cx="1200079" cy="212196"/>
          </a:xfrm>
        </p:grpSpPr>
        <p:sp>
          <p:nvSpPr>
            <p:cNvPr name="Freeform 13" id="13"/>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4" id="14"/>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5" id="15"/>
          <p:cNvSpPr/>
          <p:nvPr/>
        </p:nvSpPr>
        <p:spPr>
          <a:xfrm flipH="false" flipV="false" rot="0">
            <a:off x="4024443" y="2876666"/>
            <a:ext cx="12228994" cy="7132410"/>
          </a:xfrm>
          <a:custGeom>
            <a:avLst/>
            <a:gdLst/>
            <a:ahLst/>
            <a:cxnLst/>
            <a:rect r="r" b="b" t="t" l="l"/>
            <a:pathLst>
              <a:path h="7132410" w="12228994">
                <a:moveTo>
                  <a:pt x="0" y="0"/>
                </a:moveTo>
                <a:lnTo>
                  <a:pt x="12228994" y="0"/>
                </a:lnTo>
                <a:lnTo>
                  <a:pt x="12228994" y="7132410"/>
                </a:lnTo>
                <a:lnTo>
                  <a:pt x="0" y="7132410"/>
                </a:lnTo>
                <a:lnTo>
                  <a:pt x="0" y="0"/>
                </a:lnTo>
                <a:close/>
              </a:path>
            </a:pathLst>
          </a:custGeom>
          <a:blipFill>
            <a:blip r:embed="rId4"/>
            <a:stretch>
              <a:fillRect l="0" t="0" r="0" b="0"/>
            </a:stretch>
          </a:blipFill>
        </p:spPr>
      </p:sp>
      <p:sp>
        <p:nvSpPr>
          <p:cNvPr name="TextBox 16" id="16"/>
          <p:cNvSpPr txBox="true"/>
          <p:nvPr/>
        </p:nvSpPr>
        <p:spPr>
          <a:xfrm rot="0">
            <a:off x="1625064" y="1594257"/>
            <a:ext cx="7783434" cy="1127183"/>
          </a:xfrm>
          <a:prstGeom prst="rect">
            <a:avLst/>
          </a:prstGeom>
        </p:spPr>
        <p:txBody>
          <a:bodyPr anchor="t" rtlCol="false" tIns="0" lIns="0" bIns="0" rIns="0">
            <a:spAutoFit/>
          </a:bodyPr>
          <a:lstStyle/>
          <a:p>
            <a:pPr algn="l">
              <a:lnSpc>
                <a:spcPts val="8735"/>
              </a:lnSpc>
            </a:pPr>
            <a:r>
              <a:rPr lang="en-US" sz="6239" b="true">
                <a:solidFill>
                  <a:srgbClr val="081269"/>
                </a:solidFill>
                <a:latin typeface="Poppins Bold"/>
                <a:ea typeface="Poppins Bold"/>
                <a:cs typeface="Poppins Bold"/>
                <a:sym typeface="Poppins Bold"/>
              </a:rPr>
              <a:t>Giao Diện Winform</a:t>
            </a:r>
          </a:p>
        </p:txBody>
      </p:sp>
      <p:sp>
        <p:nvSpPr>
          <p:cNvPr name="TextBox 17" id="17"/>
          <p:cNvSpPr txBox="true"/>
          <p:nvPr/>
        </p:nvSpPr>
        <p:spPr>
          <a:xfrm rot="0">
            <a:off x="1625064" y="2889769"/>
            <a:ext cx="2975619" cy="982658"/>
          </a:xfrm>
          <a:prstGeom prst="rect">
            <a:avLst/>
          </a:prstGeom>
        </p:spPr>
        <p:txBody>
          <a:bodyPr anchor="t" rtlCol="false" tIns="0" lIns="0" bIns="0" rIns="0">
            <a:spAutoFit/>
          </a:bodyPr>
          <a:lstStyle/>
          <a:p>
            <a:pPr algn="l">
              <a:lnSpc>
                <a:spcPts val="7643"/>
              </a:lnSpc>
            </a:pPr>
            <a:r>
              <a:rPr lang="en-US" sz="5459">
                <a:solidFill>
                  <a:srgbClr val="081269"/>
                </a:solidFill>
                <a:latin typeface="Poppins"/>
                <a:ea typeface="Poppins"/>
                <a:cs typeface="Poppins"/>
                <a:sym typeface="Poppins"/>
              </a:rPr>
              <a:t>Client</a:t>
            </a:r>
          </a:p>
        </p:txBody>
      </p:sp>
      <p:sp>
        <p:nvSpPr>
          <p:cNvPr name="TextBox 18" id="18"/>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NHÓM 1</a:t>
            </a:r>
          </a:p>
        </p:txBody>
      </p:sp>
      <p:sp>
        <p:nvSpPr>
          <p:cNvPr name="TextBox 19" id="19"/>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0" id="20"/>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solidFill>
                <a:latin typeface="Poppins Bold"/>
                <a:ea typeface="Poppins Bold"/>
                <a:cs typeface="Poppins Bold"/>
                <a:sym typeface="Poppins Bold"/>
              </a:rPr>
              <a:t>HIỆN THỨC HÓA HỆ THÔNG</a:t>
            </a:r>
          </a:p>
        </p:txBody>
      </p:sp>
      <p:sp>
        <p:nvSpPr>
          <p:cNvPr name="TextBox 21" id="21"/>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2" id="22"/>
          <p:cNvSpPr txBox="true"/>
          <p:nvPr/>
        </p:nvSpPr>
        <p:spPr>
          <a:xfrm rot="0">
            <a:off x="11609447" y="703973"/>
            <a:ext cx="1907082"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alpha val="49804"/>
                  </a:srgbClr>
                </a:solidFill>
                <a:latin typeface="Poppins Bold"/>
                <a:ea typeface="Poppins Bold"/>
                <a:cs typeface="Poppins Bold"/>
                <a:sym typeface="Poppins Bold"/>
              </a:rPr>
              <a:t>PHÂN TÍCH THIẾT KẾ</a:t>
            </a:r>
          </a:p>
        </p:txBody>
      </p:sp>
      <p:sp>
        <p:nvSpPr>
          <p:cNvPr name="TextBox 23" id="23"/>
          <p:cNvSpPr txBox="true"/>
          <p:nvPr/>
        </p:nvSpPr>
        <p:spPr>
          <a:xfrm rot="0">
            <a:off x="517900" y="4491782"/>
            <a:ext cx="7621155" cy="651718"/>
          </a:xfrm>
          <a:prstGeom prst="rect">
            <a:avLst/>
          </a:prstGeom>
        </p:spPr>
        <p:txBody>
          <a:bodyPr anchor="t" rtlCol="false" tIns="0" lIns="0" bIns="0" rIns="0">
            <a:spAutoFit/>
          </a:bodyPr>
          <a:lstStyle/>
          <a:p>
            <a:pPr algn="just">
              <a:lnSpc>
                <a:spcPts val="5028"/>
              </a:lnSpc>
            </a:pPr>
            <a:r>
              <a:rPr lang="en-US" sz="3591">
                <a:solidFill>
                  <a:srgbClr val="081269"/>
                </a:solidFill>
                <a:latin typeface="Poppins"/>
                <a:ea typeface="Poppins"/>
                <a:cs typeface="Poppins"/>
                <a:sym typeface="Poppins"/>
              </a:rPr>
              <a:t>Login form</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352054" y="1747935"/>
            <a:ext cx="5074305" cy="4114800"/>
          </a:xfrm>
          <a:custGeom>
            <a:avLst/>
            <a:gdLst/>
            <a:ahLst/>
            <a:cxnLst/>
            <a:rect r="r" b="b" t="t" l="l"/>
            <a:pathLst>
              <a:path h="4114800" w="5074305">
                <a:moveTo>
                  <a:pt x="0" y="0"/>
                </a:moveTo>
                <a:lnTo>
                  <a:pt x="5074305" y="0"/>
                </a:lnTo>
                <a:lnTo>
                  <a:pt x="507430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824671" y="2764444"/>
            <a:ext cx="13434629" cy="7447611"/>
            <a:chOff x="0" y="0"/>
            <a:chExt cx="3538339" cy="1961511"/>
          </a:xfrm>
        </p:grpSpPr>
        <p:sp>
          <p:nvSpPr>
            <p:cNvPr name="Freeform 4" id="4"/>
            <p:cNvSpPr/>
            <p:nvPr/>
          </p:nvSpPr>
          <p:spPr>
            <a:xfrm flipH="false" flipV="false" rot="0">
              <a:off x="0" y="0"/>
              <a:ext cx="3538339" cy="1961511"/>
            </a:xfrm>
            <a:custGeom>
              <a:avLst/>
              <a:gdLst/>
              <a:ahLst/>
              <a:cxnLst/>
              <a:rect r="r" b="b" t="t" l="l"/>
              <a:pathLst>
                <a:path h="1961511" w="3538339">
                  <a:moveTo>
                    <a:pt x="19593" y="0"/>
                  </a:moveTo>
                  <a:lnTo>
                    <a:pt x="3518746" y="0"/>
                  </a:lnTo>
                  <a:cubicBezTo>
                    <a:pt x="3529567" y="0"/>
                    <a:pt x="3538339" y="8772"/>
                    <a:pt x="3538339" y="19593"/>
                  </a:cubicBezTo>
                  <a:lnTo>
                    <a:pt x="3538339" y="1941918"/>
                  </a:lnTo>
                  <a:cubicBezTo>
                    <a:pt x="3538339" y="1952739"/>
                    <a:pt x="3529567" y="1961511"/>
                    <a:pt x="3518746" y="1961511"/>
                  </a:cubicBezTo>
                  <a:lnTo>
                    <a:pt x="19593" y="1961511"/>
                  </a:lnTo>
                  <a:cubicBezTo>
                    <a:pt x="8772" y="1961511"/>
                    <a:pt x="0" y="1952739"/>
                    <a:pt x="0" y="1941918"/>
                  </a:cubicBezTo>
                  <a:lnTo>
                    <a:pt x="0" y="19593"/>
                  </a:lnTo>
                  <a:cubicBezTo>
                    <a:pt x="0" y="8772"/>
                    <a:pt x="8772" y="0"/>
                    <a:pt x="19593" y="0"/>
                  </a:cubicBezTo>
                  <a:close/>
                </a:path>
              </a:pathLst>
            </a:custGeom>
            <a:solidFill>
              <a:srgbClr val="000C74"/>
            </a:solidFill>
          </p:spPr>
        </p:sp>
        <p:sp>
          <p:nvSpPr>
            <p:cNvPr name="TextBox 5" id="5"/>
            <p:cNvSpPr txBox="true"/>
            <p:nvPr/>
          </p:nvSpPr>
          <p:spPr>
            <a:xfrm>
              <a:off x="0" y="-57150"/>
              <a:ext cx="3538339" cy="2018661"/>
            </a:xfrm>
            <a:prstGeom prst="rect">
              <a:avLst/>
            </a:prstGeom>
          </p:spPr>
          <p:txBody>
            <a:bodyPr anchor="ctr" rtlCol="false" tIns="50800" lIns="50800" bIns="50800" rIns="50800"/>
            <a:lstStyle/>
            <a:p>
              <a:pPr algn="ctr">
                <a:lnSpc>
                  <a:spcPts val="2731"/>
                </a:lnSpc>
              </a:pPr>
            </a:p>
          </p:txBody>
        </p:sp>
      </p:grpSp>
      <p:grpSp>
        <p:nvGrpSpPr>
          <p:cNvPr name="Group 6" id="6"/>
          <p:cNvGrpSpPr/>
          <p:nvPr/>
        </p:nvGrpSpPr>
        <p:grpSpPr>
          <a:xfrm rot="0">
            <a:off x="-2958391" y="-4053734"/>
            <a:ext cx="12102391" cy="1210239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308854" y="-2404197"/>
            <a:ext cx="8803317" cy="880331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440834" y="679099"/>
            <a:ext cx="4385302" cy="775403"/>
            <a:chOff x="0" y="0"/>
            <a:chExt cx="1200079" cy="212196"/>
          </a:xfrm>
        </p:grpSpPr>
        <p:sp>
          <p:nvSpPr>
            <p:cNvPr name="Freeform 13" id="13"/>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4" id="14"/>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5" id="15"/>
          <p:cNvSpPr/>
          <p:nvPr/>
        </p:nvSpPr>
        <p:spPr>
          <a:xfrm flipH="false" flipV="false" rot="0">
            <a:off x="3944467" y="2935888"/>
            <a:ext cx="13084230" cy="6926464"/>
          </a:xfrm>
          <a:custGeom>
            <a:avLst/>
            <a:gdLst/>
            <a:ahLst/>
            <a:cxnLst/>
            <a:rect r="r" b="b" t="t" l="l"/>
            <a:pathLst>
              <a:path h="6926464" w="13084230">
                <a:moveTo>
                  <a:pt x="0" y="0"/>
                </a:moveTo>
                <a:lnTo>
                  <a:pt x="13084231" y="0"/>
                </a:lnTo>
                <a:lnTo>
                  <a:pt x="13084231" y="6926464"/>
                </a:lnTo>
                <a:lnTo>
                  <a:pt x="0" y="6926464"/>
                </a:lnTo>
                <a:lnTo>
                  <a:pt x="0" y="0"/>
                </a:lnTo>
                <a:close/>
              </a:path>
            </a:pathLst>
          </a:custGeom>
          <a:blipFill>
            <a:blip r:embed="rId4"/>
            <a:stretch>
              <a:fillRect l="0" t="0" r="0" b="0"/>
            </a:stretch>
          </a:blipFill>
        </p:spPr>
      </p:sp>
      <p:sp>
        <p:nvSpPr>
          <p:cNvPr name="TextBox 16" id="16"/>
          <p:cNvSpPr txBox="true"/>
          <p:nvPr/>
        </p:nvSpPr>
        <p:spPr>
          <a:xfrm rot="0">
            <a:off x="1625064" y="1594257"/>
            <a:ext cx="7783434" cy="1127183"/>
          </a:xfrm>
          <a:prstGeom prst="rect">
            <a:avLst/>
          </a:prstGeom>
        </p:spPr>
        <p:txBody>
          <a:bodyPr anchor="t" rtlCol="false" tIns="0" lIns="0" bIns="0" rIns="0">
            <a:spAutoFit/>
          </a:bodyPr>
          <a:lstStyle/>
          <a:p>
            <a:pPr algn="l">
              <a:lnSpc>
                <a:spcPts val="8735"/>
              </a:lnSpc>
            </a:pPr>
            <a:r>
              <a:rPr lang="en-US" sz="6239" b="true">
                <a:solidFill>
                  <a:srgbClr val="081269"/>
                </a:solidFill>
                <a:latin typeface="Poppins Bold"/>
                <a:ea typeface="Poppins Bold"/>
                <a:cs typeface="Poppins Bold"/>
                <a:sym typeface="Poppins Bold"/>
              </a:rPr>
              <a:t>Giao Diện Winform</a:t>
            </a:r>
          </a:p>
        </p:txBody>
      </p:sp>
      <p:sp>
        <p:nvSpPr>
          <p:cNvPr name="TextBox 17" id="17"/>
          <p:cNvSpPr txBox="true"/>
          <p:nvPr/>
        </p:nvSpPr>
        <p:spPr>
          <a:xfrm rot="0">
            <a:off x="1625064" y="2889769"/>
            <a:ext cx="2975619" cy="982658"/>
          </a:xfrm>
          <a:prstGeom prst="rect">
            <a:avLst/>
          </a:prstGeom>
        </p:spPr>
        <p:txBody>
          <a:bodyPr anchor="t" rtlCol="false" tIns="0" lIns="0" bIns="0" rIns="0">
            <a:spAutoFit/>
          </a:bodyPr>
          <a:lstStyle/>
          <a:p>
            <a:pPr algn="l">
              <a:lnSpc>
                <a:spcPts val="7643"/>
              </a:lnSpc>
            </a:pPr>
            <a:r>
              <a:rPr lang="en-US" sz="5459">
                <a:solidFill>
                  <a:srgbClr val="081269"/>
                </a:solidFill>
                <a:latin typeface="Poppins"/>
                <a:ea typeface="Poppins"/>
                <a:cs typeface="Poppins"/>
                <a:sym typeface="Poppins"/>
              </a:rPr>
              <a:t>Client</a:t>
            </a:r>
          </a:p>
        </p:txBody>
      </p:sp>
      <p:sp>
        <p:nvSpPr>
          <p:cNvPr name="TextBox 18" id="18"/>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NHÓM 1</a:t>
            </a:r>
          </a:p>
        </p:txBody>
      </p:sp>
      <p:sp>
        <p:nvSpPr>
          <p:cNvPr name="TextBox 19" id="19"/>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0" id="20"/>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solidFill>
                <a:latin typeface="Poppins Bold"/>
                <a:ea typeface="Poppins Bold"/>
                <a:cs typeface="Poppins Bold"/>
                <a:sym typeface="Poppins Bold"/>
              </a:rPr>
              <a:t>HIỆN THỨC HÓA HỆ THÔNG</a:t>
            </a:r>
          </a:p>
        </p:txBody>
      </p:sp>
      <p:sp>
        <p:nvSpPr>
          <p:cNvPr name="TextBox 21" id="21"/>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2" id="22"/>
          <p:cNvSpPr txBox="true"/>
          <p:nvPr/>
        </p:nvSpPr>
        <p:spPr>
          <a:xfrm rot="0">
            <a:off x="11609447" y="703973"/>
            <a:ext cx="1907082"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alpha val="49804"/>
                  </a:srgbClr>
                </a:solidFill>
                <a:latin typeface="Poppins Bold"/>
                <a:ea typeface="Poppins Bold"/>
                <a:cs typeface="Poppins Bold"/>
                <a:sym typeface="Poppins Bold"/>
              </a:rPr>
              <a:t>PHÂN TÍCH THIẾT KẾ</a:t>
            </a:r>
          </a:p>
        </p:txBody>
      </p:sp>
      <p:sp>
        <p:nvSpPr>
          <p:cNvPr name="TextBox 23" id="23"/>
          <p:cNvSpPr txBox="true"/>
          <p:nvPr/>
        </p:nvSpPr>
        <p:spPr>
          <a:xfrm rot="0">
            <a:off x="501146" y="4491782"/>
            <a:ext cx="7621155" cy="651718"/>
          </a:xfrm>
          <a:prstGeom prst="rect">
            <a:avLst/>
          </a:prstGeom>
        </p:spPr>
        <p:txBody>
          <a:bodyPr anchor="t" rtlCol="false" tIns="0" lIns="0" bIns="0" rIns="0">
            <a:spAutoFit/>
          </a:bodyPr>
          <a:lstStyle/>
          <a:p>
            <a:pPr algn="just">
              <a:lnSpc>
                <a:spcPts val="5028"/>
              </a:lnSpc>
            </a:pPr>
            <a:r>
              <a:rPr lang="en-US" sz="3591">
                <a:solidFill>
                  <a:srgbClr val="081269"/>
                </a:solidFill>
                <a:latin typeface="Poppins"/>
                <a:ea typeface="Poppins"/>
                <a:cs typeface="Poppins"/>
                <a:sym typeface="Poppins"/>
              </a:rPr>
              <a:t>Chat form</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352054" y="1747935"/>
            <a:ext cx="5074305" cy="4114800"/>
          </a:xfrm>
          <a:custGeom>
            <a:avLst/>
            <a:gdLst/>
            <a:ahLst/>
            <a:cxnLst/>
            <a:rect r="r" b="b" t="t" l="l"/>
            <a:pathLst>
              <a:path h="4114800" w="5074305">
                <a:moveTo>
                  <a:pt x="0" y="0"/>
                </a:moveTo>
                <a:lnTo>
                  <a:pt x="5074305" y="0"/>
                </a:lnTo>
                <a:lnTo>
                  <a:pt x="507430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944467" y="2864969"/>
            <a:ext cx="11086523" cy="7246561"/>
            <a:chOff x="0" y="0"/>
            <a:chExt cx="2919907" cy="1908559"/>
          </a:xfrm>
        </p:grpSpPr>
        <p:sp>
          <p:nvSpPr>
            <p:cNvPr name="Freeform 4" id="4"/>
            <p:cNvSpPr/>
            <p:nvPr/>
          </p:nvSpPr>
          <p:spPr>
            <a:xfrm flipH="false" flipV="false" rot="0">
              <a:off x="0" y="0"/>
              <a:ext cx="2919907" cy="1908559"/>
            </a:xfrm>
            <a:custGeom>
              <a:avLst/>
              <a:gdLst/>
              <a:ahLst/>
              <a:cxnLst/>
              <a:rect r="r" b="b" t="t" l="l"/>
              <a:pathLst>
                <a:path h="1908559" w="2919907">
                  <a:moveTo>
                    <a:pt x="23743" y="0"/>
                  </a:moveTo>
                  <a:lnTo>
                    <a:pt x="2896165" y="0"/>
                  </a:lnTo>
                  <a:cubicBezTo>
                    <a:pt x="2902462" y="0"/>
                    <a:pt x="2908501" y="2501"/>
                    <a:pt x="2912953" y="6954"/>
                  </a:cubicBezTo>
                  <a:cubicBezTo>
                    <a:pt x="2917406" y="11407"/>
                    <a:pt x="2919907" y="17446"/>
                    <a:pt x="2919907" y="23743"/>
                  </a:cubicBezTo>
                  <a:lnTo>
                    <a:pt x="2919907" y="1884817"/>
                  </a:lnTo>
                  <a:cubicBezTo>
                    <a:pt x="2919907" y="1891113"/>
                    <a:pt x="2917406" y="1897153"/>
                    <a:pt x="2912953" y="1901605"/>
                  </a:cubicBezTo>
                  <a:cubicBezTo>
                    <a:pt x="2908501" y="1906058"/>
                    <a:pt x="2902462" y="1908559"/>
                    <a:pt x="2896165" y="1908559"/>
                  </a:cubicBezTo>
                  <a:lnTo>
                    <a:pt x="23743" y="1908559"/>
                  </a:lnTo>
                  <a:cubicBezTo>
                    <a:pt x="17446" y="1908559"/>
                    <a:pt x="11407" y="1906058"/>
                    <a:pt x="6954" y="1901605"/>
                  </a:cubicBezTo>
                  <a:cubicBezTo>
                    <a:pt x="2501" y="1897153"/>
                    <a:pt x="0" y="1891113"/>
                    <a:pt x="0" y="1884817"/>
                  </a:cubicBezTo>
                  <a:lnTo>
                    <a:pt x="0" y="23743"/>
                  </a:lnTo>
                  <a:cubicBezTo>
                    <a:pt x="0" y="17446"/>
                    <a:pt x="2501" y="11407"/>
                    <a:pt x="6954" y="6954"/>
                  </a:cubicBezTo>
                  <a:cubicBezTo>
                    <a:pt x="11407" y="2501"/>
                    <a:pt x="17446" y="0"/>
                    <a:pt x="23743" y="0"/>
                  </a:cubicBezTo>
                  <a:close/>
                </a:path>
              </a:pathLst>
            </a:custGeom>
            <a:solidFill>
              <a:srgbClr val="000C74"/>
            </a:solidFill>
          </p:spPr>
        </p:sp>
        <p:sp>
          <p:nvSpPr>
            <p:cNvPr name="TextBox 5" id="5"/>
            <p:cNvSpPr txBox="true"/>
            <p:nvPr/>
          </p:nvSpPr>
          <p:spPr>
            <a:xfrm>
              <a:off x="0" y="-57150"/>
              <a:ext cx="2919907" cy="1965709"/>
            </a:xfrm>
            <a:prstGeom prst="rect">
              <a:avLst/>
            </a:prstGeom>
          </p:spPr>
          <p:txBody>
            <a:bodyPr anchor="ctr" rtlCol="false" tIns="50800" lIns="50800" bIns="50800" rIns="50800"/>
            <a:lstStyle/>
            <a:p>
              <a:pPr algn="ctr">
                <a:lnSpc>
                  <a:spcPts val="2731"/>
                </a:lnSpc>
              </a:pPr>
            </a:p>
          </p:txBody>
        </p:sp>
      </p:grpSp>
      <p:grpSp>
        <p:nvGrpSpPr>
          <p:cNvPr name="Group 6" id="6"/>
          <p:cNvGrpSpPr/>
          <p:nvPr/>
        </p:nvGrpSpPr>
        <p:grpSpPr>
          <a:xfrm rot="0">
            <a:off x="-2958391" y="-4053734"/>
            <a:ext cx="12102391" cy="1210239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308854" y="-2404197"/>
            <a:ext cx="8803317" cy="880331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440834" y="679099"/>
            <a:ext cx="4385302" cy="775403"/>
            <a:chOff x="0" y="0"/>
            <a:chExt cx="1200079" cy="212196"/>
          </a:xfrm>
        </p:grpSpPr>
        <p:sp>
          <p:nvSpPr>
            <p:cNvPr name="Freeform 13" id="13"/>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4" id="14"/>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5" id="15"/>
          <p:cNvSpPr/>
          <p:nvPr/>
        </p:nvSpPr>
        <p:spPr>
          <a:xfrm flipH="false" flipV="false" rot="0">
            <a:off x="4210573" y="3042169"/>
            <a:ext cx="10474597" cy="6817027"/>
          </a:xfrm>
          <a:custGeom>
            <a:avLst/>
            <a:gdLst/>
            <a:ahLst/>
            <a:cxnLst/>
            <a:rect r="r" b="b" t="t" l="l"/>
            <a:pathLst>
              <a:path h="6817027" w="10474597">
                <a:moveTo>
                  <a:pt x="0" y="0"/>
                </a:moveTo>
                <a:lnTo>
                  <a:pt x="10474597" y="0"/>
                </a:lnTo>
                <a:lnTo>
                  <a:pt x="10474597" y="6817028"/>
                </a:lnTo>
                <a:lnTo>
                  <a:pt x="0" y="6817028"/>
                </a:lnTo>
                <a:lnTo>
                  <a:pt x="0" y="0"/>
                </a:lnTo>
                <a:close/>
              </a:path>
            </a:pathLst>
          </a:custGeom>
          <a:blipFill>
            <a:blip r:embed="rId4"/>
            <a:stretch>
              <a:fillRect l="0" t="0" r="0" b="0"/>
            </a:stretch>
          </a:blipFill>
        </p:spPr>
      </p:sp>
      <p:sp>
        <p:nvSpPr>
          <p:cNvPr name="TextBox 16" id="16"/>
          <p:cNvSpPr txBox="true"/>
          <p:nvPr/>
        </p:nvSpPr>
        <p:spPr>
          <a:xfrm rot="0">
            <a:off x="1625064" y="1594257"/>
            <a:ext cx="7783434" cy="1127183"/>
          </a:xfrm>
          <a:prstGeom prst="rect">
            <a:avLst/>
          </a:prstGeom>
        </p:spPr>
        <p:txBody>
          <a:bodyPr anchor="t" rtlCol="false" tIns="0" lIns="0" bIns="0" rIns="0">
            <a:spAutoFit/>
          </a:bodyPr>
          <a:lstStyle/>
          <a:p>
            <a:pPr algn="l">
              <a:lnSpc>
                <a:spcPts val="8735"/>
              </a:lnSpc>
            </a:pPr>
            <a:r>
              <a:rPr lang="en-US" sz="6239" b="true">
                <a:solidFill>
                  <a:srgbClr val="081269"/>
                </a:solidFill>
                <a:latin typeface="Poppins Bold"/>
                <a:ea typeface="Poppins Bold"/>
                <a:cs typeface="Poppins Bold"/>
                <a:sym typeface="Poppins Bold"/>
              </a:rPr>
              <a:t>Giao Diện Winform</a:t>
            </a:r>
          </a:p>
        </p:txBody>
      </p:sp>
      <p:sp>
        <p:nvSpPr>
          <p:cNvPr name="TextBox 17" id="17"/>
          <p:cNvSpPr txBox="true"/>
          <p:nvPr/>
        </p:nvSpPr>
        <p:spPr>
          <a:xfrm rot="0">
            <a:off x="1625064" y="2889769"/>
            <a:ext cx="2975619" cy="982658"/>
          </a:xfrm>
          <a:prstGeom prst="rect">
            <a:avLst/>
          </a:prstGeom>
        </p:spPr>
        <p:txBody>
          <a:bodyPr anchor="t" rtlCol="false" tIns="0" lIns="0" bIns="0" rIns="0">
            <a:spAutoFit/>
          </a:bodyPr>
          <a:lstStyle/>
          <a:p>
            <a:pPr algn="l">
              <a:lnSpc>
                <a:spcPts val="7643"/>
              </a:lnSpc>
            </a:pPr>
            <a:r>
              <a:rPr lang="en-US" sz="5459">
                <a:solidFill>
                  <a:srgbClr val="081269"/>
                </a:solidFill>
                <a:latin typeface="Poppins"/>
                <a:ea typeface="Poppins"/>
                <a:cs typeface="Poppins"/>
                <a:sym typeface="Poppins"/>
              </a:rPr>
              <a:t>Client</a:t>
            </a:r>
          </a:p>
        </p:txBody>
      </p:sp>
      <p:sp>
        <p:nvSpPr>
          <p:cNvPr name="TextBox 18" id="18"/>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NHÓM 1</a:t>
            </a:r>
          </a:p>
        </p:txBody>
      </p:sp>
      <p:sp>
        <p:nvSpPr>
          <p:cNvPr name="TextBox 19" id="19"/>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0" id="20"/>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solidFill>
                <a:latin typeface="Poppins Bold"/>
                <a:ea typeface="Poppins Bold"/>
                <a:cs typeface="Poppins Bold"/>
                <a:sym typeface="Poppins Bold"/>
              </a:rPr>
              <a:t>HIỆN THỨC HÓA HỆ THÔNG</a:t>
            </a:r>
          </a:p>
        </p:txBody>
      </p:sp>
      <p:sp>
        <p:nvSpPr>
          <p:cNvPr name="TextBox 21" id="21"/>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2" id="22"/>
          <p:cNvSpPr txBox="true"/>
          <p:nvPr/>
        </p:nvSpPr>
        <p:spPr>
          <a:xfrm rot="0">
            <a:off x="11609447" y="703973"/>
            <a:ext cx="1907082"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alpha val="49804"/>
                  </a:srgbClr>
                </a:solidFill>
                <a:latin typeface="Poppins Bold"/>
                <a:ea typeface="Poppins Bold"/>
                <a:cs typeface="Poppins Bold"/>
                <a:sym typeface="Poppins Bold"/>
              </a:rPr>
              <a:t>PHÂN TÍCH THIẾT KẾ</a:t>
            </a:r>
          </a:p>
        </p:txBody>
      </p:sp>
      <p:sp>
        <p:nvSpPr>
          <p:cNvPr name="TextBox 23" id="23"/>
          <p:cNvSpPr txBox="true"/>
          <p:nvPr/>
        </p:nvSpPr>
        <p:spPr>
          <a:xfrm rot="0">
            <a:off x="501146" y="4491782"/>
            <a:ext cx="7621155" cy="651718"/>
          </a:xfrm>
          <a:prstGeom prst="rect">
            <a:avLst/>
          </a:prstGeom>
        </p:spPr>
        <p:txBody>
          <a:bodyPr anchor="t" rtlCol="false" tIns="0" lIns="0" bIns="0" rIns="0">
            <a:spAutoFit/>
          </a:bodyPr>
          <a:lstStyle/>
          <a:p>
            <a:pPr algn="just">
              <a:lnSpc>
                <a:spcPts val="5028"/>
              </a:lnSpc>
            </a:pPr>
            <a:r>
              <a:rPr lang="en-US" sz="3591">
                <a:solidFill>
                  <a:srgbClr val="081269"/>
                </a:solidFill>
                <a:latin typeface="Poppins"/>
                <a:ea typeface="Poppins"/>
                <a:cs typeface="Poppins"/>
                <a:sym typeface="Poppins"/>
              </a:rPr>
              <a:t>Setting form</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5586380" y="2864969"/>
            <a:ext cx="7735682" cy="7246561"/>
            <a:chOff x="0" y="0"/>
            <a:chExt cx="2037381" cy="1908559"/>
          </a:xfrm>
        </p:grpSpPr>
        <p:sp>
          <p:nvSpPr>
            <p:cNvPr name="Freeform 3" id="3"/>
            <p:cNvSpPr/>
            <p:nvPr/>
          </p:nvSpPr>
          <p:spPr>
            <a:xfrm flipH="false" flipV="false" rot="0">
              <a:off x="0" y="0"/>
              <a:ext cx="2037381" cy="1908559"/>
            </a:xfrm>
            <a:custGeom>
              <a:avLst/>
              <a:gdLst/>
              <a:ahLst/>
              <a:cxnLst/>
              <a:rect r="r" b="b" t="t" l="l"/>
              <a:pathLst>
                <a:path h="1908559" w="2037381">
                  <a:moveTo>
                    <a:pt x="34027" y="0"/>
                  </a:moveTo>
                  <a:lnTo>
                    <a:pt x="2003354" y="0"/>
                  </a:lnTo>
                  <a:cubicBezTo>
                    <a:pt x="2012379" y="0"/>
                    <a:pt x="2021034" y="3585"/>
                    <a:pt x="2027415" y="9966"/>
                  </a:cubicBezTo>
                  <a:cubicBezTo>
                    <a:pt x="2033796" y="16348"/>
                    <a:pt x="2037381" y="25003"/>
                    <a:pt x="2037381" y="34027"/>
                  </a:cubicBezTo>
                  <a:lnTo>
                    <a:pt x="2037381" y="1874532"/>
                  </a:lnTo>
                  <a:cubicBezTo>
                    <a:pt x="2037381" y="1883557"/>
                    <a:pt x="2033796" y="1892211"/>
                    <a:pt x="2027415" y="1898593"/>
                  </a:cubicBezTo>
                  <a:cubicBezTo>
                    <a:pt x="2021034" y="1904974"/>
                    <a:pt x="2012379" y="1908559"/>
                    <a:pt x="2003354" y="1908559"/>
                  </a:cubicBezTo>
                  <a:lnTo>
                    <a:pt x="34027" y="1908559"/>
                  </a:lnTo>
                  <a:cubicBezTo>
                    <a:pt x="25003" y="1908559"/>
                    <a:pt x="16348" y="1904974"/>
                    <a:pt x="9966" y="1898593"/>
                  </a:cubicBezTo>
                  <a:cubicBezTo>
                    <a:pt x="3585" y="1892211"/>
                    <a:pt x="0" y="1883557"/>
                    <a:pt x="0" y="1874532"/>
                  </a:cubicBezTo>
                  <a:lnTo>
                    <a:pt x="0" y="34027"/>
                  </a:lnTo>
                  <a:cubicBezTo>
                    <a:pt x="0" y="25003"/>
                    <a:pt x="3585" y="16348"/>
                    <a:pt x="9966" y="9966"/>
                  </a:cubicBezTo>
                  <a:cubicBezTo>
                    <a:pt x="16348" y="3585"/>
                    <a:pt x="25003" y="0"/>
                    <a:pt x="34027" y="0"/>
                  </a:cubicBezTo>
                  <a:close/>
                </a:path>
              </a:pathLst>
            </a:custGeom>
            <a:solidFill>
              <a:srgbClr val="000C74"/>
            </a:solidFill>
          </p:spPr>
        </p:sp>
        <p:sp>
          <p:nvSpPr>
            <p:cNvPr name="TextBox 4" id="4"/>
            <p:cNvSpPr txBox="true"/>
            <p:nvPr/>
          </p:nvSpPr>
          <p:spPr>
            <a:xfrm>
              <a:off x="0" y="-57150"/>
              <a:ext cx="2037381" cy="1965709"/>
            </a:xfrm>
            <a:prstGeom prst="rect">
              <a:avLst/>
            </a:prstGeom>
          </p:spPr>
          <p:txBody>
            <a:bodyPr anchor="ctr" rtlCol="false" tIns="50800" lIns="50800" bIns="50800" rIns="50800"/>
            <a:lstStyle/>
            <a:p>
              <a:pPr algn="ctr">
                <a:lnSpc>
                  <a:spcPts val="2731"/>
                </a:lnSpc>
              </a:pPr>
            </a:p>
          </p:txBody>
        </p:sp>
      </p:grpSp>
      <p:grpSp>
        <p:nvGrpSpPr>
          <p:cNvPr name="Group 5" id="5"/>
          <p:cNvGrpSpPr/>
          <p:nvPr/>
        </p:nvGrpSpPr>
        <p:grpSpPr>
          <a:xfrm rot="0">
            <a:off x="-2958391" y="-4053734"/>
            <a:ext cx="12102391" cy="1210239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08854" y="-2404197"/>
            <a:ext cx="8803317" cy="880331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440834" y="679099"/>
            <a:ext cx="4385302" cy="775403"/>
            <a:chOff x="0" y="0"/>
            <a:chExt cx="1200079" cy="212196"/>
          </a:xfrm>
        </p:grpSpPr>
        <p:sp>
          <p:nvSpPr>
            <p:cNvPr name="Freeform 12" id="12"/>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3" id="13"/>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4" id="14"/>
          <p:cNvSpPr/>
          <p:nvPr/>
        </p:nvSpPr>
        <p:spPr>
          <a:xfrm flipH="false" flipV="false" rot="0">
            <a:off x="6037326" y="3163252"/>
            <a:ext cx="6833789" cy="6649995"/>
          </a:xfrm>
          <a:custGeom>
            <a:avLst/>
            <a:gdLst/>
            <a:ahLst/>
            <a:cxnLst/>
            <a:rect r="r" b="b" t="t" l="l"/>
            <a:pathLst>
              <a:path h="6649995" w="6833789">
                <a:moveTo>
                  <a:pt x="0" y="0"/>
                </a:moveTo>
                <a:lnTo>
                  <a:pt x="6833789" y="0"/>
                </a:lnTo>
                <a:lnTo>
                  <a:pt x="6833789" y="6649995"/>
                </a:lnTo>
                <a:lnTo>
                  <a:pt x="0" y="6649995"/>
                </a:lnTo>
                <a:lnTo>
                  <a:pt x="0" y="0"/>
                </a:lnTo>
                <a:close/>
              </a:path>
            </a:pathLst>
          </a:custGeom>
          <a:blipFill>
            <a:blip r:embed="rId2"/>
            <a:stretch>
              <a:fillRect l="0" t="0" r="0" b="0"/>
            </a:stretch>
          </a:blipFill>
        </p:spPr>
      </p:sp>
      <p:sp>
        <p:nvSpPr>
          <p:cNvPr name="Freeform 15" id="15"/>
          <p:cNvSpPr/>
          <p:nvPr/>
        </p:nvSpPr>
        <p:spPr>
          <a:xfrm flipH="false" flipV="false" rot="0">
            <a:off x="674043" y="6241645"/>
            <a:ext cx="4404442" cy="3571602"/>
          </a:xfrm>
          <a:custGeom>
            <a:avLst/>
            <a:gdLst/>
            <a:ahLst/>
            <a:cxnLst/>
            <a:rect r="r" b="b" t="t" l="l"/>
            <a:pathLst>
              <a:path h="3571602" w="4404442">
                <a:moveTo>
                  <a:pt x="0" y="0"/>
                </a:moveTo>
                <a:lnTo>
                  <a:pt x="4404442" y="0"/>
                </a:lnTo>
                <a:lnTo>
                  <a:pt x="4404442" y="3571602"/>
                </a:lnTo>
                <a:lnTo>
                  <a:pt x="0" y="35716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3581116" y="180369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625064" y="1594257"/>
            <a:ext cx="7783434" cy="1127183"/>
          </a:xfrm>
          <a:prstGeom prst="rect">
            <a:avLst/>
          </a:prstGeom>
        </p:spPr>
        <p:txBody>
          <a:bodyPr anchor="t" rtlCol="false" tIns="0" lIns="0" bIns="0" rIns="0">
            <a:spAutoFit/>
          </a:bodyPr>
          <a:lstStyle/>
          <a:p>
            <a:pPr algn="l">
              <a:lnSpc>
                <a:spcPts val="8735"/>
              </a:lnSpc>
            </a:pPr>
            <a:r>
              <a:rPr lang="en-US" sz="6239" b="true">
                <a:solidFill>
                  <a:srgbClr val="081269"/>
                </a:solidFill>
                <a:latin typeface="Poppins Bold"/>
                <a:ea typeface="Poppins Bold"/>
                <a:cs typeface="Poppins Bold"/>
                <a:sym typeface="Poppins Bold"/>
              </a:rPr>
              <a:t>Giao Diện Winform</a:t>
            </a:r>
          </a:p>
        </p:txBody>
      </p:sp>
      <p:sp>
        <p:nvSpPr>
          <p:cNvPr name="TextBox 18" id="18"/>
          <p:cNvSpPr txBox="true"/>
          <p:nvPr/>
        </p:nvSpPr>
        <p:spPr>
          <a:xfrm rot="0">
            <a:off x="1625064" y="2889769"/>
            <a:ext cx="2975619" cy="982658"/>
          </a:xfrm>
          <a:prstGeom prst="rect">
            <a:avLst/>
          </a:prstGeom>
        </p:spPr>
        <p:txBody>
          <a:bodyPr anchor="t" rtlCol="false" tIns="0" lIns="0" bIns="0" rIns="0">
            <a:spAutoFit/>
          </a:bodyPr>
          <a:lstStyle/>
          <a:p>
            <a:pPr algn="l">
              <a:lnSpc>
                <a:spcPts val="7643"/>
              </a:lnSpc>
            </a:pPr>
            <a:r>
              <a:rPr lang="en-US" sz="5459">
                <a:solidFill>
                  <a:srgbClr val="081269"/>
                </a:solidFill>
                <a:latin typeface="Poppins"/>
                <a:ea typeface="Poppins"/>
                <a:cs typeface="Poppins"/>
                <a:sym typeface="Poppins"/>
              </a:rPr>
              <a:t>Client</a:t>
            </a:r>
          </a:p>
        </p:txBody>
      </p:sp>
      <p:sp>
        <p:nvSpPr>
          <p:cNvPr name="TextBox 19" id="19"/>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NHÓM 1</a:t>
            </a:r>
          </a:p>
        </p:txBody>
      </p:sp>
      <p:sp>
        <p:nvSpPr>
          <p:cNvPr name="TextBox 20" id="20"/>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1" id="21"/>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solidFill>
                <a:latin typeface="Poppins Bold"/>
                <a:ea typeface="Poppins Bold"/>
                <a:cs typeface="Poppins Bold"/>
                <a:sym typeface="Poppins Bold"/>
              </a:rPr>
              <a:t>HIỆN THỨC HÓA HỆ THÔNG</a:t>
            </a:r>
          </a:p>
        </p:txBody>
      </p:sp>
      <p:sp>
        <p:nvSpPr>
          <p:cNvPr name="TextBox 22" id="22"/>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3" id="23"/>
          <p:cNvSpPr txBox="true"/>
          <p:nvPr/>
        </p:nvSpPr>
        <p:spPr>
          <a:xfrm rot="0">
            <a:off x="11609447" y="703973"/>
            <a:ext cx="1907082"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alpha val="49804"/>
                  </a:srgbClr>
                </a:solidFill>
                <a:latin typeface="Poppins Bold"/>
                <a:ea typeface="Poppins Bold"/>
                <a:cs typeface="Poppins Bold"/>
                <a:sym typeface="Poppins Bold"/>
              </a:rPr>
              <a:t>PHÂN TÍCH THIẾT KẾ</a:t>
            </a:r>
          </a:p>
        </p:txBody>
      </p:sp>
      <p:sp>
        <p:nvSpPr>
          <p:cNvPr name="TextBox 24" id="24"/>
          <p:cNvSpPr txBox="true"/>
          <p:nvPr/>
        </p:nvSpPr>
        <p:spPr>
          <a:xfrm rot="0">
            <a:off x="501146" y="4501307"/>
            <a:ext cx="2712173" cy="1244808"/>
          </a:xfrm>
          <a:prstGeom prst="rect">
            <a:avLst/>
          </a:prstGeom>
        </p:spPr>
        <p:txBody>
          <a:bodyPr anchor="t" rtlCol="false" tIns="0" lIns="0" bIns="0" rIns="0">
            <a:spAutoFit/>
          </a:bodyPr>
          <a:lstStyle/>
          <a:p>
            <a:pPr algn="just">
              <a:lnSpc>
                <a:spcPts val="4888"/>
              </a:lnSpc>
            </a:pPr>
            <a:r>
              <a:rPr lang="en-US" sz="3491">
                <a:solidFill>
                  <a:srgbClr val="081269"/>
                </a:solidFill>
                <a:latin typeface="Poppins"/>
                <a:ea typeface="Poppins"/>
                <a:cs typeface="Poppins"/>
                <a:sym typeface="Poppins"/>
              </a:rPr>
              <a:t>Create new room form</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352054" y="1747935"/>
            <a:ext cx="5074305" cy="4114800"/>
          </a:xfrm>
          <a:custGeom>
            <a:avLst/>
            <a:gdLst/>
            <a:ahLst/>
            <a:cxnLst/>
            <a:rect r="r" b="b" t="t" l="l"/>
            <a:pathLst>
              <a:path h="4114800" w="5074305">
                <a:moveTo>
                  <a:pt x="0" y="0"/>
                </a:moveTo>
                <a:lnTo>
                  <a:pt x="5074305" y="0"/>
                </a:lnTo>
                <a:lnTo>
                  <a:pt x="507430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128764" y="2915232"/>
            <a:ext cx="11187049" cy="7246561"/>
            <a:chOff x="0" y="0"/>
            <a:chExt cx="2946383" cy="1908559"/>
          </a:xfrm>
        </p:grpSpPr>
        <p:sp>
          <p:nvSpPr>
            <p:cNvPr name="Freeform 4" id="4"/>
            <p:cNvSpPr/>
            <p:nvPr/>
          </p:nvSpPr>
          <p:spPr>
            <a:xfrm flipH="false" flipV="false" rot="0">
              <a:off x="0" y="0"/>
              <a:ext cx="2946383" cy="1908559"/>
            </a:xfrm>
            <a:custGeom>
              <a:avLst/>
              <a:gdLst/>
              <a:ahLst/>
              <a:cxnLst/>
              <a:rect r="r" b="b" t="t" l="l"/>
              <a:pathLst>
                <a:path h="1908559" w="2946383">
                  <a:moveTo>
                    <a:pt x="23529" y="0"/>
                  </a:moveTo>
                  <a:lnTo>
                    <a:pt x="2922854" y="0"/>
                  </a:lnTo>
                  <a:cubicBezTo>
                    <a:pt x="2929094" y="0"/>
                    <a:pt x="2935079" y="2479"/>
                    <a:pt x="2939492" y="6892"/>
                  </a:cubicBezTo>
                  <a:cubicBezTo>
                    <a:pt x="2943904" y="11304"/>
                    <a:pt x="2946383" y="17289"/>
                    <a:pt x="2946383" y="23529"/>
                  </a:cubicBezTo>
                  <a:lnTo>
                    <a:pt x="2946383" y="1885030"/>
                  </a:lnTo>
                  <a:cubicBezTo>
                    <a:pt x="2946383" y="1891270"/>
                    <a:pt x="2943904" y="1897255"/>
                    <a:pt x="2939492" y="1901668"/>
                  </a:cubicBezTo>
                  <a:cubicBezTo>
                    <a:pt x="2935079" y="1906080"/>
                    <a:pt x="2929094" y="1908559"/>
                    <a:pt x="2922854" y="1908559"/>
                  </a:cubicBezTo>
                  <a:lnTo>
                    <a:pt x="23529" y="1908559"/>
                  </a:lnTo>
                  <a:cubicBezTo>
                    <a:pt x="17289" y="1908559"/>
                    <a:pt x="11304" y="1906080"/>
                    <a:pt x="6892" y="1901668"/>
                  </a:cubicBezTo>
                  <a:cubicBezTo>
                    <a:pt x="2479" y="1897255"/>
                    <a:pt x="0" y="1891270"/>
                    <a:pt x="0" y="1885030"/>
                  </a:cubicBezTo>
                  <a:lnTo>
                    <a:pt x="0" y="23529"/>
                  </a:lnTo>
                  <a:cubicBezTo>
                    <a:pt x="0" y="17289"/>
                    <a:pt x="2479" y="11304"/>
                    <a:pt x="6892" y="6892"/>
                  </a:cubicBezTo>
                  <a:cubicBezTo>
                    <a:pt x="11304" y="2479"/>
                    <a:pt x="17289" y="0"/>
                    <a:pt x="23529" y="0"/>
                  </a:cubicBezTo>
                  <a:close/>
                </a:path>
              </a:pathLst>
            </a:custGeom>
            <a:solidFill>
              <a:srgbClr val="000C74"/>
            </a:solidFill>
          </p:spPr>
        </p:sp>
        <p:sp>
          <p:nvSpPr>
            <p:cNvPr name="TextBox 5" id="5"/>
            <p:cNvSpPr txBox="true"/>
            <p:nvPr/>
          </p:nvSpPr>
          <p:spPr>
            <a:xfrm>
              <a:off x="0" y="-57150"/>
              <a:ext cx="2946383" cy="1965709"/>
            </a:xfrm>
            <a:prstGeom prst="rect">
              <a:avLst/>
            </a:prstGeom>
          </p:spPr>
          <p:txBody>
            <a:bodyPr anchor="ctr" rtlCol="false" tIns="50800" lIns="50800" bIns="50800" rIns="50800"/>
            <a:lstStyle/>
            <a:p>
              <a:pPr algn="ctr">
                <a:lnSpc>
                  <a:spcPts val="2731"/>
                </a:lnSpc>
              </a:pPr>
            </a:p>
          </p:txBody>
        </p:sp>
      </p:grpSp>
      <p:grpSp>
        <p:nvGrpSpPr>
          <p:cNvPr name="Group 6" id="6"/>
          <p:cNvGrpSpPr/>
          <p:nvPr/>
        </p:nvGrpSpPr>
        <p:grpSpPr>
          <a:xfrm rot="0">
            <a:off x="-2958391" y="-4053734"/>
            <a:ext cx="12102391" cy="1210239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308854" y="-2404197"/>
            <a:ext cx="8803317" cy="880331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440834" y="679099"/>
            <a:ext cx="4385302" cy="775403"/>
            <a:chOff x="0" y="0"/>
            <a:chExt cx="1200079" cy="212196"/>
          </a:xfrm>
        </p:grpSpPr>
        <p:sp>
          <p:nvSpPr>
            <p:cNvPr name="Freeform 13" id="13"/>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4" id="14"/>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5" id="15"/>
          <p:cNvSpPr/>
          <p:nvPr/>
        </p:nvSpPr>
        <p:spPr>
          <a:xfrm flipH="false" flipV="false" rot="0">
            <a:off x="4460516" y="3092432"/>
            <a:ext cx="10417166" cy="6779242"/>
          </a:xfrm>
          <a:custGeom>
            <a:avLst/>
            <a:gdLst/>
            <a:ahLst/>
            <a:cxnLst/>
            <a:rect r="r" b="b" t="t" l="l"/>
            <a:pathLst>
              <a:path h="6779242" w="10417166">
                <a:moveTo>
                  <a:pt x="0" y="0"/>
                </a:moveTo>
                <a:lnTo>
                  <a:pt x="10417166" y="0"/>
                </a:lnTo>
                <a:lnTo>
                  <a:pt x="10417166" y="6779242"/>
                </a:lnTo>
                <a:lnTo>
                  <a:pt x="0" y="6779242"/>
                </a:lnTo>
                <a:lnTo>
                  <a:pt x="0" y="0"/>
                </a:lnTo>
                <a:close/>
              </a:path>
            </a:pathLst>
          </a:custGeom>
          <a:blipFill>
            <a:blip r:embed="rId4"/>
            <a:stretch>
              <a:fillRect l="0" t="0" r="0" b="0"/>
            </a:stretch>
          </a:blipFill>
        </p:spPr>
      </p:sp>
      <p:sp>
        <p:nvSpPr>
          <p:cNvPr name="TextBox 16" id="16"/>
          <p:cNvSpPr txBox="true"/>
          <p:nvPr/>
        </p:nvSpPr>
        <p:spPr>
          <a:xfrm rot="0">
            <a:off x="1625064" y="1594257"/>
            <a:ext cx="7783434" cy="1127183"/>
          </a:xfrm>
          <a:prstGeom prst="rect">
            <a:avLst/>
          </a:prstGeom>
        </p:spPr>
        <p:txBody>
          <a:bodyPr anchor="t" rtlCol="false" tIns="0" lIns="0" bIns="0" rIns="0">
            <a:spAutoFit/>
          </a:bodyPr>
          <a:lstStyle/>
          <a:p>
            <a:pPr algn="l">
              <a:lnSpc>
                <a:spcPts val="8735"/>
              </a:lnSpc>
            </a:pPr>
            <a:r>
              <a:rPr lang="en-US" sz="6239" b="true">
                <a:solidFill>
                  <a:srgbClr val="081269"/>
                </a:solidFill>
                <a:latin typeface="Poppins Bold"/>
                <a:ea typeface="Poppins Bold"/>
                <a:cs typeface="Poppins Bold"/>
                <a:sym typeface="Poppins Bold"/>
              </a:rPr>
              <a:t>Giao Diện Winform</a:t>
            </a:r>
          </a:p>
        </p:txBody>
      </p:sp>
      <p:sp>
        <p:nvSpPr>
          <p:cNvPr name="TextBox 17" id="17"/>
          <p:cNvSpPr txBox="true"/>
          <p:nvPr/>
        </p:nvSpPr>
        <p:spPr>
          <a:xfrm rot="0">
            <a:off x="1625064" y="2889769"/>
            <a:ext cx="2975619" cy="982658"/>
          </a:xfrm>
          <a:prstGeom prst="rect">
            <a:avLst/>
          </a:prstGeom>
        </p:spPr>
        <p:txBody>
          <a:bodyPr anchor="t" rtlCol="false" tIns="0" lIns="0" bIns="0" rIns="0">
            <a:spAutoFit/>
          </a:bodyPr>
          <a:lstStyle/>
          <a:p>
            <a:pPr algn="l">
              <a:lnSpc>
                <a:spcPts val="7643"/>
              </a:lnSpc>
            </a:pPr>
            <a:r>
              <a:rPr lang="en-US" sz="5459">
                <a:solidFill>
                  <a:srgbClr val="081269"/>
                </a:solidFill>
                <a:latin typeface="Poppins"/>
                <a:ea typeface="Poppins"/>
                <a:cs typeface="Poppins"/>
                <a:sym typeface="Poppins"/>
              </a:rPr>
              <a:t>Server</a:t>
            </a:r>
          </a:p>
        </p:txBody>
      </p:sp>
      <p:sp>
        <p:nvSpPr>
          <p:cNvPr name="TextBox 18" id="18"/>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NHÓM 1</a:t>
            </a:r>
          </a:p>
        </p:txBody>
      </p:sp>
      <p:sp>
        <p:nvSpPr>
          <p:cNvPr name="TextBox 19" id="19"/>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0" id="20"/>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solidFill>
                <a:latin typeface="Poppins Bold"/>
                <a:ea typeface="Poppins Bold"/>
                <a:cs typeface="Poppins Bold"/>
                <a:sym typeface="Poppins Bold"/>
              </a:rPr>
              <a:t>HIỆN THỨC HÓA HỆ THÔNG</a:t>
            </a:r>
          </a:p>
        </p:txBody>
      </p:sp>
      <p:sp>
        <p:nvSpPr>
          <p:cNvPr name="TextBox 21" id="21"/>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2" id="22"/>
          <p:cNvSpPr txBox="true"/>
          <p:nvPr/>
        </p:nvSpPr>
        <p:spPr>
          <a:xfrm rot="0">
            <a:off x="11609447" y="703973"/>
            <a:ext cx="1907082"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alpha val="49804"/>
                  </a:srgbClr>
                </a:solidFill>
                <a:latin typeface="Poppins Bold"/>
                <a:ea typeface="Poppins Bold"/>
                <a:cs typeface="Poppins Bold"/>
                <a:sym typeface="Poppins Bold"/>
              </a:rPr>
              <a:t>PHÂN TÍCH THIẾT KẾ</a:t>
            </a:r>
          </a:p>
        </p:txBody>
      </p:sp>
      <p:sp>
        <p:nvSpPr>
          <p:cNvPr name="TextBox 23" id="23"/>
          <p:cNvSpPr txBox="true"/>
          <p:nvPr/>
        </p:nvSpPr>
        <p:spPr>
          <a:xfrm rot="0">
            <a:off x="501146" y="4501307"/>
            <a:ext cx="2712173" cy="625683"/>
          </a:xfrm>
          <a:prstGeom prst="rect">
            <a:avLst/>
          </a:prstGeom>
        </p:spPr>
        <p:txBody>
          <a:bodyPr anchor="t" rtlCol="false" tIns="0" lIns="0" bIns="0" rIns="0">
            <a:spAutoFit/>
          </a:bodyPr>
          <a:lstStyle/>
          <a:p>
            <a:pPr algn="just">
              <a:lnSpc>
                <a:spcPts val="4888"/>
              </a:lnSpc>
            </a:pPr>
            <a:r>
              <a:rPr lang="en-US" sz="3491">
                <a:solidFill>
                  <a:srgbClr val="081269"/>
                </a:solidFill>
                <a:latin typeface="Poppins"/>
                <a:ea typeface="Poppins"/>
                <a:cs typeface="Poppins"/>
                <a:sym typeface="Poppins"/>
              </a:rPr>
              <a:t>Server form</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4128764" y="2721439"/>
            <a:ext cx="8434224" cy="7440353"/>
            <a:chOff x="0" y="0"/>
            <a:chExt cx="2221359" cy="1959599"/>
          </a:xfrm>
        </p:grpSpPr>
        <p:sp>
          <p:nvSpPr>
            <p:cNvPr name="Freeform 3" id="3"/>
            <p:cNvSpPr/>
            <p:nvPr/>
          </p:nvSpPr>
          <p:spPr>
            <a:xfrm flipH="false" flipV="false" rot="0">
              <a:off x="0" y="0"/>
              <a:ext cx="2221359" cy="1959599"/>
            </a:xfrm>
            <a:custGeom>
              <a:avLst/>
              <a:gdLst/>
              <a:ahLst/>
              <a:cxnLst/>
              <a:rect r="r" b="b" t="t" l="l"/>
              <a:pathLst>
                <a:path h="1959599" w="2221359">
                  <a:moveTo>
                    <a:pt x="31209" y="0"/>
                  </a:moveTo>
                  <a:lnTo>
                    <a:pt x="2190150" y="0"/>
                  </a:lnTo>
                  <a:cubicBezTo>
                    <a:pt x="2198427" y="0"/>
                    <a:pt x="2206366" y="3288"/>
                    <a:pt x="2212218" y="9141"/>
                  </a:cubicBezTo>
                  <a:cubicBezTo>
                    <a:pt x="2218071" y="14994"/>
                    <a:pt x="2221359" y="22932"/>
                    <a:pt x="2221359" y="31209"/>
                  </a:cubicBezTo>
                  <a:lnTo>
                    <a:pt x="2221359" y="1928390"/>
                  </a:lnTo>
                  <a:cubicBezTo>
                    <a:pt x="2221359" y="1945626"/>
                    <a:pt x="2207387" y="1959599"/>
                    <a:pt x="2190150" y="1959599"/>
                  </a:cubicBezTo>
                  <a:lnTo>
                    <a:pt x="31209" y="1959599"/>
                  </a:lnTo>
                  <a:cubicBezTo>
                    <a:pt x="13973" y="1959599"/>
                    <a:pt x="0" y="1945626"/>
                    <a:pt x="0" y="1928390"/>
                  </a:cubicBezTo>
                  <a:lnTo>
                    <a:pt x="0" y="31209"/>
                  </a:lnTo>
                  <a:cubicBezTo>
                    <a:pt x="0" y="22932"/>
                    <a:pt x="3288" y="14994"/>
                    <a:pt x="9141" y="9141"/>
                  </a:cubicBezTo>
                  <a:cubicBezTo>
                    <a:pt x="14994" y="3288"/>
                    <a:pt x="22932" y="0"/>
                    <a:pt x="31209" y="0"/>
                  </a:cubicBezTo>
                  <a:close/>
                </a:path>
              </a:pathLst>
            </a:custGeom>
            <a:solidFill>
              <a:srgbClr val="000C74"/>
            </a:solidFill>
          </p:spPr>
        </p:sp>
        <p:sp>
          <p:nvSpPr>
            <p:cNvPr name="TextBox 4" id="4"/>
            <p:cNvSpPr txBox="true"/>
            <p:nvPr/>
          </p:nvSpPr>
          <p:spPr>
            <a:xfrm>
              <a:off x="0" y="-57150"/>
              <a:ext cx="2221359" cy="2016749"/>
            </a:xfrm>
            <a:prstGeom prst="rect">
              <a:avLst/>
            </a:prstGeom>
          </p:spPr>
          <p:txBody>
            <a:bodyPr anchor="ctr" rtlCol="false" tIns="50800" lIns="50800" bIns="50800" rIns="50800"/>
            <a:lstStyle/>
            <a:p>
              <a:pPr algn="ctr">
                <a:lnSpc>
                  <a:spcPts val="2731"/>
                </a:lnSpc>
              </a:pPr>
            </a:p>
          </p:txBody>
        </p:sp>
      </p:grpSp>
      <p:grpSp>
        <p:nvGrpSpPr>
          <p:cNvPr name="Group 5" id="5"/>
          <p:cNvGrpSpPr/>
          <p:nvPr/>
        </p:nvGrpSpPr>
        <p:grpSpPr>
          <a:xfrm rot="0">
            <a:off x="-2958391" y="-4053734"/>
            <a:ext cx="12102391" cy="1210239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08854" y="-2404197"/>
            <a:ext cx="8803317" cy="880331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440834" y="679099"/>
            <a:ext cx="4385302" cy="775403"/>
            <a:chOff x="0" y="0"/>
            <a:chExt cx="1200079" cy="212196"/>
          </a:xfrm>
        </p:grpSpPr>
        <p:sp>
          <p:nvSpPr>
            <p:cNvPr name="Freeform 12" id="12"/>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3" id="13"/>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sp>
        <p:nvSpPr>
          <p:cNvPr name="Freeform 14" id="14"/>
          <p:cNvSpPr/>
          <p:nvPr/>
        </p:nvSpPr>
        <p:spPr>
          <a:xfrm flipH="false" flipV="false" rot="0">
            <a:off x="4378290" y="2828621"/>
            <a:ext cx="8011974" cy="7225989"/>
          </a:xfrm>
          <a:custGeom>
            <a:avLst/>
            <a:gdLst/>
            <a:ahLst/>
            <a:cxnLst/>
            <a:rect r="r" b="b" t="t" l="l"/>
            <a:pathLst>
              <a:path h="7225989" w="8011974">
                <a:moveTo>
                  <a:pt x="0" y="0"/>
                </a:moveTo>
                <a:lnTo>
                  <a:pt x="8011974" y="0"/>
                </a:lnTo>
                <a:lnTo>
                  <a:pt x="8011974" y="7225989"/>
                </a:lnTo>
                <a:lnTo>
                  <a:pt x="0" y="7225989"/>
                </a:lnTo>
                <a:lnTo>
                  <a:pt x="0" y="0"/>
                </a:lnTo>
                <a:close/>
              </a:path>
            </a:pathLst>
          </a:custGeom>
          <a:blipFill>
            <a:blip r:embed="rId2"/>
            <a:stretch>
              <a:fillRect l="0" t="0" r="0" b="0"/>
            </a:stretch>
          </a:blipFill>
        </p:spPr>
      </p:sp>
      <p:sp>
        <p:nvSpPr>
          <p:cNvPr name="TextBox 15" id="15"/>
          <p:cNvSpPr txBox="true"/>
          <p:nvPr/>
        </p:nvSpPr>
        <p:spPr>
          <a:xfrm rot="0">
            <a:off x="1625064" y="1594257"/>
            <a:ext cx="7783434" cy="1127183"/>
          </a:xfrm>
          <a:prstGeom prst="rect">
            <a:avLst/>
          </a:prstGeom>
        </p:spPr>
        <p:txBody>
          <a:bodyPr anchor="t" rtlCol="false" tIns="0" lIns="0" bIns="0" rIns="0">
            <a:spAutoFit/>
          </a:bodyPr>
          <a:lstStyle/>
          <a:p>
            <a:pPr algn="l">
              <a:lnSpc>
                <a:spcPts val="8735"/>
              </a:lnSpc>
            </a:pPr>
            <a:r>
              <a:rPr lang="en-US" sz="6239" b="true">
                <a:solidFill>
                  <a:srgbClr val="081269"/>
                </a:solidFill>
                <a:latin typeface="Poppins Bold"/>
                <a:ea typeface="Poppins Bold"/>
                <a:cs typeface="Poppins Bold"/>
                <a:sym typeface="Poppins Bold"/>
              </a:rPr>
              <a:t>Giao Diện Winform</a:t>
            </a:r>
          </a:p>
        </p:txBody>
      </p:sp>
      <p:sp>
        <p:nvSpPr>
          <p:cNvPr name="TextBox 16" id="16"/>
          <p:cNvSpPr txBox="true"/>
          <p:nvPr/>
        </p:nvSpPr>
        <p:spPr>
          <a:xfrm rot="0">
            <a:off x="1625064" y="2889769"/>
            <a:ext cx="2975619" cy="982658"/>
          </a:xfrm>
          <a:prstGeom prst="rect">
            <a:avLst/>
          </a:prstGeom>
        </p:spPr>
        <p:txBody>
          <a:bodyPr anchor="t" rtlCol="false" tIns="0" lIns="0" bIns="0" rIns="0">
            <a:spAutoFit/>
          </a:bodyPr>
          <a:lstStyle/>
          <a:p>
            <a:pPr algn="l">
              <a:lnSpc>
                <a:spcPts val="7643"/>
              </a:lnSpc>
            </a:pPr>
            <a:r>
              <a:rPr lang="en-US" sz="5459">
                <a:solidFill>
                  <a:srgbClr val="081269"/>
                </a:solidFill>
                <a:latin typeface="Poppins"/>
                <a:ea typeface="Poppins"/>
                <a:cs typeface="Poppins"/>
                <a:sym typeface="Poppins"/>
              </a:rPr>
              <a:t>Server</a:t>
            </a:r>
          </a:p>
        </p:txBody>
      </p:sp>
      <p:sp>
        <p:nvSpPr>
          <p:cNvPr name="TextBox 17" id="17"/>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NHÓM 1</a:t>
            </a:r>
          </a:p>
        </p:txBody>
      </p:sp>
      <p:sp>
        <p:nvSpPr>
          <p:cNvPr name="TextBox 18" id="18"/>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19" id="19"/>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solidFill>
                <a:latin typeface="Poppins Bold"/>
                <a:ea typeface="Poppins Bold"/>
                <a:cs typeface="Poppins Bold"/>
                <a:sym typeface="Poppins Bold"/>
              </a:rPr>
              <a:t>HIỆN THỨC HÓA HỆ THÔNG</a:t>
            </a:r>
          </a:p>
        </p:txBody>
      </p:sp>
      <p:sp>
        <p:nvSpPr>
          <p:cNvPr name="TextBox 20" id="20"/>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1" id="21"/>
          <p:cNvSpPr txBox="true"/>
          <p:nvPr/>
        </p:nvSpPr>
        <p:spPr>
          <a:xfrm rot="0">
            <a:off x="11609447" y="703973"/>
            <a:ext cx="1907082"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alpha val="49804"/>
                  </a:srgbClr>
                </a:solidFill>
                <a:latin typeface="Poppins Bold"/>
                <a:ea typeface="Poppins Bold"/>
                <a:cs typeface="Poppins Bold"/>
                <a:sym typeface="Poppins Bold"/>
              </a:rPr>
              <a:t>PHÂN TÍCH THIẾT KẾ</a:t>
            </a:r>
          </a:p>
        </p:txBody>
      </p:sp>
      <p:sp>
        <p:nvSpPr>
          <p:cNvPr name="TextBox 22" id="22"/>
          <p:cNvSpPr txBox="true"/>
          <p:nvPr/>
        </p:nvSpPr>
        <p:spPr>
          <a:xfrm rot="0">
            <a:off x="501146" y="4501307"/>
            <a:ext cx="3013749" cy="625683"/>
          </a:xfrm>
          <a:prstGeom prst="rect">
            <a:avLst/>
          </a:prstGeom>
        </p:spPr>
        <p:txBody>
          <a:bodyPr anchor="t" rtlCol="false" tIns="0" lIns="0" bIns="0" rIns="0">
            <a:spAutoFit/>
          </a:bodyPr>
          <a:lstStyle/>
          <a:p>
            <a:pPr algn="just">
              <a:lnSpc>
                <a:spcPts val="4888"/>
              </a:lnSpc>
            </a:pPr>
            <a:r>
              <a:rPr lang="en-US" sz="3491">
                <a:solidFill>
                  <a:srgbClr val="081269"/>
                </a:solidFill>
                <a:latin typeface="Poppins"/>
                <a:ea typeface="Poppins"/>
                <a:cs typeface="Poppins"/>
                <a:sym typeface="Poppins"/>
              </a:rPr>
              <a:t>Setting form</a:t>
            </a:r>
          </a:p>
        </p:txBody>
      </p:sp>
      <p:sp>
        <p:nvSpPr>
          <p:cNvPr name="Freeform 23" id="23"/>
          <p:cNvSpPr/>
          <p:nvPr/>
        </p:nvSpPr>
        <p:spPr>
          <a:xfrm flipH="false" flipV="false" rot="0">
            <a:off x="13352054" y="1747935"/>
            <a:ext cx="5074305" cy="4114800"/>
          </a:xfrm>
          <a:custGeom>
            <a:avLst/>
            <a:gdLst/>
            <a:ahLst/>
            <a:cxnLst/>
            <a:rect r="r" b="b" t="t" l="l"/>
            <a:pathLst>
              <a:path h="4114800" w="5074305">
                <a:moveTo>
                  <a:pt x="0" y="0"/>
                </a:moveTo>
                <a:lnTo>
                  <a:pt x="5074305" y="0"/>
                </a:lnTo>
                <a:lnTo>
                  <a:pt x="507430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2958391" y="-4053734"/>
            <a:ext cx="12102391" cy="121023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308854" y="-2404197"/>
            <a:ext cx="8803317" cy="880331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440834" y="679099"/>
            <a:ext cx="4385302" cy="775403"/>
            <a:chOff x="0" y="0"/>
            <a:chExt cx="1200079" cy="212196"/>
          </a:xfrm>
        </p:grpSpPr>
        <p:sp>
          <p:nvSpPr>
            <p:cNvPr name="Freeform 9" id="9"/>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0" id="10"/>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0">
            <a:off x="7814689" y="3445339"/>
            <a:ext cx="9210052" cy="6046285"/>
            <a:chOff x="0" y="0"/>
            <a:chExt cx="2425693" cy="1592437"/>
          </a:xfrm>
        </p:grpSpPr>
        <p:sp>
          <p:nvSpPr>
            <p:cNvPr name="Freeform 12" id="12"/>
            <p:cNvSpPr/>
            <p:nvPr/>
          </p:nvSpPr>
          <p:spPr>
            <a:xfrm flipH="false" flipV="false" rot="0">
              <a:off x="0" y="0"/>
              <a:ext cx="2425693" cy="1592437"/>
            </a:xfrm>
            <a:custGeom>
              <a:avLst/>
              <a:gdLst/>
              <a:ahLst/>
              <a:cxnLst/>
              <a:rect r="r" b="b" t="t" l="l"/>
              <a:pathLst>
                <a:path h="1592437" w="2425693">
                  <a:moveTo>
                    <a:pt x="28580" y="0"/>
                  </a:moveTo>
                  <a:lnTo>
                    <a:pt x="2397113" y="0"/>
                  </a:lnTo>
                  <a:cubicBezTo>
                    <a:pt x="2412897" y="0"/>
                    <a:pt x="2425693" y="12796"/>
                    <a:pt x="2425693" y="28580"/>
                  </a:cubicBezTo>
                  <a:lnTo>
                    <a:pt x="2425693" y="1563857"/>
                  </a:lnTo>
                  <a:cubicBezTo>
                    <a:pt x="2425693" y="1571437"/>
                    <a:pt x="2422682" y="1578707"/>
                    <a:pt x="2417322" y="1584066"/>
                  </a:cubicBezTo>
                  <a:cubicBezTo>
                    <a:pt x="2411962" y="1589426"/>
                    <a:pt x="2404693" y="1592437"/>
                    <a:pt x="2397113" y="1592437"/>
                  </a:cubicBezTo>
                  <a:lnTo>
                    <a:pt x="28580" y="1592437"/>
                  </a:lnTo>
                  <a:cubicBezTo>
                    <a:pt x="21000" y="1592437"/>
                    <a:pt x="13731" y="1589426"/>
                    <a:pt x="8371" y="1584066"/>
                  </a:cubicBezTo>
                  <a:cubicBezTo>
                    <a:pt x="3011" y="1578707"/>
                    <a:pt x="0" y="1571437"/>
                    <a:pt x="0" y="1563857"/>
                  </a:cubicBezTo>
                  <a:lnTo>
                    <a:pt x="0" y="28580"/>
                  </a:lnTo>
                  <a:cubicBezTo>
                    <a:pt x="0" y="21000"/>
                    <a:pt x="3011" y="13731"/>
                    <a:pt x="8371" y="8371"/>
                  </a:cubicBezTo>
                  <a:cubicBezTo>
                    <a:pt x="13731" y="3011"/>
                    <a:pt x="21000" y="0"/>
                    <a:pt x="28580" y="0"/>
                  </a:cubicBezTo>
                  <a:close/>
                </a:path>
              </a:pathLst>
            </a:custGeom>
            <a:solidFill>
              <a:srgbClr val="000C74"/>
            </a:solidFill>
          </p:spPr>
        </p:sp>
        <p:sp>
          <p:nvSpPr>
            <p:cNvPr name="TextBox 13" id="13"/>
            <p:cNvSpPr txBox="true"/>
            <p:nvPr/>
          </p:nvSpPr>
          <p:spPr>
            <a:xfrm>
              <a:off x="0" y="-57150"/>
              <a:ext cx="2425693" cy="1649587"/>
            </a:xfrm>
            <a:prstGeom prst="rect">
              <a:avLst/>
            </a:prstGeom>
          </p:spPr>
          <p:txBody>
            <a:bodyPr anchor="ctr" rtlCol="false" tIns="50800" lIns="50800" bIns="50800" rIns="50800"/>
            <a:lstStyle/>
            <a:p>
              <a:pPr algn="ctr">
                <a:lnSpc>
                  <a:spcPts val="2731"/>
                </a:lnSpc>
              </a:pPr>
            </a:p>
          </p:txBody>
        </p:sp>
      </p:grpSp>
      <p:sp>
        <p:nvSpPr>
          <p:cNvPr name="Freeform 14" id="14"/>
          <p:cNvSpPr/>
          <p:nvPr/>
        </p:nvSpPr>
        <p:spPr>
          <a:xfrm flipH="false" flipV="false" rot="0">
            <a:off x="7968336" y="3627938"/>
            <a:ext cx="8847711" cy="5630362"/>
          </a:xfrm>
          <a:custGeom>
            <a:avLst/>
            <a:gdLst/>
            <a:ahLst/>
            <a:cxnLst/>
            <a:rect r="r" b="b" t="t" l="l"/>
            <a:pathLst>
              <a:path h="5630362" w="8847711">
                <a:moveTo>
                  <a:pt x="0" y="0"/>
                </a:moveTo>
                <a:lnTo>
                  <a:pt x="8847711" y="0"/>
                </a:lnTo>
                <a:lnTo>
                  <a:pt x="8847711" y="5630362"/>
                </a:lnTo>
                <a:lnTo>
                  <a:pt x="0" y="5630362"/>
                </a:lnTo>
                <a:lnTo>
                  <a:pt x="0" y="0"/>
                </a:lnTo>
                <a:close/>
              </a:path>
            </a:pathLst>
          </a:custGeom>
          <a:blipFill>
            <a:blip r:embed="rId2"/>
            <a:stretch>
              <a:fillRect l="0" t="0" r="0" b="0"/>
            </a:stretch>
          </a:blipFill>
        </p:spPr>
      </p:sp>
      <p:sp>
        <p:nvSpPr>
          <p:cNvPr name="TextBox 15" id="15"/>
          <p:cNvSpPr txBox="true"/>
          <p:nvPr/>
        </p:nvSpPr>
        <p:spPr>
          <a:xfrm rot="0">
            <a:off x="1625064" y="1594257"/>
            <a:ext cx="8046214" cy="1127183"/>
          </a:xfrm>
          <a:prstGeom prst="rect">
            <a:avLst/>
          </a:prstGeom>
        </p:spPr>
        <p:txBody>
          <a:bodyPr anchor="t" rtlCol="false" tIns="0" lIns="0" bIns="0" rIns="0">
            <a:spAutoFit/>
          </a:bodyPr>
          <a:lstStyle/>
          <a:p>
            <a:pPr algn="l">
              <a:lnSpc>
                <a:spcPts val="8735"/>
              </a:lnSpc>
            </a:pPr>
            <a:r>
              <a:rPr lang="en-US" sz="6239" b="true">
                <a:solidFill>
                  <a:srgbClr val="081269"/>
                </a:solidFill>
                <a:latin typeface="Poppins Bold"/>
                <a:ea typeface="Poppins Bold"/>
                <a:cs typeface="Poppins Bold"/>
                <a:sym typeface="Poppins Bold"/>
              </a:rPr>
              <a:t>Các Module Phụ Trợ</a:t>
            </a:r>
          </a:p>
        </p:txBody>
      </p:sp>
      <p:sp>
        <p:nvSpPr>
          <p:cNvPr name="TextBox 16" id="16"/>
          <p:cNvSpPr txBox="true"/>
          <p:nvPr/>
        </p:nvSpPr>
        <p:spPr>
          <a:xfrm rot="0">
            <a:off x="1625064" y="2889769"/>
            <a:ext cx="5807080" cy="982658"/>
          </a:xfrm>
          <a:prstGeom prst="rect">
            <a:avLst/>
          </a:prstGeom>
        </p:spPr>
        <p:txBody>
          <a:bodyPr anchor="t" rtlCol="false" tIns="0" lIns="0" bIns="0" rIns="0">
            <a:spAutoFit/>
          </a:bodyPr>
          <a:lstStyle/>
          <a:p>
            <a:pPr algn="l">
              <a:lnSpc>
                <a:spcPts val="7643"/>
              </a:lnSpc>
            </a:pPr>
            <a:r>
              <a:rPr lang="en-US" sz="5459">
                <a:solidFill>
                  <a:srgbClr val="081269"/>
                </a:solidFill>
                <a:latin typeface="Poppins"/>
                <a:ea typeface="Poppins"/>
                <a:cs typeface="Poppins"/>
                <a:sym typeface="Poppins"/>
              </a:rPr>
              <a:t>Logging Service</a:t>
            </a:r>
          </a:p>
        </p:txBody>
      </p:sp>
      <p:sp>
        <p:nvSpPr>
          <p:cNvPr name="TextBox 17" id="17"/>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NHÓM 1</a:t>
            </a:r>
          </a:p>
        </p:txBody>
      </p:sp>
      <p:sp>
        <p:nvSpPr>
          <p:cNvPr name="TextBox 18" id="18"/>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19" id="19"/>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solidFill>
                <a:latin typeface="Poppins Bold"/>
                <a:ea typeface="Poppins Bold"/>
                <a:cs typeface="Poppins Bold"/>
                <a:sym typeface="Poppins Bold"/>
              </a:rPr>
              <a:t>HIỆN THỨC HÓA HỆ THÔNG</a:t>
            </a:r>
          </a:p>
        </p:txBody>
      </p:sp>
      <p:sp>
        <p:nvSpPr>
          <p:cNvPr name="TextBox 20" id="20"/>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1" id="21"/>
          <p:cNvSpPr txBox="true"/>
          <p:nvPr/>
        </p:nvSpPr>
        <p:spPr>
          <a:xfrm rot="0">
            <a:off x="11609447" y="703973"/>
            <a:ext cx="1907082"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alpha val="49804"/>
                  </a:srgbClr>
                </a:solidFill>
                <a:latin typeface="Poppins Bold"/>
                <a:ea typeface="Poppins Bold"/>
                <a:cs typeface="Poppins Bold"/>
                <a:sym typeface="Poppins Bold"/>
              </a:rPr>
              <a:t>PHÂN TÍCH THIẾT KẾ</a:t>
            </a:r>
          </a:p>
        </p:txBody>
      </p:sp>
      <p:grpSp>
        <p:nvGrpSpPr>
          <p:cNvPr name="Group 22" id="22"/>
          <p:cNvGrpSpPr/>
          <p:nvPr/>
        </p:nvGrpSpPr>
        <p:grpSpPr>
          <a:xfrm rot="0">
            <a:off x="-331932" y="4196277"/>
            <a:ext cx="7943675" cy="2202843"/>
            <a:chOff x="0" y="0"/>
            <a:chExt cx="2173861" cy="602828"/>
          </a:xfrm>
        </p:grpSpPr>
        <p:sp>
          <p:nvSpPr>
            <p:cNvPr name="Freeform 23" id="23"/>
            <p:cNvSpPr/>
            <p:nvPr/>
          </p:nvSpPr>
          <p:spPr>
            <a:xfrm flipH="false" flipV="false" rot="0">
              <a:off x="0" y="0"/>
              <a:ext cx="2173861" cy="602828"/>
            </a:xfrm>
            <a:custGeom>
              <a:avLst/>
              <a:gdLst/>
              <a:ahLst/>
              <a:cxnLst/>
              <a:rect r="r" b="b" t="t" l="l"/>
              <a:pathLst>
                <a:path h="602828" w="2173861">
                  <a:moveTo>
                    <a:pt x="36060" y="0"/>
                  </a:moveTo>
                  <a:lnTo>
                    <a:pt x="2137800" y="0"/>
                  </a:lnTo>
                  <a:cubicBezTo>
                    <a:pt x="2147364" y="0"/>
                    <a:pt x="2156536" y="3799"/>
                    <a:pt x="2163299" y="10562"/>
                  </a:cubicBezTo>
                  <a:cubicBezTo>
                    <a:pt x="2170061" y="17324"/>
                    <a:pt x="2173861" y="26496"/>
                    <a:pt x="2173861" y="36060"/>
                  </a:cubicBezTo>
                  <a:lnTo>
                    <a:pt x="2173861" y="566768"/>
                  </a:lnTo>
                  <a:cubicBezTo>
                    <a:pt x="2173861" y="576332"/>
                    <a:pt x="2170061" y="585504"/>
                    <a:pt x="2163299" y="592267"/>
                  </a:cubicBezTo>
                  <a:cubicBezTo>
                    <a:pt x="2156536" y="599029"/>
                    <a:pt x="2147364" y="602828"/>
                    <a:pt x="2137800" y="602828"/>
                  </a:cubicBezTo>
                  <a:lnTo>
                    <a:pt x="36060" y="602828"/>
                  </a:lnTo>
                  <a:cubicBezTo>
                    <a:pt x="16145" y="602828"/>
                    <a:pt x="0" y="586684"/>
                    <a:pt x="0" y="566768"/>
                  </a:cubicBezTo>
                  <a:lnTo>
                    <a:pt x="0" y="36060"/>
                  </a:lnTo>
                  <a:cubicBezTo>
                    <a:pt x="0" y="26496"/>
                    <a:pt x="3799" y="17324"/>
                    <a:pt x="10562" y="10562"/>
                  </a:cubicBezTo>
                  <a:cubicBezTo>
                    <a:pt x="17324" y="3799"/>
                    <a:pt x="26496" y="0"/>
                    <a:pt x="36060" y="0"/>
                  </a:cubicBezTo>
                  <a:close/>
                </a:path>
              </a:pathLst>
            </a:custGeom>
            <a:solidFill>
              <a:srgbClr val="000C74"/>
            </a:solidFill>
          </p:spPr>
        </p:sp>
        <p:sp>
          <p:nvSpPr>
            <p:cNvPr name="TextBox 24" id="24"/>
            <p:cNvSpPr txBox="true"/>
            <p:nvPr/>
          </p:nvSpPr>
          <p:spPr>
            <a:xfrm>
              <a:off x="0" y="-28575"/>
              <a:ext cx="2173861" cy="631403"/>
            </a:xfrm>
            <a:prstGeom prst="rect">
              <a:avLst/>
            </a:prstGeom>
          </p:spPr>
          <p:txBody>
            <a:bodyPr anchor="ctr" rtlCol="false" tIns="50800" lIns="50800" bIns="50800" rIns="50800"/>
            <a:lstStyle/>
            <a:p>
              <a:pPr algn="ctr">
                <a:lnSpc>
                  <a:spcPts val="1960"/>
                </a:lnSpc>
              </a:pPr>
            </a:p>
          </p:txBody>
        </p:sp>
      </p:grpSp>
      <p:sp>
        <p:nvSpPr>
          <p:cNvPr name="TextBox 25" id="25"/>
          <p:cNvSpPr txBox="true"/>
          <p:nvPr/>
        </p:nvSpPr>
        <p:spPr>
          <a:xfrm rot="0">
            <a:off x="638802" y="4301052"/>
            <a:ext cx="6544315" cy="1863933"/>
          </a:xfrm>
          <a:prstGeom prst="rect">
            <a:avLst/>
          </a:prstGeom>
        </p:spPr>
        <p:txBody>
          <a:bodyPr anchor="t" rtlCol="false" tIns="0" lIns="0" bIns="0" rIns="0">
            <a:spAutoFit/>
          </a:bodyPr>
          <a:lstStyle/>
          <a:p>
            <a:pPr algn="just">
              <a:lnSpc>
                <a:spcPts val="4888"/>
              </a:lnSpc>
            </a:pPr>
            <a:r>
              <a:rPr lang="en-US" sz="3491" b="true">
                <a:solidFill>
                  <a:srgbClr val="FFFFFF"/>
                </a:solidFill>
                <a:latin typeface="Poppins Bold"/>
                <a:ea typeface="Poppins Bold"/>
                <a:cs typeface="Poppins Bold"/>
                <a:sym typeface="Poppins Bold"/>
              </a:rPr>
              <a:t>Hệ</a:t>
            </a:r>
            <a:r>
              <a:rPr lang="en-US" b="true" sz="3491">
                <a:solidFill>
                  <a:srgbClr val="FFFFFF"/>
                </a:solidFill>
                <a:latin typeface="Poppins Bold"/>
                <a:ea typeface="Poppins Bold"/>
                <a:cs typeface="Poppins Bold"/>
                <a:sym typeface="Poppins Bold"/>
              </a:rPr>
              <a:t> thống sử dụng lớp Logger để ghi nhận toàn bộ hoạt động của Server.</a:t>
            </a:r>
          </a:p>
        </p:txBody>
      </p:sp>
      <p:grpSp>
        <p:nvGrpSpPr>
          <p:cNvPr name="Group 26" id="26"/>
          <p:cNvGrpSpPr/>
          <p:nvPr/>
        </p:nvGrpSpPr>
        <p:grpSpPr>
          <a:xfrm rot="-5400000">
            <a:off x="320405" y="6560342"/>
            <a:ext cx="4658600" cy="4598694"/>
            <a:chOff x="0" y="0"/>
            <a:chExt cx="1274869" cy="1258475"/>
          </a:xfrm>
        </p:grpSpPr>
        <p:sp>
          <p:nvSpPr>
            <p:cNvPr name="Freeform 27" id="27"/>
            <p:cNvSpPr/>
            <p:nvPr/>
          </p:nvSpPr>
          <p:spPr>
            <a:xfrm flipH="false" flipV="false" rot="0">
              <a:off x="0" y="0"/>
              <a:ext cx="1274869" cy="1258476"/>
            </a:xfrm>
            <a:custGeom>
              <a:avLst/>
              <a:gdLst/>
              <a:ahLst/>
              <a:cxnLst/>
              <a:rect r="r" b="b" t="t" l="l"/>
              <a:pathLst>
                <a:path h="1258476" w="1274869">
                  <a:moveTo>
                    <a:pt x="61489" y="0"/>
                  </a:moveTo>
                  <a:lnTo>
                    <a:pt x="1213381" y="0"/>
                  </a:lnTo>
                  <a:cubicBezTo>
                    <a:pt x="1247340" y="0"/>
                    <a:pt x="1274869" y="27529"/>
                    <a:pt x="1274869" y="61489"/>
                  </a:cubicBezTo>
                  <a:lnTo>
                    <a:pt x="1274869" y="1196987"/>
                  </a:lnTo>
                  <a:cubicBezTo>
                    <a:pt x="1274869" y="1230946"/>
                    <a:pt x="1247340" y="1258476"/>
                    <a:pt x="1213381" y="1258476"/>
                  </a:cubicBezTo>
                  <a:lnTo>
                    <a:pt x="61489" y="1258476"/>
                  </a:lnTo>
                  <a:cubicBezTo>
                    <a:pt x="45181" y="1258476"/>
                    <a:pt x="29541" y="1251997"/>
                    <a:pt x="18010" y="1240466"/>
                  </a:cubicBezTo>
                  <a:cubicBezTo>
                    <a:pt x="6478" y="1228935"/>
                    <a:pt x="0" y="1213295"/>
                    <a:pt x="0" y="1196987"/>
                  </a:cubicBezTo>
                  <a:lnTo>
                    <a:pt x="0" y="61489"/>
                  </a:lnTo>
                  <a:cubicBezTo>
                    <a:pt x="0" y="45181"/>
                    <a:pt x="6478" y="29541"/>
                    <a:pt x="18010" y="18010"/>
                  </a:cubicBezTo>
                  <a:cubicBezTo>
                    <a:pt x="29541" y="6478"/>
                    <a:pt x="45181" y="0"/>
                    <a:pt x="61489" y="0"/>
                  </a:cubicBezTo>
                  <a:close/>
                </a:path>
              </a:pathLst>
            </a:custGeom>
            <a:solidFill>
              <a:srgbClr val="000C74"/>
            </a:solidFill>
          </p:spPr>
        </p:sp>
        <p:sp>
          <p:nvSpPr>
            <p:cNvPr name="TextBox 28" id="28"/>
            <p:cNvSpPr txBox="true"/>
            <p:nvPr/>
          </p:nvSpPr>
          <p:spPr>
            <a:xfrm>
              <a:off x="0" y="-28575"/>
              <a:ext cx="1274869" cy="1287050"/>
            </a:xfrm>
            <a:prstGeom prst="rect">
              <a:avLst/>
            </a:prstGeom>
          </p:spPr>
          <p:txBody>
            <a:bodyPr anchor="ctr" rtlCol="false" tIns="50800" lIns="50800" bIns="50800" rIns="50800"/>
            <a:lstStyle/>
            <a:p>
              <a:pPr algn="ctr">
                <a:lnSpc>
                  <a:spcPts val="1960"/>
                </a:lnSpc>
              </a:pPr>
            </a:p>
          </p:txBody>
        </p:sp>
      </p:grpSp>
      <p:sp>
        <p:nvSpPr>
          <p:cNvPr name="TextBox 29" id="29"/>
          <p:cNvSpPr txBox="true"/>
          <p:nvPr/>
        </p:nvSpPr>
        <p:spPr>
          <a:xfrm rot="0">
            <a:off x="663892" y="6656295"/>
            <a:ext cx="3971627" cy="3862982"/>
          </a:xfrm>
          <a:prstGeom prst="rect">
            <a:avLst/>
          </a:prstGeom>
        </p:spPr>
        <p:txBody>
          <a:bodyPr anchor="t" rtlCol="false" tIns="0" lIns="0" bIns="0" rIns="0">
            <a:spAutoFit/>
          </a:bodyPr>
          <a:lstStyle/>
          <a:p>
            <a:pPr algn="l">
              <a:lnSpc>
                <a:spcPts val="3379"/>
              </a:lnSpc>
              <a:spcBef>
                <a:spcPct val="0"/>
              </a:spcBef>
            </a:pPr>
            <a:r>
              <a:rPr lang="en-US" b="true" sz="2414">
                <a:solidFill>
                  <a:srgbClr val="FFFFFF"/>
                </a:solidFill>
                <a:latin typeface="Poppins Bold"/>
                <a:ea typeface="Poppins Bold"/>
                <a:cs typeface="Poppins Bold"/>
                <a:sym typeface="Poppins Bold"/>
              </a:rPr>
              <a:t>- KHỞI ĐỘNG SERVER.</a:t>
            </a:r>
          </a:p>
          <a:p>
            <a:pPr algn="l">
              <a:lnSpc>
                <a:spcPts val="3379"/>
              </a:lnSpc>
              <a:spcBef>
                <a:spcPct val="0"/>
              </a:spcBef>
            </a:pPr>
            <a:r>
              <a:rPr lang="en-US" b="true" sz="2414">
                <a:solidFill>
                  <a:srgbClr val="FFFFFF"/>
                </a:solidFill>
                <a:latin typeface="Poppins Bold"/>
                <a:ea typeface="Poppins Bold"/>
                <a:cs typeface="Poppins Bold"/>
                <a:sym typeface="Poppins Bold"/>
              </a:rPr>
              <a:t>- KẾT NỐI CLIENT.</a:t>
            </a:r>
          </a:p>
          <a:p>
            <a:pPr algn="l">
              <a:lnSpc>
                <a:spcPts val="3379"/>
              </a:lnSpc>
              <a:spcBef>
                <a:spcPct val="0"/>
              </a:spcBef>
            </a:pPr>
            <a:r>
              <a:rPr lang="en-US" b="true" sz="2414">
                <a:solidFill>
                  <a:srgbClr val="FFFFFF"/>
                </a:solidFill>
                <a:latin typeface="Poppins Bold"/>
                <a:ea typeface="Poppins Bold"/>
                <a:cs typeface="Poppins Bold"/>
                <a:sym typeface="Poppins Bold"/>
              </a:rPr>
              <a:t>- THAM GIA PHÒNG CHAT.</a:t>
            </a:r>
          </a:p>
          <a:p>
            <a:pPr algn="l">
              <a:lnSpc>
                <a:spcPts val="3379"/>
              </a:lnSpc>
              <a:spcBef>
                <a:spcPct val="0"/>
              </a:spcBef>
            </a:pPr>
            <a:r>
              <a:rPr lang="en-US" b="true" sz="2414">
                <a:solidFill>
                  <a:srgbClr val="FFFFFF"/>
                </a:solidFill>
                <a:latin typeface="Poppins Bold"/>
                <a:ea typeface="Poppins Bold"/>
                <a:cs typeface="Poppins Bold"/>
                <a:sym typeface="Poppins Bold"/>
              </a:rPr>
              <a:t>- CHUYỂN PHÒNG CHAT.</a:t>
            </a:r>
          </a:p>
          <a:p>
            <a:pPr algn="l">
              <a:lnSpc>
                <a:spcPts val="3379"/>
              </a:lnSpc>
              <a:spcBef>
                <a:spcPct val="0"/>
              </a:spcBef>
            </a:pPr>
            <a:r>
              <a:rPr lang="en-US" b="true" sz="2414">
                <a:solidFill>
                  <a:srgbClr val="FFFFFF"/>
                </a:solidFill>
                <a:latin typeface="Poppins Bold"/>
                <a:ea typeface="Poppins Bold"/>
                <a:cs typeface="Poppins Bold"/>
                <a:sym typeface="Poppins Bold"/>
              </a:rPr>
              <a:t>- TẠO PHÒNG MỚI.</a:t>
            </a:r>
          </a:p>
          <a:p>
            <a:pPr algn="l">
              <a:lnSpc>
                <a:spcPts val="3379"/>
              </a:lnSpc>
              <a:spcBef>
                <a:spcPct val="0"/>
              </a:spcBef>
            </a:pPr>
            <a:r>
              <a:rPr lang="en-US" b="true" sz="2414">
                <a:solidFill>
                  <a:srgbClr val="FFFFFF"/>
                </a:solidFill>
                <a:latin typeface="Poppins Bold"/>
                <a:ea typeface="Poppins Bold"/>
                <a:cs typeface="Poppins Bold"/>
                <a:sym typeface="Poppins Bold"/>
              </a:rPr>
              <a:t>- GỬI TIN NHẮN.</a:t>
            </a:r>
          </a:p>
          <a:p>
            <a:pPr algn="l">
              <a:lnSpc>
                <a:spcPts val="3379"/>
              </a:lnSpc>
              <a:spcBef>
                <a:spcPct val="0"/>
              </a:spcBef>
            </a:pPr>
            <a:r>
              <a:rPr lang="en-US" b="true" sz="2414">
                <a:solidFill>
                  <a:srgbClr val="FFFFFF"/>
                </a:solidFill>
                <a:latin typeface="Poppins Bold"/>
                <a:ea typeface="Poppins Bold"/>
                <a:cs typeface="Poppins Bold"/>
                <a:sym typeface="Poppins Bold"/>
              </a:rPr>
              <a:t>- NGẮT KẾT NỐI.</a:t>
            </a:r>
          </a:p>
          <a:p>
            <a:pPr algn="l">
              <a:lnSpc>
                <a:spcPts val="3379"/>
              </a:lnSpc>
              <a:spcBef>
                <a:spcPct val="0"/>
              </a:spcBef>
            </a:pPr>
            <a:r>
              <a:rPr lang="en-US" b="true" sz="2414">
                <a:solidFill>
                  <a:srgbClr val="FFFFFF"/>
                </a:solidFill>
                <a:latin typeface="Poppins Bold"/>
                <a:ea typeface="Poppins Bold"/>
                <a:cs typeface="Poppins Bold"/>
                <a:sym typeface="Poppins Bold"/>
              </a:rPr>
              <a:t>- LỖI HỆ THỐNG.</a:t>
            </a:r>
          </a:p>
          <a:p>
            <a:pPr algn="l">
              <a:lnSpc>
                <a:spcPts val="3379"/>
              </a:lnSpc>
              <a:spcBef>
                <a:spcPct val="0"/>
              </a:spcBef>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2958391" y="-4053734"/>
            <a:ext cx="12102391" cy="121023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308854" y="-2404197"/>
            <a:ext cx="8803317" cy="880331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440834" y="679099"/>
            <a:ext cx="4385302" cy="775403"/>
            <a:chOff x="0" y="0"/>
            <a:chExt cx="1200079" cy="212196"/>
          </a:xfrm>
        </p:grpSpPr>
        <p:sp>
          <p:nvSpPr>
            <p:cNvPr name="Freeform 9" id="9"/>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0" id="10"/>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pSp>
        <p:nvGrpSpPr>
          <p:cNvPr name="Group 11" id="11"/>
          <p:cNvGrpSpPr/>
          <p:nvPr/>
        </p:nvGrpSpPr>
        <p:grpSpPr>
          <a:xfrm rot="0">
            <a:off x="8267052" y="3445339"/>
            <a:ext cx="7353162" cy="6046285"/>
            <a:chOff x="0" y="0"/>
            <a:chExt cx="1936635" cy="1592437"/>
          </a:xfrm>
        </p:grpSpPr>
        <p:sp>
          <p:nvSpPr>
            <p:cNvPr name="Freeform 12" id="12"/>
            <p:cNvSpPr/>
            <p:nvPr/>
          </p:nvSpPr>
          <p:spPr>
            <a:xfrm flipH="false" flipV="false" rot="0">
              <a:off x="0" y="0"/>
              <a:ext cx="1936635" cy="1592437"/>
            </a:xfrm>
            <a:custGeom>
              <a:avLst/>
              <a:gdLst/>
              <a:ahLst/>
              <a:cxnLst/>
              <a:rect r="r" b="b" t="t" l="l"/>
              <a:pathLst>
                <a:path h="1592437" w="1936635">
                  <a:moveTo>
                    <a:pt x="35798" y="0"/>
                  </a:moveTo>
                  <a:lnTo>
                    <a:pt x="1900838" y="0"/>
                  </a:lnTo>
                  <a:cubicBezTo>
                    <a:pt x="1910332" y="0"/>
                    <a:pt x="1919437" y="3772"/>
                    <a:pt x="1926150" y="10485"/>
                  </a:cubicBezTo>
                  <a:cubicBezTo>
                    <a:pt x="1932864" y="17198"/>
                    <a:pt x="1936635" y="26303"/>
                    <a:pt x="1936635" y="35798"/>
                  </a:cubicBezTo>
                  <a:lnTo>
                    <a:pt x="1936635" y="1556640"/>
                  </a:lnTo>
                  <a:cubicBezTo>
                    <a:pt x="1936635" y="1576410"/>
                    <a:pt x="1920608" y="1592437"/>
                    <a:pt x="1900838" y="1592437"/>
                  </a:cubicBezTo>
                  <a:lnTo>
                    <a:pt x="35798" y="1592437"/>
                  </a:lnTo>
                  <a:cubicBezTo>
                    <a:pt x="16027" y="1592437"/>
                    <a:pt x="0" y="1576410"/>
                    <a:pt x="0" y="1556640"/>
                  </a:cubicBezTo>
                  <a:lnTo>
                    <a:pt x="0" y="35798"/>
                  </a:lnTo>
                  <a:cubicBezTo>
                    <a:pt x="0" y="26303"/>
                    <a:pt x="3772" y="17198"/>
                    <a:pt x="10485" y="10485"/>
                  </a:cubicBezTo>
                  <a:cubicBezTo>
                    <a:pt x="17198" y="3772"/>
                    <a:pt x="26303" y="0"/>
                    <a:pt x="35798" y="0"/>
                  </a:cubicBezTo>
                  <a:close/>
                </a:path>
              </a:pathLst>
            </a:custGeom>
            <a:solidFill>
              <a:srgbClr val="000C74"/>
            </a:solidFill>
          </p:spPr>
        </p:sp>
        <p:sp>
          <p:nvSpPr>
            <p:cNvPr name="TextBox 13" id="13"/>
            <p:cNvSpPr txBox="true"/>
            <p:nvPr/>
          </p:nvSpPr>
          <p:spPr>
            <a:xfrm>
              <a:off x="0" y="-57150"/>
              <a:ext cx="1936635" cy="1649587"/>
            </a:xfrm>
            <a:prstGeom prst="rect">
              <a:avLst/>
            </a:prstGeom>
          </p:spPr>
          <p:txBody>
            <a:bodyPr anchor="ctr" rtlCol="false" tIns="50800" lIns="50800" bIns="50800" rIns="50800"/>
            <a:lstStyle/>
            <a:p>
              <a:pPr algn="ctr">
                <a:lnSpc>
                  <a:spcPts val="2731"/>
                </a:lnSpc>
              </a:pPr>
            </a:p>
          </p:txBody>
        </p:sp>
      </p:grpSp>
      <p:grpSp>
        <p:nvGrpSpPr>
          <p:cNvPr name="Group 14" id="14"/>
          <p:cNvGrpSpPr/>
          <p:nvPr/>
        </p:nvGrpSpPr>
        <p:grpSpPr>
          <a:xfrm rot="0">
            <a:off x="-331932" y="4196277"/>
            <a:ext cx="8295513" cy="4096068"/>
            <a:chOff x="0" y="0"/>
            <a:chExt cx="2270144" cy="1120927"/>
          </a:xfrm>
        </p:grpSpPr>
        <p:sp>
          <p:nvSpPr>
            <p:cNvPr name="Freeform 15" id="15"/>
            <p:cNvSpPr/>
            <p:nvPr/>
          </p:nvSpPr>
          <p:spPr>
            <a:xfrm flipH="false" flipV="false" rot="0">
              <a:off x="0" y="0"/>
              <a:ext cx="2270144" cy="1120927"/>
            </a:xfrm>
            <a:custGeom>
              <a:avLst/>
              <a:gdLst/>
              <a:ahLst/>
              <a:cxnLst/>
              <a:rect r="r" b="b" t="t" l="l"/>
              <a:pathLst>
                <a:path h="1120927" w="2270144">
                  <a:moveTo>
                    <a:pt x="34531" y="0"/>
                  </a:moveTo>
                  <a:lnTo>
                    <a:pt x="2235614" y="0"/>
                  </a:lnTo>
                  <a:cubicBezTo>
                    <a:pt x="2254684" y="0"/>
                    <a:pt x="2270144" y="15460"/>
                    <a:pt x="2270144" y="34531"/>
                  </a:cubicBezTo>
                  <a:lnTo>
                    <a:pt x="2270144" y="1086396"/>
                  </a:lnTo>
                  <a:cubicBezTo>
                    <a:pt x="2270144" y="1105467"/>
                    <a:pt x="2254684" y="1120927"/>
                    <a:pt x="2235614" y="1120927"/>
                  </a:cubicBezTo>
                  <a:lnTo>
                    <a:pt x="34531" y="1120927"/>
                  </a:lnTo>
                  <a:cubicBezTo>
                    <a:pt x="15460" y="1120927"/>
                    <a:pt x="0" y="1105467"/>
                    <a:pt x="0" y="1086396"/>
                  </a:cubicBezTo>
                  <a:lnTo>
                    <a:pt x="0" y="34531"/>
                  </a:lnTo>
                  <a:cubicBezTo>
                    <a:pt x="0" y="15460"/>
                    <a:pt x="15460" y="0"/>
                    <a:pt x="34531" y="0"/>
                  </a:cubicBezTo>
                  <a:close/>
                </a:path>
              </a:pathLst>
            </a:custGeom>
            <a:solidFill>
              <a:srgbClr val="000C74"/>
            </a:solidFill>
          </p:spPr>
        </p:sp>
        <p:sp>
          <p:nvSpPr>
            <p:cNvPr name="TextBox 16" id="16"/>
            <p:cNvSpPr txBox="true"/>
            <p:nvPr/>
          </p:nvSpPr>
          <p:spPr>
            <a:xfrm>
              <a:off x="0" y="-28575"/>
              <a:ext cx="2270144" cy="1149502"/>
            </a:xfrm>
            <a:prstGeom prst="rect">
              <a:avLst/>
            </a:prstGeom>
          </p:spPr>
          <p:txBody>
            <a:bodyPr anchor="ctr" rtlCol="false" tIns="50800" lIns="50800" bIns="50800" rIns="50800"/>
            <a:lstStyle/>
            <a:p>
              <a:pPr algn="ctr">
                <a:lnSpc>
                  <a:spcPts val="1960"/>
                </a:lnSpc>
              </a:pPr>
            </a:p>
          </p:txBody>
        </p:sp>
      </p:grpSp>
      <p:sp>
        <p:nvSpPr>
          <p:cNvPr name="Freeform 17" id="17"/>
          <p:cNvSpPr/>
          <p:nvPr/>
        </p:nvSpPr>
        <p:spPr>
          <a:xfrm flipH="false" flipV="false" rot="0">
            <a:off x="8634400" y="3633351"/>
            <a:ext cx="6618466" cy="5670261"/>
          </a:xfrm>
          <a:custGeom>
            <a:avLst/>
            <a:gdLst/>
            <a:ahLst/>
            <a:cxnLst/>
            <a:rect r="r" b="b" t="t" l="l"/>
            <a:pathLst>
              <a:path h="5670261" w="6618466">
                <a:moveTo>
                  <a:pt x="0" y="0"/>
                </a:moveTo>
                <a:lnTo>
                  <a:pt x="6618466" y="0"/>
                </a:lnTo>
                <a:lnTo>
                  <a:pt x="6618466" y="5670262"/>
                </a:lnTo>
                <a:lnTo>
                  <a:pt x="0" y="5670262"/>
                </a:lnTo>
                <a:lnTo>
                  <a:pt x="0" y="0"/>
                </a:lnTo>
                <a:close/>
              </a:path>
            </a:pathLst>
          </a:custGeom>
          <a:blipFill>
            <a:blip r:embed="rId2"/>
            <a:stretch>
              <a:fillRect l="0" t="0" r="0" b="0"/>
            </a:stretch>
          </a:blipFill>
        </p:spPr>
      </p:sp>
      <p:sp>
        <p:nvSpPr>
          <p:cNvPr name="Freeform 18" id="18"/>
          <p:cNvSpPr/>
          <p:nvPr/>
        </p:nvSpPr>
        <p:spPr>
          <a:xfrm flipH="false" flipV="false" rot="0">
            <a:off x="870172" y="8623093"/>
            <a:ext cx="1016330" cy="1270413"/>
          </a:xfrm>
          <a:custGeom>
            <a:avLst/>
            <a:gdLst/>
            <a:ahLst/>
            <a:cxnLst/>
            <a:rect r="r" b="b" t="t" l="l"/>
            <a:pathLst>
              <a:path h="1270413" w="1016330">
                <a:moveTo>
                  <a:pt x="0" y="0"/>
                </a:moveTo>
                <a:lnTo>
                  <a:pt x="1016330" y="0"/>
                </a:lnTo>
                <a:lnTo>
                  <a:pt x="1016330" y="1270414"/>
                </a:lnTo>
                <a:lnTo>
                  <a:pt x="0" y="1270414"/>
                </a:lnTo>
                <a:lnTo>
                  <a:pt x="0" y="0"/>
                </a:lnTo>
                <a:close/>
              </a:path>
            </a:pathLst>
          </a:custGeom>
          <a:blipFill>
            <a:blip r:embed="rId3"/>
            <a:stretch>
              <a:fillRect l="0" t="0" r="0" b="0"/>
            </a:stretch>
          </a:blipFill>
        </p:spPr>
      </p:sp>
      <p:sp>
        <p:nvSpPr>
          <p:cNvPr name="TextBox 19" id="19"/>
          <p:cNvSpPr txBox="true"/>
          <p:nvPr/>
        </p:nvSpPr>
        <p:spPr>
          <a:xfrm rot="0">
            <a:off x="638802" y="4301052"/>
            <a:ext cx="6855662" cy="3721308"/>
          </a:xfrm>
          <a:prstGeom prst="rect">
            <a:avLst/>
          </a:prstGeom>
        </p:spPr>
        <p:txBody>
          <a:bodyPr anchor="t" rtlCol="false" tIns="0" lIns="0" bIns="0" rIns="0">
            <a:spAutoFit/>
          </a:bodyPr>
          <a:lstStyle/>
          <a:p>
            <a:pPr algn="just">
              <a:lnSpc>
                <a:spcPts val="4888"/>
              </a:lnSpc>
            </a:pPr>
            <a:r>
              <a:rPr lang="en-US" sz="3491" b="true">
                <a:solidFill>
                  <a:srgbClr val="FFFFFF"/>
                </a:solidFill>
                <a:latin typeface="Poppins Bold"/>
                <a:ea typeface="Poppins Bold"/>
                <a:cs typeface="Poppins Bold"/>
                <a:sym typeface="Poppins Bold"/>
              </a:rPr>
              <a:t>Module</a:t>
            </a:r>
            <a:r>
              <a:rPr lang="en-US" b="true" sz="3491">
                <a:solidFill>
                  <a:srgbClr val="FFFFFF"/>
                </a:solidFill>
                <a:latin typeface="Poppins Bold"/>
                <a:ea typeface="Poppins Bold"/>
                <a:cs typeface="Poppins Bold"/>
                <a:sym typeface="Poppins Bold"/>
              </a:rPr>
              <a:t> Emoji được xây dựng nhằm hỗ trợ chuyển đổi các ký hiệu cảm xúc thông dụng thành biểu tượng Emoji tương ứng khi người dùng trò chuyện.</a:t>
            </a:r>
          </a:p>
        </p:txBody>
      </p:sp>
      <p:sp>
        <p:nvSpPr>
          <p:cNvPr name="Freeform 20" id="20"/>
          <p:cNvSpPr/>
          <p:nvPr/>
        </p:nvSpPr>
        <p:spPr>
          <a:xfrm flipH="false" flipV="false" rot="0">
            <a:off x="16390771" y="8922101"/>
            <a:ext cx="918420" cy="971405"/>
          </a:xfrm>
          <a:custGeom>
            <a:avLst/>
            <a:gdLst/>
            <a:ahLst/>
            <a:cxnLst/>
            <a:rect r="r" b="b" t="t" l="l"/>
            <a:pathLst>
              <a:path h="971405" w="918420">
                <a:moveTo>
                  <a:pt x="0" y="0"/>
                </a:moveTo>
                <a:lnTo>
                  <a:pt x="918420" y="0"/>
                </a:lnTo>
                <a:lnTo>
                  <a:pt x="918420" y="971406"/>
                </a:lnTo>
                <a:lnTo>
                  <a:pt x="0" y="9714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1625064" y="1594257"/>
            <a:ext cx="8046214" cy="1127183"/>
          </a:xfrm>
          <a:prstGeom prst="rect">
            <a:avLst/>
          </a:prstGeom>
        </p:spPr>
        <p:txBody>
          <a:bodyPr anchor="t" rtlCol="false" tIns="0" lIns="0" bIns="0" rIns="0">
            <a:spAutoFit/>
          </a:bodyPr>
          <a:lstStyle/>
          <a:p>
            <a:pPr algn="l">
              <a:lnSpc>
                <a:spcPts val="8735"/>
              </a:lnSpc>
            </a:pPr>
            <a:r>
              <a:rPr lang="en-US" sz="6239" b="true">
                <a:solidFill>
                  <a:srgbClr val="081269"/>
                </a:solidFill>
                <a:latin typeface="Poppins Bold"/>
                <a:ea typeface="Poppins Bold"/>
                <a:cs typeface="Poppins Bold"/>
                <a:sym typeface="Poppins Bold"/>
              </a:rPr>
              <a:t>Các Module Phụ Trợ</a:t>
            </a:r>
          </a:p>
        </p:txBody>
      </p:sp>
      <p:sp>
        <p:nvSpPr>
          <p:cNvPr name="TextBox 22" id="22"/>
          <p:cNvSpPr txBox="true"/>
          <p:nvPr/>
        </p:nvSpPr>
        <p:spPr>
          <a:xfrm rot="0">
            <a:off x="1625064" y="2889769"/>
            <a:ext cx="5807080" cy="982658"/>
          </a:xfrm>
          <a:prstGeom prst="rect">
            <a:avLst/>
          </a:prstGeom>
        </p:spPr>
        <p:txBody>
          <a:bodyPr anchor="t" rtlCol="false" tIns="0" lIns="0" bIns="0" rIns="0">
            <a:spAutoFit/>
          </a:bodyPr>
          <a:lstStyle/>
          <a:p>
            <a:pPr algn="l">
              <a:lnSpc>
                <a:spcPts val="7643"/>
              </a:lnSpc>
            </a:pPr>
            <a:r>
              <a:rPr lang="en-US" sz="5459">
                <a:solidFill>
                  <a:srgbClr val="081269"/>
                </a:solidFill>
                <a:latin typeface="Poppins"/>
                <a:ea typeface="Poppins"/>
                <a:cs typeface="Poppins"/>
                <a:sym typeface="Poppins"/>
              </a:rPr>
              <a:t>Logging Service</a:t>
            </a:r>
          </a:p>
        </p:txBody>
      </p:sp>
      <p:sp>
        <p:nvSpPr>
          <p:cNvPr name="TextBox 23" id="23"/>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NHÓM 1</a:t>
            </a:r>
          </a:p>
        </p:txBody>
      </p:sp>
      <p:sp>
        <p:nvSpPr>
          <p:cNvPr name="TextBox 24" id="24"/>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5" id="25"/>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solidFill>
                <a:latin typeface="Poppins Bold"/>
                <a:ea typeface="Poppins Bold"/>
                <a:cs typeface="Poppins Bold"/>
                <a:sym typeface="Poppins Bold"/>
              </a:rPr>
              <a:t>HIỆN THỨC HÓA HỆ THÔNG</a:t>
            </a:r>
          </a:p>
        </p:txBody>
      </p:sp>
      <p:sp>
        <p:nvSpPr>
          <p:cNvPr name="TextBox 26" id="26"/>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7" id="27"/>
          <p:cNvSpPr txBox="true"/>
          <p:nvPr/>
        </p:nvSpPr>
        <p:spPr>
          <a:xfrm rot="0">
            <a:off x="11609447" y="703973"/>
            <a:ext cx="1907082"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alpha val="49804"/>
                  </a:srgbClr>
                </a:solidFill>
                <a:latin typeface="Poppins Bold"/>
                <a:ea typeface="Poppins Bold"/>
                <a:cs typeface="Poppins Bold"/>
                <a:sym typeface="Poppins Bold"/>
              </a:rPr>
              <a:t>PHÂN TÍCH THIẾT KẾ</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516529" y="1775232"/>
            <a:ext cx="2468977" cy="2446532"/>
          </a:xfrm>
          <a:custGeom>
            <a:avLst/>
            <a:gdLst/>
            <a:ahLst/>
            <a:cxnLst/>
            <a:rect r="r" b="b" t="t" l="l"/>
            <a:pathLst>
              <a:path h="2446532" w="2468977">
                <a:moveTo>
                  <a:pt x="0" y="0"/>
                </a:moveTo>
                <a:lnTo>
                  <a:pt x="2468977" y="0"/>
                </a:lnTo>
                <a:lnTo>
                  <a:pt x="2468977" y="2446531"/>
                </a:lnTo>
                <a:lnTo>
                  <a:pt x="0" y="24465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958391" y="-4053734"/>
            <a:ext cx="12102391" cy="1210239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8854" y="-2404197"/>
            <a:ext cx="8803317" cy="880331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440834" y="679099"/>
            <a:ext cx="4385302" cy="775403"/>
            <a:chOff x="0" y="0"/>
            <a:chExt cx="1200079" cy="212196"/>
          </a:xfrm>
        </p:grpSpPr>
        <p:sp>
          <p:nvSpPr>
            <p:cNvPr name="Freeform 10" id="10"/>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1" id="11"/>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pSp>
        <p:nvGrpSpPr>
          <p:cNvPr name="Group 12" id="12"/>
          <p:cNvGrpSpPr/>
          <p:nvPr/>
        </p:nvGrpSpPr>
        <p:grpSpPr>
          <a:xfrm rot="0">
            <a:off x="7963581" y="3445339"/>
            <a:ext cx="10251639" cy="6046285"/>
            <a:chOff x="0" y="0"/>
            <a:chExt cx="2700020" cy="1592437"/>
          </a:xfrm>
        </p:grpSpPr>
        <p:sp>
          <p:nvSpPr>
            <p:cNvPr name="Freeform 13" id="13"/>
            <p:cNvSpPr/>
            <p:nvPr/>
          </p:nvSpPr>
          <p:spPr>
            <a:xfrm flipH="false" flipV="false" rot="0">
              <a:off x="0" y="0"/>
              <a:ext cx="2700020" cy="1592437"/>
            </a:xfrm>
            <a:custGeom>
              <a:avLst/>
              <a:gdLst/>
              <a:ahLst/>
              <a:cxnLst/>
              <a:rect r="r" b="b" t="t" l="l"/>
              <a:pathLst>
                <a:path h="1592437" w="2700020">
                  <a:moveTo>
                    <a:pt x="25676" y="0"/>
                  </a:moveTo>
                  <a:lnTo>
                    <a:pt x="2674344" y="0"/>
                  </a:lnTo>
                  <a:cubicBezTo>
                    <a:pt x="2681154" y="0"/>
                    <a:pt x="2687685" y="2705"/>
                    <a:pt x="2692500" y="7520"/>
                  </a:cubicBezTo>
                  <a:cubicBezTo>
                    <a:pt x="2697315" y="12336"/>
                    <a:pt x="2700020" y="18867"/>
                    <a:pt x="2700020" y="25676"/>
                  </a:cubicBezTo>
                  <a:lnTo>
                    <a:pt x="2700020" y="1566761"/>
                  </a:lnTo>
                  <a:cubicBezTo>
                    <a:pt x="2700020" y="1573571"/>
                    <a:pt x="2697315" y="1580102"/>
                    <a:pt x="2692500" y="1584917"/>
                  </a:cubicBezTo>
                  <a:cubicBezTo>
                    <a:pt x="2687685" y="1589732"/>
                    <a:pt x="2681154" y="1592437"/>
                    <a:pt x="2674344" y="1592437"/>
                  </a:cubicBezTo>
                  <a:lnTo>
                    <a:pt x="25676" y="1592437"/>
                  </a:lnTo>
                  <a:cubicBezTo>
                    <a:pt x="18867" y="1592437"/>
                    <a:pt x="12336" y="1589732"/>
                    <a:pt x="7520" y="1584917"/>
                  </a:cubicBezTo>
                  <a:cubicBezTo>
                    <a:pt x="2705" y="1580102"/>
                    <a:pt x="0" y="1573571"/>
                    <a:pt x="0" y="1566761"/>
                  </a:cubicBezTo>
                  <a:lnTo>
                    <a:pt x="0" y="25676"/>
                  </a:lnTo>
                  <a:cubicBezTo>
                    <a:pt x="0" y="18867"/>
                    <a:pt x="2705" y="12336"/>
                    <a:pt x="7520" y="7520"/>
                  </a:cubicBezTo>
                  <a:cubicBezTo>
                    <a:pt x="12336" y="2705"/>
                    <a:pt x="18867" y="0"/>
                    <a:pt x="25676" y="0"/>
                  </a:cubicBezTo>
                  <a:close/>
                </a:path>
              </a:pathLst>
            </a:custGeom>
            <a:solidFill>
              <a:srgbClr val="000C74"/>
            </a:solidFill>
          </p:spPr>
        </p:sp>
        <p:sp>
          <p:nvSpPr>
            <p:cNvPr name="TextBox 14" id="14"/>
            <p:cNvSpPr txBox="true"/>
            <p:nvPr/>
          </p:nvSpPr>
          <p:spPr>
            <a:xfrm>
              <a:off x="0" y="-57150"/>
              <a:ext cx="2700020" cy="1649587"/>
            </a:xfrm>
            <a:prstGeom prst="rect">
              <a:avLst/>
            </a:prstGeom>
          </p:spPr>
          <p:txBody>
            <a:bodyPr anchor="ctr" rtlCol="false" tIns="50800" lIns="50800" bIns="50800" rIns="50800"/>
            <a:lstStyle/>
            <a:p>
              <a:pPr algn="ctr">
                <a:lnSpc>
                  <a:spcPts val="2731"/>
                </a:lnSpc>
              </a:pPr>
            </a:p>
          </p:txBody>
        </p:sp>
      </p:grpSp>
      <p:grpSp>
        <p:nvGrpSpPr>
          <p:cNvPr name="Group 15" id="15"/>
          <p:cNvGrpSpPr/>
          <p:nvPr/>
        </p:nvGrpSpPr>
        <p:grpSpPr>
          <a:xfrm rot="0">
            <a:off x="-331932" y="4196277"/>
            <a:ext cx="8295513" cy="1733725"/>
            <a:chOff x="0" y="0"/>
            <a:chExt cx="2270144" cy="474450"/>
          </a:xfrm>
        </p:grpSpPr>
        <p:sp>
          <p:nvSpPr>
            <p:cNvPr name="Freeform 16" id="16"/>
            <p:cNvSpPr/>
            <p:nvPr/>
          </p:nvSpPr>
          <p:spPr>
            <a:xfrm flipH="false" flipV="false" rot="0">
              <a:off x="0" y="0"/>
              <a:ext cx="2270144" cy="474450"/>
            </a:xfrm>
            <a:custGeom>
              <a:avLst/>
              <a:gdLst/>
              <a:ahLst/>
              <a:cxnLst/>
              <a:rect r="r" b="b" t="t" l="l"/>
              <a:pathLst>
                <a:path h="474450" w="2270144">
                  <a:moveTo>
                    <a:pt x="34531" y="0"/>
                  </a:moveTo>
                  <a:lnTo>
                    <a:pt x="2235614" y="0"/>
                  </a:lnTo>
                  <a:cubicBezTo>
                    <a:pt x="2254684" y="0"/>
                    <a:pt x="2270144" y="15460"/>
                    <a:pt x="2270144" y="34531"/>
                  </a:cubicBezTo>
                  <a:lnTo>
                    <a:pt x="2270144" y="439919"/>
                  </a:lnTo>
                  <a:cubicBezTo>
                    <a:pt x="2270144" y="458990"/>
                    <a:pt x="2254684" y="474450"/>
                    <a:pt x="2235614" y="474450"/>
                  </a:cubicBezTo>
                  <a:lnTo>
                    <a:pt x="34531" y="474450"/>
                  </a:lnTo>
                  <a:cubicBezTo>
                    <a:pt x="15460" y="474450"/>
                    <a:pt x="0" y="458990"/>
                    <a:pt x="0" y="439919"/>
                  </a:cubicBezTo>
                  <a:lnTo>
                    <a:pt x="0" y="34531"/>
                  </a:lnTo>
                  <a:cubicBezTo>
                    <a:pt x="0" y="15460"/>
                    <a:pt x="15460" y="0"/>
                    <a:pt x="34531" y="0"/>
                  </a:cubicBezTo>
                  <a:close/>
                </a:path>
              </a:pathLst>
            </a:custGeom>
            <a:solidFill>
              <a:srgbClr val="000C74"/>
            </a:solidFill>
          </p:spPr>
        </p:sp>
        <p:sp>
          <p:nvSpPr>
            <p:cNvPr name="TextBox 17" id="17"/>
            <p:cNvSpPr txBox="true"/>
            <p:nvPr/>
          </p:nvSpPr>
          <p:spPr>
            <a:xfrm>
              <a:off x="0" y="-28575"/>
              <a:ext cx="2270144" cy="503025"/>
            </a:xfrm>
            <a:prstGeom prst="rect">
              <a:avLst/>
            </a:prstGeom>
          </p:spPr>
          <p:txBody>
            <a:bodyPr anchor="ctr" rtlCol="false" tIns="50800" lIns="50800" bIns="50800" rIns="50800"/>
            <a:lstStyle/>
            <a:p>
              <a:pPr algn="ctr">
                <a:lnSpc>
                  <a:spcPts val="1960"/>
                </a:lnSpc>
              </a:pPr>
            </a:p>
          </p:txBody>
        </p:sp>
      </p:grpSp>
      <p:sp>
        <p:nvSpPr>
          <p:cNvPr name="Freeform 18" id="18"/>
          <p:cNvSpPr/>
          <p:nvPr/>
        </p:nvSpPr>
        <p:spPr>
          <a:xfrm flipH="false" flipV="false" rot="0">
            <a:off x="8159573" y="3796734"/>
            <a:ext cx="10077890" cy="5461566"/>
          </a:xfrm>
          <a:custGeom>
            <a:avLst/>
            <a:gdLst/>
            <a:ahLst/>
            <a:cxnLst/>
            <a:rect r="r" b="b" t="t" l="l"/>
            <a:pathLst>
              <a:path h="5461566" w="10077890">
                <a:moveTo>
                  <a:pt x="0" y="0"/>
                </a:moveTo>
                <a:lnTo>
                  <a:pt x="10077890" y="0"/>
                </a:lnTo>
                <a:lnTo>
                  <a:pt x="10077890" y="5461566"/>
                </a:lnTo>
                <a:lnTo>
                  <a:pt x="0" y="5461566"/>
                </a:lnTo>
                <a:lnTo>
                  <a:pt x="0" y="0"/>
                </a:lnTo>
                <a:close/>
              </a:path>
            </a:pathLst>
          </a:custGeom>
          <a:blipFill>
            <a:blip r:embed="rId4"/>
            <a:stretch>
              <a:fillRect l="0" t="0" r="0" b="0"/>
            </a:stretch>
          </a:blipFill>
        </p:spPr>
      </p:sp>
      <p:sp>
        <p:nvSpPr>
          <p:cNvPr name="Freeform 19" id="19"/>
          <p:cNvSpPr/>
          <p:nvPr/>
        </p:nvSpPr>
        <p:spPr>
          <a:xfrm flipH="false" flipV="false" rot="0">
            <a:off x="1406306" y="61597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0" id="20"/>
          <p:cNvSpPr txBox="true"/>
          <p:nvPr/>
        </p:nvSpPr>
        <p:spPr>
          <a:xfrm rot="0">
            <a:off x="387994" y="4346079"/>
            <a:ext cx="6855662" cy="1244808"/>
          </a:xfrm>
          <a:prstGeom prst="rect">
            <a:avLst/>
          </a:prstGeom>
        </p:spPr>
        <p:txBody>
          <a:bodyPr anchor="t" rtlCol="false" tIns="0" lIns="0" bIns="0" rIns="0">
            <a:spAutoFit/>
          </a:bodyPr>
          <a:lstStyle/>
          <a:p>
            <a:pPr algn="just">
              <a:lnSpc>
                <a:spcPts val="4888"/>
              </a:lnSpc>
            </a:pPr>
            <a:r>
              <a:rPr lang="en-US" b="true" sz="3491">
                <a:solidFill>
                  <a:srgbClr val="FFFFFF"/>
                </a:solidFill>
                <a:latin typeface="Poppins Bold"/>
                <a:ea typeface="Poppins Bold"/>
                <a:cs typeface="Poppins Bold"/>
                <a:sym typeface="Poppins Bold"/>
              </a:rPr>
              <a:t>được sử dụng để quản lý các thông số cấu hình của Server</a:t>
            </a:r>
          </a:p>
        </p:txBody>
      </p:sp>
      <p:sp>
        <p:nvSpPr>
          <p:cNvPr name="TextBox 21" id="21"/>
          <p:cNvSpPr txBox="true"/>
          <p:nvPr/>
        </p:nvSpPr>
        <p:spPr>
          <a:xfrm rot="0">
            <a:off x="1625064" y="1594257"/>
            <a:ext cx="8046214" cy="1127183"/>
          </a:xfrm>
          <a:prstGeom prst="rect">
            <a:avLst/>
          </a:prstGeom>
        </p:spPr>
        <p:txBody>
          <a:bodyPr anchor="t" rtlCol="false" tIns="0" lIns="0" bIns="0" rIns="0">
            <a:spAutoFit/>
          </a:bodyPr>
          <a:lstStyle/>
          <a:p>
            <a:pPr algn="l">
              <a:lnSpc>
                <a:spcPts val="8735"/>
              </a:lnSpc>
            </a:pPr>
            <a:r>
              <a:rPr lang="en-US" sz="6239" b="true">
                <a:solidFill>
                  <a:srgbClr val="081269"/>
                </a:solidFill>
                <a:latin typeface="Poppins Bold"/>
                <a:ea typeface="Poppins Bold"/>
                <a:cs typeface="Poppins Bold"/>
                <a:sym typeface="Poppins Bold"/>
              </a:rPr>
              <a:t>Các Module Phụ Trợ</a:t>
            </a:r>
          </a:p>
        </p:txBody>
      </p:sp>
      <p:sp>
        <p:nvSpPr>
          <p:cNvPr name="TextBox 22" id="22"/>
          <p:cNvSpPr txBox="true"/>
          <p:nvPr/>
        </p:nvSpPr>
        <p:spPr>
          <a:xfrm rot="0">
            <a:off x="1625064" y="2889769"/>
            <a:ext cx="5807080" cy="982658"/>
          </a:xfrm>
          <a:prstGeom prst="rect">
            <a:avLst/>
          </a:prstGeom>
        </p:spPr>
        <p:txBody>
          <a:bodyPr anchor="t" rtlCol="false" tIns="0" lIns="0" bIns="0" rIns="0">
            <a:spAutoFit/>
          </a:bodyPr>
          <a:lstStyle/>
          <a:p>
            <a:pPr algn="l">
              <a:lnSpc>
                <a:spcPts val="7643"/>
              </a:lnSpc>
            </a:pPr>
            <a:r>
              <a:rPr lang="en-US" sz="5459">
                <a:solidFill>
                  <a:srgbClr val="081269"/>
                </a:solidFill>
                <a:latin typeface="Poppins"/>
                <a:ea typeface="Poppins"/>
                <a:cs typeface="Poppins"/>
                <a:sym typeface="Poppins"/>
              </a:rPr>
              <a:t>Server Setting</a:t>
            </a:r>
          </a:p>
        </p:txBody>
      </p:sp>
      <p:sp>
        <p:nvSpPr>
          <p:cNvPr name="TextBox 23" id="23"/>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NHÓM 1</a:t>
            </a:r>
          </a:p>
        </p:txBody>
      </p:sp>
      <p:sp>
        <p:nvSpPr>
          <p:cNvPr name="TextBox 24" id="24"/>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5" id="25"/>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solidFill>
                <a:latin typeface="Poppins Bold"/>
                <a:ea typeface="Poppins Bold"/>
                <a:cs typeface="Poppins Bold"/>
                <a:sym typeface="Poppins Bold"/>
              </a:rPr>
              <a:t>HIỆN THỨC HÓA HỆ THÔNG</a:t>
            </a:r>
          </a:p>
        </p:txBody>
      </p:sp>
      <p:sp>
        <p:nvSpPr>
          <p:cNvPr name="TextBox 26" id="26"/>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7" id="27"/>
          <p:cNvSpPr txBox="true"/>
          <p:nvPr/>
        </p:nvSpPr>
        <p:spPr>
          <a:xfrm rot="0">
            <a:off x="11609447" y="703973"/>
            <a:ext cx="1907082"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alpha val="49804"/>
                  </a:srgbClr>
                </a:solidFill>
                <a:latin typeface="Poppins Bold"/>
                <a:ea typeface="Poppins Bold"/>
                <a:cs typeface="Poppins Bold"/>
                <a:sym typeface="Poppins Bold"/>
              </a:rPr>
              <a:t>PHÂN TÍCH THIẾT KẾ</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C7C9FF">
                <a:alpha val="69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3516529" y="1775232"/>
            <a:ext cx="2468977" cy="2446532"/>
          </a:xfrm>
          <a:custGeom>
            <a:avLst/>
            <a:gdLst/>
            <a:ahLst/>
            <a:cxnLst/>
            <a:rect r="r" b="b" t="t" l="l"/>
            <a:pathLst>
              <a:path h="2446532" w="2468977">
                <a:moveTo>
                  <a:pt x="0" y="0"/>
                </a:moveTo>
                <a:lnTo>
                  <a:pt x="2468977" y="0"/>
                </a:lnTo>
                <a:lnTo>
                  <a:pt x="2468977" y="2446531"/>
                </a:lnTo>
                <a:lnTo>
                  <a:pt x="0" y="24465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958391" y="-4053734"/>
            <a:ext cx="12102391" cy="1210239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308854" y="-2404197"/>
            <a:ext cx="8803317" cy="880331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C74">
                  <a:alpha val="19608"/>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440834" y="679099"/>
            <a:ext cx="4385302" cy="775403"/>
            <a:chOff x="0" y="0"/>
            <a:chExt cx="1200079" cy="212196"/>
          </a:xfrm>
        </p:grpSpPr>
        <p:sp>
          <p:nvSpPr>
            <p:cNvPr name="Freeform 10" id="10"/>
            <p:cNvSpPr/>
            <p:nvPr/>
          </p:nvSpPr>
          <p:spPr>
            <a:xfrm flipH="false" flipV="false" rot="0">
              <a:off x="0" y="0"/>
              <a:ext cx="1200079" cy="212196"/>
            </a:xfrm>
            <a:custGeom>
              <a:avLst/>
              <a:gdLst/>
              <a:ahLst/>
              <a:cxnLst/>
              <a:rect r="r" b="b" t="t" l="l"/>
              <a:pathLst>
                <a:path h="212196" w="1200079">
                  <a:moveTo>
                    <a:pt x="65321" y="0"/>
                  </a:moveTo>
                  <a:lnTo>
                    <a:pt x="1134758" y="0"/>
                  </a:lnTo>
                  <a:cubicBezTo>
                    <a:pt x="1152082" y="0"/>
                    <a:pt x="1168697" y="6882"/>
                    <a:pt x="1180947" y="19132"/>
                  </a:cubicBezTo>
                  <a:cubicBezTo>
                    <a:pt x="1193197" y="31382"/>
                    <a:pt x="1200079" y="47997"/>
                    <a:pt x="1200079" y="65321"/>
                  </a:cubicBezTo>
                  <a:lnTo>
                    <a:pt x="1200079" y="146876"/>
                  </a:lnTo>
                  <a:cubicBezTo>
                    <a:pt x="1200079" y="182951"/>
                    <a:pt x="1170834" y="212196"/>
                    <a:pt x="1134758" y="212196"/>
                  </a:cubicBezTo>
                  <a:lnTo>
                    <a:pt x="65321" y="212196"/>
                  </a:lnTo>
                  <a:cubicBezTo>
                    <a:pt x="29245" y="212196"/>
                    <a:pt x="0" y="182951"/>
                    <a:pt x="0" y="146876"/>
                  </a:cubicBezTo>
                  <a:lnTo>
                    <a:pt x="0" y="65321"/>
                  </a:lnTo>
                  <a:cubicBezTo>
                    <a:pt x="0" y="29245"/>
                    <a:pt x="29245" y="0"/>
                    <a:pt x="65321" y="0"/>
                  </a:cubicBezTo>
                  <a:close/>
                </a:path>
              </a:pathLst>
            </a:custGeom>
            <a:solidFill>
              <a:srgbClr val="000C74"/>
            </a:solidFill>
          </p:spPr>
        </p:sp>
        <p:sp>
          <p:nvSpPr>
            <p:cNvPr name="TextBox 11" id="11"/>
            <p:cNvSpPr txBox="true"/>
            <p:nvPr/>
          </p:nvSpPr>
          <p:spPr>
            <a:xfrm>
              <a:off x="0" y="-28575"/>
              <a:ext cx="1200079" cy="240771"/>
            </a:xfrm>
            <a:prstGeom prst="rect">
              <a:avLst/>
            </a:prstGeom>
          </p:spPr>
          <p:txBody>
            <a:bodyPr anchor="ctr" rtlCol="false" tIns="50800" lIns="50800" bIns="50800" rIns="50800"/>
            <a:lstStyle/>
            <a:p>
              <a:pPr algn="ctr">
                <a:lnSpc>
                  <a:spcPts val="1960"/>
                </a:lnSpc>
              </a:pPr>
            </a:p>
          </p:txBody>
        </p:sp>
      </p:grpSp>
      <p:grpSp>
        <p:nvGrpSpPr>
          <p:cNvPr name="Group 12" id="12"/>
          <p:cNvGrpSpPr/>
          <p:nvPr/>
        </p:nvGrpSpPr>
        <p:grpSpPr>
          <a:xfrm rot="0">
            <a:off x="6537056" y="2757895"/>
            <a:ext cx="8626482" cy="7445925"/>
            <a:chOff x="0" y="0"/>
            <a:chExt cx="2271995" cy="1961067"/>
          </a:xfrm>
        </p:grpSpPr>
        <p:sp>
          <p:nvSpPr>
            <p:cNvPr name="Freeform 13" id="13"/>
            <p:cNvSpPr/>
            <p:nvPr/>
          </p:nvSpPr>
          <p:spPr>
            <a:xfrm flipH="false" flipV="false" rot="0">
              <a:off x="0" y="0"/>
              <a:ext cx="2271995" cy="1961067"/>
            </a:xfrm>
            <a:custGeom>
              <a:avLst/>
              <a:gdLst/>
              <a:ahLst/>
              <a:cxnLst/>
              <a:rect r="r" b="b" t="t" l="l"/>
              <a:pathLst>
                <a:path h="1961067" w="2271995">
                  <a:moveTo>
                    <a:pt x="30514" y="0"/>
                  </a:moveTo>
                  <a:lnTo>
                    <a:pt x="2241482" y="0"/>
                  </a:lnTo>
                  <a:cubicBezTo>
                    <a:pt x="2258334" y="0"/>
                    <a:pt x="2271995" y="13661"/>
                    <a:pt x="2271995" y="30514"/>
                  </a:cubicBezTo>
                  <a:lnTo>
                    <a:pt x="2271995" y="1930553"/>
                  </a:lnTo>
                  <a:cubicBezTo>
                    <a:pt x="2271995" y="1947405"/>
                    <a:pt x="2258334" y="1961067"/>
                    <a:pt x="2241482" y="1961067"/>
                  </a:cubicBezTo>
                  <a:lnTo>
                    <a:pt x="30514" y="1961067"/>
                  </a:lnTo>
                  <a:cubicBezTo>
                    <a:pt x="13661" y="1961067"/>
                    <a:pt x="0" y="1947405"/>
                    <a:pt x="0" y="1930553"/>
                  </a:cubicBezTo>
                  <a:lnTo>
                    <a:pt x="0" y="30514"/>
                  </a:lnTo>
                  <a:cubicBezTo>
                    <a:pt x="0" y="13661"/>
                    <a:pt x="13661" y="0"/>
                    <a:pt x="30514" y="0"/>
                  </a:cubicBezTo>
                  <a:close/>
                </a:path>
              </a:pathLst>
            </a:custGeom>
            <a:solidFill>
              <a:srgbClr val="000C74"/>
            </a:solidFill>
          </p:spPr>
        </p:sp>
        <p:sp>
          <p:nvSpPr>
            <p:cNvPr name="TextBox 14" id="14"/>
            <p:cNvSpPr txBox="true"/>
            <p:nvPr/>
          </p:nvSpPr>
          <p:spPr>
            <a:xfrm>
              <a:off x="0" y="-57150"/>
              <a:ext cx="2271995" cy="2018217"/>
            </a:xfrm>
            <a:prstGeom prst="rect">
              <a:avLst/>
            </a:prstGeom>
          </p:spPr>
          <p:txBody>
            <a:bodyPr anchor="ctr" rtlCol="false" tIns="50800" lIns="50800" bIns="50800" rIns="50800"/>
            <a:lstStyle/>
            <a:p>
              <a:pPr algn="ctr">
                <a:lnSpc>
                  <a:spcPts val="2731"/>
                </a:lnSpc>
              </a:pPr>
            </a:p>
          </p:txBody>
        </p:sp>
      </p:grpSp>
      <p:grpSp>
        <p:nvGrpSpPr>
          <p:cNvPr name="Group 15" id="15"/>
          <p:cNvGrpSpPr/>
          <p:nvPr/>
        </p:nvGrpSpPr>
        <p:grpSpPr>
          <a:xfrm rot="0">
            <a:off x="-331932" y="4196277"/>
            <a:ext cx="5853038" cy="2923274"/>
            <a:chOff x="0" y="0"/>
            <a:chExt cx="1601738" cy="799981"/>
          </a:xfrm>
        </p:grpSpPr>
        <p:sp>
          <p:nvSpPr>
            <p:cNvPr name="Freeform 16" id="16"/>
            <p:cNvSpPr/>
            <p:nvPr/>
          </p:nvSpPr>
          <p:spPr>
            <a:xfrm flipH="false" flipV="false" rot="0">
              <a:off x="0" y="0"/>
              <a:ext cx="1601738" cy="799981"/>
            </a:xfrm>
            <a:custGeom>
              <a:avLst/>
              <a:gdLst/>
              <a:ahLst/>
              <a:cxnLst/>
              <a:rect r="r" b="b" t="t" l="l"/>
              <a:pathLst>
                <a:path h="799981" w="1601738">
                  <a:moveTo>
                    <a:pt x="48941" y="0"/>
                  </a:moveTo>
                  <a:lnTo>
                    <a:pt x="1552798" y="0"/>
                  </a:lnTo>
                  <a:cubicBezTo>
                    <a:pt x="1565778" y="0"/>
                    <a:pt x="1578226" y="5156"/>
                    <a:pt x="1587404" y="14334"/>
                  </a:cubicBezTo>
                  <a:cubicBezTo>
                    <a:pt x="1596582" y="23513"/>
                    <a:pt x="1601738" y="35961"/>
                    <a:pt x="1601738" y="48941"/>
                  </a:cubicBezTo>
                  <a:lnTo>
                    <a:pt x="1601738" y="751040"/>
                  </a:lnTo>
                  <a:cubicBezTo>
                    <a:pt x="1601738" y="778070"/>
                    <a:pt x="1579827" y="799981"/>
                    <a:pt x="1552798" y="799981"/>
                  </a:cubicBezTo>
                  <a:lnTo>
                    <a:pt x="48941" y="799981"/>
                  </a:lnTo>
                  <a:cubicBezTo>
                    <a:pt x="21911" y="799981"/>
                    <a:pt x="0" y="778070"/>
                    <a:pt x="0" y="751040"/>
                  </a:cubicBezTo>
                  <a:lnTo>
                    <a:pt x="0" y="48941"/>
                  </a:lnTo>
                  <a:cubicBezTo>
                    <a:pt x="0" y="21911"/>
                    <a:pt x="21911" y="0"/>
                    <a:pt x="48941" y="0"/>
                  </a:cubicBezTo>
                  <a:close/>
                </a:path>
              </a:pathLst>
            </a:custGeom>
            <a:solidFill>
              <a:srgbClr val="000C74"/>
            </a:solidFill>
          </p:spPr>
        </p:sp>
        <p:sp>
          <p:nvSpPr>
            <p:cNvPr name="TextBox 17" id="17"/>
            <p:cNvSpPr txBox="true"/>
            <p:nvPr/>
          </p:nvSpPr>
          <p:spPr>
            <a:xfrm>
              <a:off x="0" y="-28575"/>
              <a:ext cx="1601738" cy="828556"/>
            </a:xfrm>
            <a:prstGeom prst="rect">
              <a:avLst/>
            </a:prstGeom>
          </p:spPr>
          <p:txBody>
            <a:bodyPr anchor="ctr" rtlCol="false" tIns="50800" lIns="50800" bIns="50800" rIns="50800"/>
            <a:lstStyle/>
            <a:p>
              <a:pPr algn="ctr">
                <a:lnSpc>
                  <a:spcPts val="1960"/>
                </a:lnSpc>
              </a:pPr>
            </a:p>
          </p:txBody>
        </p:sp>
      </p:grpSp>
      <p:sp>
        <p:nvSpPr>
          <p:cNvPr name="Freeform 18" id="18"/>
          <p:cNvSpPr/>
          <p:nvPr/>
        </p:nvSpPr>
        <p:spPr>
          <a:xfrm flipH="false" flipV="false" rot="1178447">
            <a:off x="2244016" y="7282320"/>
            <a:ext cx="2565036" cy="2565036"/>
          </a:xfrm>
          <a:custGeom>
            <a:avLst/>
            <a:gdLst/>
            <a:ahLst/>
            <a:cxnLst/>
            <a:rect r="r" b="b" t="t" l="l"/>
            <a:pathLst>
              <a:path h="2565036" w="2565036">
                <a:moveTo>
                  <a:pt x="0" y="0"/>
                </a:moveTo>
                <a:lnTo>
                  <a:pt x="2565036" y="0"/>
                </a:lnTo>
                <a:lnTo>
                  <a:pt x="2565036" y="2565036"/>
                </a:lnTo>
                <a:lnTo>
                  <a:pt x="0" y="25650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6784876" y="2939006"/>
            <a:ext cx="8043348" cy="7083702"/>
          </a:xfrm>
          <a:custGeom>
            <a:avLst/>
            <a:gdLst/>
            <a:ahLst/>
            <a:cxnLst/>
            <a:rect r="r" b="b" t="t" l="l"/>
            <a:pathLst>
              <a:path h="7083702" w="8043348">
                <a:moveTo>
                  <a:pt x="0" y="0"/>
                </a:moveTo>
                <a:lnTo>
                  <a:pt x="8043348" y="0"/>
                </a:lnTo>
                <a:lnTo>
                  <a:pt x="8043348" y="7083702"/>
                </a:lnTo>
                <a:lnTo>
                  <a:pt x="0" y="7083702"/>
                </a:lnTo>
                <a:lnTo>
                  <a:pt x="0" y="0"/>
                </a:lnTo>
                <a:close/>
              </a:path>
            </a:pathLst>
          </a:custGeom>
          <a:blipFill>
            <a:blip r:embed="rId6"/>
            <a:stretch>
              <a:fillRect l="0" t="0" r="0" b="0"/>
            </a:stretch>
          </a:blipFill>
        </p:spPr>
      </p:sp>
      <p:sp>
        <p:nvSpPr>
          <p:cNvPr name="TextBox 20" id="20"/>
          <p:cNvSpPr txBox="true"/>
          <p:nvPr/>
        </p:nvSpPr>
        <p:spPr>
          <a:xfrm rot="0">
            <a:off x="387994" y="4346079"/>
            <a:ext cx="4577090" cy="2483058"/>
          </a:xfrm>
          <a:prstGeom prst="rect">
            <a:avLst/>
          </a:prstGeom>
        </p:spPr>
        <p:txBody>
          <a:bodyPr anchor="t" rtlCol="false" tIns="0" lIns="0" bIns="0" rIns="0">
            <a:spAutoFit/>
          </a:bodyPr>
          <a:lstStyle/>
          <a:p>
            <a:pPr algn="just">
              <a:lnSpc>
                <a:spcPts val="4888"/>
              </a:lnSpc>
            </a:pPr>
            <a:r>
              <a:rPr lang="en-US" b="true" sz="3491">
                <a:solidFill>
                  <a:srgbClr val="FFFFFF"/>
                </a:solidFill>
                <a:latin typeface="Poppins Bold"/>
                <a:ea typeface="Poppins Bold"/>
                <a:cs typeface="Poppins Bold"/>
                <a:sym typeface="Poppins Bold"/>
              </a:rPr>
              <a:t>được sử dụng để quản lý các thông số cấu hình của Client</a:t>
            </a:r>
          </a:p>
        </p:txBody>
      </p:sp>
      <p:sp>
        <p:nvSpPr>
          <p:cNvPr name="TextBox 21" id="21"/>
          <p:cNvSpPr txBox="true"/>
          <p:nvPr/>
        </p:nvSpPr>
        <p:spPr>
          <a:xfrm rot="0">
            <a:off x="1625064" y="1594257"/>
            <a:ext cx="8046214" cy="1127183"/>
          </a:xfrm>
          <a:prstGeom prst="rect">
            <a:avLst/>
          </a:prstGeom>
        </p:spPr>
        <p:txBody>
          <a:bodyPr anchor="t" rtlCol="false" tIns="0" lIns="0" bIns="0" rIns="0">
            <a:spAutoFit/>
          </a:bodyPr>
          <a:lstStyle/>
          <a:p>
            <a:pPr algn="l">
              <a:lnSpc>
                <a:spcPts val="8735"/>
              </a:lnSpc>
            </a:pPr>
            <a:r>
              <a:rPr lang="en-US" sz="6239" b="true">
                <a:solidFill>
                  <a:srgbClr val="081269"/>
                </a:solidFill>
                <a:latin typeface="Poppins Bold"/>
                <a:ea typeface="Poppins Bold"/>
                <a:cs typeface="Poppins Bold"/>
                <a:sym typeface="Poppins Bold"/>
              </a:rPr>
              <a:t>Các Module Phụ Trợ</a:t>
            </a:r>
          </a:p>
        </p:txBody>
      </p:sp>
      <p:sp>
        <p:nvSpPr>
          <p:cNvPr name="TextBox 22" id="22"/>
          <p:cNvSpPr txBox="true"/>
          <p:nvPr/>
        </p:nvSpPr>
        <p:spPr>
          <a:xfrm rot="0">
            <a:off x="1625064" y="2889769"/>
            <a:ext cx="5807080" cy="982658"/>
          </a:xfrm>
          <a:prstGeom prst="rect">
            <a:avLst/>
          </a:prstGeom>
        </p:spPr>
        <p:txBody>
          <a:bodyPr anchor="t" rtlCol="false" tIns="0" lIns="0" bIns="0" rIns="0">
            <a:spAutoFit/>
          </a:bodyPr>
          <a:lstStyle/>
          <a:p>
            <a:pPr algn="l">
              <a:lnSpc>
                <a:spcPts val="7643"/>
              </a:lnSpc>
            </a:pPr>
            <a:r>
              <a:rPr lang="en-US" sz="5459">
                <a:solidFill>
                  <a:srgbClr val="081269"/>
                </a:solidFill>
                <a:latin typeface="Poppins"/>
                <a:ea typeface="Poppins"/>
                <a:cs typeface="Poppins"/>
                <a:sym typeface="Poppins"/>
              </a:rPr>
              <a:t>Client Setting</a:t>
            </a:r>
          </a:p>
        </p:txBody>
      </p:sp>
      <p:sp>
        <p:nvSpPr>
          <p:cNvPr name="TextBox 23" id="23"/>
          <p:cNvSpPr txBox="true"/>
          <p:nvPr/>
        </p:nvSpPr>
        <p:spPr>
          <a:xfrm rot="0">
            <a:off x="350358" y="774657"/>
            <a:ext cx="3322500" cy="474973"/>
          </a:xfrm>
          <a:prstGeom prst="rect">
            <a:avLst/>
          </a:prstGeom>
        </p:spPr>
        <p:txBody>
          <a:bodyPr anchor="t" rtlCol="false" tIns="0" lIns="0" bIns="0" rIns="0">
            <a:spAutoFit/>
          </a:bodyPr>
          <a:lstStyle/>
          <a:p>
            <a:pPr algn="ctr">
              <a:lnSpc>
                <a:spcPts val="3745"/>
              </a:lnSpc>
            </a:pPr>
            <a:r>
              <a:rPr lang="en-US" sz="2675" b="true">
                <a:solidFill>
                  <a:srgbClr val="FFFFFF"/>
                </a:solidFill>
                <a:latin typeface="Poppins Bold"/>
                <a:ea typeface="Poppins Bold"/>
                <a:cs typeface="Poppins Bold"/>
                <a:sym typeface="Poppins Bold"/>
              </a:rPr>
              <a:t>NHÓM 1</a:t>
            </a:r>
          </a:p>
        </p:txBody>
      </p:sp>
      <p:sp>
        <p:nvSpPr>
          <p:cNvPr name="TextBox 24" id="24"/>
          <p:cNvSpPr txBox="true"/>
          <p:nvPr/>
        </p:nvSpPr>
        <p:spPr>
          <a:xfrm rot="0">
            <a:off x="13890575" y="682007"/>
            <a:ext cx="1589190" cy="6933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GIA</a:t>
            </a:r>
            <a:r>
              <a:rPr lang="en-US" b="true" sz="1951" strike="noStrike" u="none">
                <a:solidFill>
                  <a:srgbClr val="081269">
                    <a:alpha val="49804"/>
                  </a:srgbClr>
                </a:solidFill>
                <a:latin typeface="Poppins Bold"/>
                <a:ea typeface="Poppins Bold"/>
                <a:cs typeface="Poppins Bold"/>
                <a:sym typeface="Poppins Bold"/>
              </a:rPr>
              <a:t>O</a:t>
            </a:r>
            <a:r>
              <a:rPr lang="en-US" b="true" sz="1951" strike="noStrike" u="none">
                <a:solidFill>
                  <a:srgbClr val="081269">
                    <a:alpha val="49804"/>
                  </a:srgbClr>
                </a:solidFill>
                <a:latin typeface="Poppins Bold"/>
                <a:ea typeface="Poppins Bold"/>
                <a:cs typeface="Poppins Bold"/>
                <a:sym typeface="Poppins Bold"/>
              </a:rPr>
              <a:t> THỨC Ứ</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 DỤ</a:t>
            </a:r>
            <a:r>
              <a:rPr lang="en-US" b="true" sz="1951" strike="noStrike" u="none">
                <a:solidFill>
                  <a:srgbClr val="081269">
                    <a:alpha val="49804"/>
                  </a:srgbClr>
                </a:solidFill>
                <a:latin typeface="Poppins Bold"/>
                <a:ea typeface="Poppins Bold"/>
                <a:cs typeface="Poppins Bold"/>
                <a:sym typeface="Poppins Bold"/>
              </a:rPr>
              <a:t>N</a:t>
            </a:r>
            <a:r>
              <a:rPr lang="en-US" b="true" sz="1951" strike="noStrike" u="none">
                <a:solidFill>
                  <a:srgbClr val="081269">
                    <a:alpha val="49804"/>
                  </a:srgbClr>
                </a:solidFill>
                <a:latin typeface="Poppins Bold"/>
                <a:ea typeface="Poppins Bold"/>
                <a:cs typeface="Poppins Bold"/>
                <a:sym typeface="Poppins Bold"/>
              </a:rPr>
              <a:t>G</a:t>
            </a:r>
          </a:p>
        </p:txBody>
      </p:sp>
      <p:sp>
        <p:nvSpPr>
          <p:cNvPr name="TextBox 25" id="25"/>
          <p:cNvSpPr txBox="true"/>
          <p:nvPr/>
        </p:nvSpPr>
        <p:spPr>
          <a:xfrm rot="0">
            <a:off x="15737494" y="703973"/>
            <a:ext cx="2224975"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solidFill>
                <a:latin typeface="Poppins Bold"/>
                <a:ea typeface="Poppins Bold"/>
                <a:cs typeface="Poppins Bold"/>
                <a:sym typeface="Poppins Bold"/>
              </a:rPr>
              <a:t>HIỆN THỨC HÓA HỆ THÔNG</a:t>
            </a:r>
          </a:p>
        </p:txBody>
      </p:sp>
      <p:sp>
        <p:nvSpPr>
          <p:cNvPr name="TextBox 26" id="26"/>
          <p:cNvSpPr txBox="true"/>
          <p:nvPr/>
        </p:nvSpPr>
        <p:spPr>
          <a:xfrm rot="0">
            <a:off x="9144000" y="703973"/>
            <a:ext cx="1662550" cy="350485"/>
          </a:xfrm>
          <a:prstGeom prst="rect">
            <a:avLst/>
          </a:prstGeom>
        </p:spPr>
        <p:txBody>
          <a:bodyPr anchor="t" rtlCol="false" tIns="0" lIns="0" bIns="0" rIns="0">
            <a:spAutoFit/>
          </a:bodyPr>
          <a:lstStyle/>
          <a:p>
            <a:pPr algn="r" marL="0" indent="0" lvl="0">
              <a:lnSpc>
                <a:spcPts val="2731"/>
              </a:lnSpc>
              <a:spcBef>
                <a:spcPct val="0"/>
              </a:spcBef>
            </a:pPr>
            <a:r>
              <a:rPr lang="en-US" b="true" sz="1951">
                <a:solidFill>
                  <a:srgbClr val="081269">
                    <a:alpha val="49804"/>
                  </a:srgbClr>
                </a:solidFill>
                <a:latin typeface="Poppins Bold"/>
                <a:ea typeface="Poppins Bold"/>
                <a:cs typeface="Poppins Bold"/>
                <a:sym typeface="Poppins Bold"/>
              </a:rPr>
              <a:t>TỔNG QUAN</a:t>
            </a:r>
          </a:p>
        </p:txBody>
      </p:sp>
      <p:sp>
        <p:nvSpPr>
          <p:cNvPr name="TextBox 27" id="27"/>
          <p:cNvSpPr txBox="true"/>
          <p:nvPr/>
        </p:nvSpPr>
        <p:spPr>
          <a:xfrm rot="0">
            <a:off x="11609447" y="703973"/>
            <a:ext cx="1907082" cy="693386"/>
          </a:xfrm>
          <a:prstGeom prst="rect">
            <a:avLst/>
          </a:prstGeom>
        </p:spPr>
        <p:txBody>
          <a:bodyPr anchor="t" rtlCol="false" tIns="0" lIns="0" bIns="0" rIns="0">
            <a:spAutoFit/>
          </a:bodyPr>
          <a:lstStyle/>
          <a:p>
            <a:pPr algn="ctr" marL="0" indent="0" lvl="0">
              <a:lnSpc>
                <a:spcPts val="2731"/>
              </a:lnSpc>
              <a:spcBef>
                <a:spcPct val="0"/>
              </a:spcBef>
            </a:pPr>
            <a:r>
              <a:rPr lang="en-US" b="true" sz="1951" strike="noStrike" u="none">
                <a:solidFill>
                  <a:srgbClr val="081269">
                    <a:alpha val="49804"/>
                  </a:srgbClr>
                </a:solidFill>
                <a:latin typeface="Poppins Bold"/>
                <a:ea typeface="Poppins Bold"/>
                <a:cs typeface="Poppins Bold"/>
                <a:sym typeface="Poppins Bold"/>
              </a:rPr>
              <a:t>PHÂN TÍCH THIẾT KẾ</a:t>
            </a:r>
          </a:p>
        </p:txBody>
      </p:sp>
      <p:sp>
        <p:nvSpPr>
          <p:cNvPr name="Freeform 28" id="28"/>
          <p:cNvSpPr/>
          <p:nvPr/>
        </p:nvSpPr>
        <p:spPr>
          <a:xfrm flipH="false" flipV="false" rot="-3742701">
            <a:off x="15611982" y="4320872"/>
            <a:ext cx="2565036" cy="2565036"/>
          </a:xfrm>
          <a:custGeom>
            <a:avLst/>
            <a:gdLst/>
            <a:ahLst/>
            <a:cxnLst/>
            <a:rect r="r" b="b" t="t" l="l"/>
            <a:pathLst>
              <a:path h="2565036" w="2565036">
                <a:moveTo>
                  <a:pt x="0" y="0"/>
                </a:moveTo>
                <a:lnTo>
                  <a:pt x="2565036" y="0"/>
                </a:lnTo>
                <a:lnTo>
                  <a:pt x="2565036" y="2565036"/>
                </a:lnTo>
                <a:lnTo>
                  <a:pt x="0" y="25650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00C74"/>
        </a:solidFill>
      </p:bgPr>
    </p:bg>
    <p:spTree>
      <p:nvGrpSpPr>
        <p:cNvPr id="1" name=""/>
        <p:cNvGrpSpPr/>
        <p:nvPr/>
      </p:nvGrpSpPr>
      <p:grpSpPr>
        <a:xfrm>
          <a:off x="0" y="0"/>
          <a:ext cx="0" cy="0"/>
          <a:chOff x="0" y="0"/>
          <a:chExt cx="0" cy="0"/>
        </a:xfrm>
      </p:grpSpPr>
      <p:grpSp>
        <p:nvGrpSpPr>
          <p:cNvPr name="Group 2" id="2"/>
          <p:cNvGrpSpPr/>
          <p:nvPr/>
        </p:nvGrpSpPr>
        <p:grpSpPr>
          <a:xfrm rot="0">
            <a:off x="-8715238" y="-1644747"/>
            <a:ext cx="15108428" cy="1510842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gradFill>
                <a:gsLst>
                  <a:gs pos="0">
                    <a:srgbClr val="FFFFFF">
                      <a:alpha val="50000"/>
                    </a:srgbClr>
                  </a:gs>
                  <a:gs pos="100000">
                    <a:srgbClr val="C7C9FF">
                      <a:alpha val="17750"/>
                    </a:srgbClr>
                  </a:gs>
                </a:gsLst>
                <a:lin ang="2700000"/>
              </a:gra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40834" y="679099"/>
            <a:ext cx="12523292" cy="1497293"/>
            <a:chOff x="0" y="0"/>
            <a:chExt cx="3427116" cy="409748"/>
          </a:xfrm>
        </p:grpSpPr>
        <p:sp>
          <p:nvSpPr>
            <p:cNvPr name="Freeform 6" id="6"/>
            <p:cNvSpPr/>
            <p:nvPr/>
          </p:nvSpPr>
          <p:spPr>
            <a:xfrm flipH="false" flipV="false" rot="0">
              <a:off x="0" y="0"/>
              <a:ext cx="3427116" cy="409748"/>
            </a:xfrm>
            <a:custGeom>
              <a:avLst/>
              <a:gdLst/>
              <a:ahLst/>
              <a:cxnLst/>
              <a:rect r="r" b="b" t="t" l="l"/>
              <a:pathLst>
                <a:path h="409748" w="3427116">
                  <a:moveTo>
                    <a:pt x="22873" y="0"/>
                  </a:moveTo>
                  <a:lnTo>
                    <a:pt x="3404242" y="0"/>
                  </a:lnTo>
                  <a:cubicBezTo>
                    <a:pt x="3410309" y="0"/>
                    <a:pt x="3416126" y="2410"/>
                    <a:pt x="3420416" y="6699"/>
                  </a:cubicBezTo>
                  <a:cubicBezTo>
                    <a:pt x="3424706" y="10989"/>
                    <a:pt x="3427116" y="16807"/>
                    <a:pt x="3427116" y="22873"/>
                  </a:cubicBezTo>
                  <a:lnTo>
                    <a:pt x="3427116" y="386875"/>
                  </a:lnTo>
                  <a:cubicBezTo>
                    <a:pt x="3427116" y="392941"/>
                    <a:pt x="3424706" y="398759"/>
                    <a:pt x="3420416" y="403049"/>
                  </a:cubicBezTo>
                  <a:cubicBezTo>
                    <a:pt x="3416126" y="407338"/>
                    <a:pt x="3410309" y="409748"/>
                    <a:pt x="3404242" y="409748"/>
                  </a:cubicBezTo>
                  <a:lnTo>
                    <a:pt x="22873" y="409748"/>
                  </a:lnTo>
                  <a:cubicBezTo>
                    <a:pt x="10241" y="409748"/>
                    <a:pt x="0" y="399507"/>
                    <a:pt x="0" y="386875"/>
                  </a:cubicBezTo>
                  <a:lnTo>
                    <a:pt x="0" y="22873"/>
                  </a:lnTo>
                  <a:cubicBezTo>
                    <a:pt x="0" y="16807"/>
                    <a:pt x="2410" y="10989"/>
                    <a:pt x="6699" y="6699"/>
                  </a:cubicBezTo>
                  <a:cubicBezTo>
                    <a:pt x="10989" y="2410"/>
                    <a:pt x="16807" y="0"/>
                    <a:pt x="22873" y="0"/>
                  </a:cubicBezTo>
                  <a:close/>
                </a:path>
              </a:pathLst>
            </a:custGeom>
            <a:gradFill rotWithShape="true">
              <a:gsLst>
                <a:gs pos="0">
                  <a:srgbClr val="FFFFFF">
                    <a:alpha val="100000"/>
                  </a:srgbClr>
                </a:gs>
                <a:gs pos="100000">
                  <a:srgbClr val="C7C9FF">
                    <a:alpha val="69000"/>
                  </a:srgbClr>
                </a:gs>
              </a:gsLst>
              <a:lin ang="2700000"/>
            </a:gradFill>
          </p:spPr>
        </p:sp>
        <p:sp>
          <p:nvSpPr>
            <p:cNvPr name="TextBox 7" id="7"/>
            <p:cNvSpPr txBox="true"/>
            <p:nvPr/>
          </p:nvSpPr>
          <p:spPr>
            <a:xfrm>
              <a:off x="0" y="-28575"/>
              <a:ext cx="3427116" cy="438323"/>
            </a:xfrm>
            <a:prstGeom prst="rect">
              <a:avLst/>
            </a:prstGeom>
          </p:spPr>
          <p:txBody>
            <a:bodyPr anchor="ctr" rtlCol="false" tIns="50800" lIns="50800" bIns="50800" rIns="50800"/>
            <a:lstStyle/>
            <a:p>
              <a:pPr algn="ctr">
                <a:lnSpc>
                  <a:spcPts val="1960"/>
                </a:lnSpc>
              </a:pPr>
            </a:p>
          </p:txBody>
        </p:sp>
      </p:grpSp>
      <p:grpSp>
        <p:nvGrpSpPr>
          <p:cNvPr name="Group 8" id="8"/>
          <p:cNvGrpSpPr/>
          <p:nvPr/>
        </p:nvGrpSpPr>
        <p:grpSpPr>
          <a:xfrm rot="0">
            <a:off x="-6018629" y="2738747"/>
            <a:ext cx="14094659" cy="1409465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100000">
                  <a:srgbClr val="C7C9FF">
                    <a:alpha val="69000"/>
                  </a:srgbClr>
                </a:gs>
              </a:gsLst>
              <a:lin ang="270000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0" y="1945866"/>
            <a:ext cx="8356976" cy="8356976"/>
          </a:xfrm>
          <a:custGeom>
            <a:avLst/>
            <a:gdLst/>
            <a:ahLst/>
            <a:cxnLst/>
            <a:rect r="r" b="b" t="t" l="l"/>
            <a:pathLst>
              <a:path h="8356976" w="8356976">
                <a:moveTo>
                  <a:pt x="0" y="0"/>
                </a:moveTo>
                <a:lnTo>
                  <a:pt x="8356976" y="0"/>
                </a:lnTo>
                <a:lnTo>
                  <a:pt x="8356976" y="8356976"/>
                </a:lnTo>
                <a:lnTo>
                  <a:pt x="0" y="8356976"/>
                </a:lnTo>
                <a:lnTo>
                  <a:pt x="0" y="0"/>
                </a:lnTo>
                <a:close/>
              </a:path>
            </a:pathLst>
          </a:custGeom>
          <a:blipFill>
            <a:blip r:embed="rId2"/>
            <a:stretch>
              <a:fillRect l="0" t="0" r="0" b="0"/>
            </a:stretch>
          </a:blipFill>
        </p:spPr>
      </p:sp>
      <p:sp>
        <p:nvSpPr>
          <p:cNvPr name="TextBox 12" id="12"/>
          <p:cNvSpPr txBox="true"/>
          <p:nvPr/>
        </p:nvSpPr>
        <p:spPr>
          <a:xfrm rot="0">
            <a:off x="3885495" y="859105"/>
            <a:ext cx="3322500" cy="984880"/>
          </a:xfrm>
          <a:prstGeom prst="rect">
            <a:avLst/>
          </a:prstGeom>
        </p:spPr>
        <p:txBody>
          <a:bodyPr anchor="t" rtlCol="false" tIns="0" lIns="0" bIns="0" rIns="0">
            <a:spAutoFit/>
          </a:bodyPr>
          <a:lstStyle/>
          <a:p>
            <a:pPr algn="ctr">
              <a:lnSpc>
                <a:spcPts val="7665"/>
              </a:lnSpc>
            </a:pPr>
            <a:r>
              <a:rPr lang="en-US" sz="5475" b="true">
                <a:solidFill>
                  <a:srgbClr val="000C74"/>
                </a:solidFill>
                <a:latin typeface="Poppins Bold"/>
                <a:ea typeface="Poppins Bold"/>
                <a:cs typeface="Poppins Bold"/>
                <a:sym typeface="Poppins Bold"/>
              </a:rPr>
              <a:t>NHÓM 1</a:t>
            </a:r>
          </a:p>
        </p:txBody>
      </p:sp>
      <p:sp>
        <p:nvSpPr>
          <p:cNvPr name="TextBox 13" id="13"/>
          <p:cNvSpPr txBox="true"/>
          <p:nvPr/>
        </p:nvSpPr>
        <p:spPr>
          <a:xfrm rot="0">
            <a:off x="7769220" y="2126812"/>
            <a:ext cx="8626476" cy="1769732"/>
          </a:xfrm>
          <a:prstGeom prst="rect">
            <a:avLst/>
          </a:prstGeom>
        </p:spPr>
        <p:txBody>
          <a:bodyPr anchor="t" rtlCol="false" tIns="0" lIns="0" bIns="0" rIns="0">
            <a:spAutoFit/>
          </a:bodyPr>
          <a:lstStyle/>
          <a:p>
            <a:pPr algn="l">
              <a:lnSpc>
                <a:spcPts val="13788"/>
              </a:lnSpc>
            </a:pPr>
            <a:r>
              <a:rPr lang="en-US" sz="9849" b="true">
                <a:solidFill>
                  <a:srgbClr val="FFFFFF"/>
                </a:solidFill>
                <a:latin typeface="Poppins Bold"/>
                <a:ea typeface="Poppins Bold"/>
                <a:cs typeface="Poppins Bold"/>
                <a:sym typeface="Poppins Bold"/>
              </a:rPr>
              <a:t>XIN CÁM ƠN</a:t>
            </a:r>
          </a:p>
        </p:txBody>
      </p:sp>
      <p:sp>
        <p:nvSpPr>
          <p:cNvPr name="TextBox 14" id="14"/>
          <p:cNvSpPr txBox="true"/>
          <p:nvPr/>
        </p:nvSpPr>
        <p:spPr>
          <a:xfrm rot="0">
            <a:off x="9033758" y="5076825"/>
            <a:ext cx="8934884" cy="425010"/>
          </a:xfrm>
          <a:prstGeom prst="rect">
            <a:avLst/>
          </a:prstGeom>
        </p:spPr>
        <p:txBody>
          <a:bodyPr anchor="t" rtlCol="false" tIns="0" lIns="0" bIns="0" rIns="0">
            <a:spAutoFit/>
          </a:bodyPr>
          <a:lstStyle/>
          <a:p>
            <a:pPr algn="l">
              <a:lnSpc>
                <a:spcPts val="3349"/>
              </a:lnSpc>
            </a:pPr>
            <a:r>
              <a:rPr lang="en-US" sz="2392" u="sng">
                <a:solidFill>
                  <a:srgbClr val="FFFFFF"/>
                </a:solidFill>
                <a:latin typeface="Poppins"/>
                <a:ea typeface="Poppins"/>
                <a:cs typeface="Poppins"/>
                <a:sym typeface="Poppins"/>
                <a:hlinkClick r:id="rId3" tooltip="https://github.com/qhung-13/Network_Programming"/>
              </a:rPr>
              <a:t>https://github.com/qhung-13/Network_Programming</a:t>
            </a:r>
          </a:p>
        </p:txBody>
      </p:sp>
      <p:sp>
        <p:nvSpPr>
          <p:cNvPr name="TextBox 15" id="15"/>
          <p:cNvSpPr txBox="true"/>
          <p:nvPr/>
        </p:nvSpPr>
        <p:spPr>
          <a:xfrm rot="0">
            <a:off x="9033758" y="5918992"/>
            <a:ext cx="3792238" cy="420249"/>
          </a:xfrm>
          <a:prstGeom prst="rect">
            <a:avLst/>
          </a:prstGeom>
        </p:spPr>
        <p:txBody>
          <a:bodyPr anchor="t" rtlCol="false" tIns="0" lIns="0" bIns="0" rIns="0">
            <a:spAutoFit/>
          </a:bodyPr>
          <a:lstStyle/>
          <a:p>
            <a:pPr algn="l" marL="0" indent="0" lvl="0">
              <a:lnSpc>
                <a:spcPts val="3157"/>
              </a:lnSpc>
              <a:spcBef>
                <a:spcPct val="0"/>
              </a:spcBef>
            </a:pPr>
            <a:r>
              <a:rPr lang="en-US" b="true" sz="2870" spc="275">
                <a:solidFill>
                  <a:srgbClr val="FFFFFF"/>
                </a:solidFill>
                <a:latin typeface="Poppins Bold"/>
                <a:ea typeface="Poppins Bold"/>
                <a:cs typeface="Poppins Bold"/>
                <a:sym typeface="Poppins Bold"/>
              </a:rPr>
              <a:t>Thành Viên</a:t>
            </a:r>
          </a:p>
        </p:txBody>
      </p:sp>
      <p:sp>
        <p:nvSpPr>
          <p:cNvPr name="TextBox 16" id="16"/>
          <p:cNvSpPr txBox="true"/>
          <p:nvPr/>
        </p:nvSpPr>
        <p:spPr>
          <a:xfrm rot="0">
            <a:off x="8845764" y="6396391"/>
            <a:ext cx="5736329" cy="3225687"/>
          </a:xfrm>
          <a:prstGeom prst="rect">
            <a:avLst/>
          </a:prstGeom>
        </p:spPr>
        <p:txBody>
          <a:bodyPr anchor="t" rtlCol="false" tIns="0" lIns="0" bIns="0" rIns="0">
            <a:spAutoFit/>
          </a:bodyPr>
          <a:lstStyle/>
          <a:p>
            <a:pPr algn="l" marL="660921" indent="-330461" lvl="1">
              <a:lnSpc>
                <a:spcPts val="4285"/>
              </a:lnSpc>
              <a:buFont typeface="Arial"/>
              <a:buChar char="•"/>
            </a:pPr>
            <a:r>
              <a:rPr lang="en-US" sz="3061">
                <a:solidFill>
                  <a:srgbClr val="FFFFFF"/>
                </a:solidFill>
                <a:latin typeface="Poppins"/>
                <a:ea typeface="Poppins"/>
                <a:cs typeface="Poppins"/>
                <a:sym typeface="Poppins"/>
              </a:rPr>
              <a:t>Trần Nguyễn Quốc Hùng</a:t>
            </a:r>
          </a:p>
          <a:p>
            <a:pPr algn="l" marL="660921" indent="-330461" lvl="1">
              <a:lnSpc>
                <a:spcPts val="4285"/>
              </a:lnSpc>
              <a:buFont typeface="Arial"/>
              <a:buChar char="•"/>
            </a:pPr>
            <a:r>
              <a:rPr lang="en-US" sz="3061">
                <a:solidFill>
                  <a:srgbClr val="FFFFFF"/>
                </a:solidFill>
                <a:latin typeface="Poppins"/>
                <a:ea typeface="Poppins"/>
                <a:cs typeface="Poppins"/>
                <a:sym typeface="Poppins"/>
              </a:rPr>
              <a:t>Phan Quang Huy</a:t>
            </a:r>
          </a:p>
          <a:p>
            <a:pPr algn="l" marL="660921" indent="-330461" lvl="1">
              <a:lnSpc>
                <a:spcPts val="4285"/>
              </a:lnSpc>
              <a:buFont typeface="Arial"/>
              <a:buChar char="•"/>
            </a:pPr>
            <a:r>
              <a:rPr lang="en-US" sz="3061">
                <a:solidFill>
                  <a:srgbClr val="FFFFFF"/>
                </a:solidFill>
                <a:latin typeface="Poppins"/>
                <a:ea typeface="Poppins"/>
                <a:cs typeface="Poppins"/>
                <a:sym typeface="Poppins"/>
              </a:rPr>
              <a:t>Nguyễn Thị Ngọc Tuyến</a:t>
            </a:r>
          </a:p>
          <a:p>
            <a:pPr algn="l" marL="660921" indent="-330461" lvl="1">
              <a:lnSpc>
                <a:spcPts val="4285"/>
              </a:lnSpc>
              <a:buFont typeface="Arial"/>
              <a:buChar char="•"/>
            </a:pPr>
            <a:r>
              <a:rPr lang="en-US" sz="3061">
                <a:solidFill>
                  <a:srgbClr val="FFFFFF"/>
                </a:solidFill>
                <a:latin typeface="Poppins"/>
                <a:ea typeface="Poppins"/>
                <a:cs typeface="Poppins"/>
                <a:sym typeface="Poppins"/>
              </a:rPr>
              <a:t>Lê Thành Đạt</a:t>
            </a:r>
          </a:p>
          <a:p>
            <a:pPr algn="l" marL="660921" indent="-330461" lvl="1">
              <a:lnSpc>
                <a:spcPts val="4285"/>
              </a:lnSpc>
              <a:buFont typeface="Arial"/>
              <a:buChar char="•"/>
            </a:pPr>
            <a:r>
              <a:rPr lang="en-US" sz="3061">
                <a:solidFill>
                  <a:srgbClr val="FFFFFF"/>
                </a:solidFill>
                <a:latin typeface="Poppins"/>
                <a:ea typeface="Poppins"/>
                <a:cs typeface="Poppins"/>
                <a:sym typeface="Poppins"/>
              </a:rPr>
              <a:t>Hoàng Vĩnh Phúc</a:t>
            </a:r>
          </a:p>
          <a:p>
            <a:pPr algn="l" marL="660921" indent="-330461" lvl="1">
              <a:lnSpc>
                <a:spcPts val="4285"/>
              </a:lnSpc>
              <a:buFont typeface="Arial"/>
              <a:buChar char="•"/>
            </a:pPr>
            <a:r>
              <a:rPr lang="en-US" sz="3061">
                <a:solidFill>
                  <a:srgbClr val="FFFFFF"/>
                </a:solidFill>
                <a:latin typeface="Poppins"/>
                <a:ea typeface="Poppins"/>
                <a:cs typeface="Poppins"/>
                <a:sym typeface="Poppins"/>
              </a:rPr>
              <a:t>Hà Vũ Như Ngọc</a:t>
            </a:r>
          </a:p>
        </p:txBody>
      </p:sp>
      <p:sp>
        <p:nvSpPr>
          <p:cNvPr name="TextBox 17" id="17"/>
          <p:cNvSpPr txBox="true"/>
          <p:nvPr/>
        </p:nvSpPr>
        <p:spPr>
          <a:xfrm rot="0">
            <a:off x="9033758" y="4441454"/>
            <a:ext cx="2922363" cy="420249"/>
          </a:xfrm>
          <a:prstGeom prst="rect">
            <a:avLst/>
          </a:prstGeom>
        </p:spPr>
        <p:txBody>
          <a:bodyPr anchor="t" rtlCol="false" tIns="0" lIns="0" bIns="0" rIns="0">
            <a:spAutoFit/>
          </a:bodyPr>
          <a:lstStyle/>
          <a:p>
            <a:pPr algn="l" marL="0" indent="0" lvl="0">
              <a:lnSpc>
                <a:spcPts val="3157"/>
              </a:lnSpc>
              <a:spcBef>
                <a:spcPct val="0"/>
              </a:spcBef>
            </a:pPr>
            <a:r>
              <a:rPr lang="en-US" b="true" sz="2870" spc="275">
                <a:solidFill>
                  <a:srgbClr val="FFFFFF"/>
                </a:solidFill>
                <a:latin typeface="Poppins Bold"/>
                <a:ea typeface="Poppins Bold"/>
                <a:cs typeface="Poppins Bold"/>
                <a:sym typeface="Poppins Bold"/>
              </a:rPr>
              <a:t>Source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DAHOJIY-hpA</dc:identifier>
  <dcterms:modified xsi:type="dcterms:W3CDTF">2011-08-01T06:04:30Z</dcterms:modified>
  <cp:revision>1</cp:revision>
  <dc:title>NHÓM 1</dc:title>
</cp:coreProperties>
</file>